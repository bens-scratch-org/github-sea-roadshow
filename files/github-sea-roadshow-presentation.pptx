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4"/>
  </p:notes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1"/>
    <p:restoredTop sz="94652"/>
  </p:normalViewPr>
  <p:slideViewPr>
    <p:cSldViewPr snapToGrid="0">
      <p:cViewPr varScale="1">
        <p:scale>
          <a:sx n="99" d="100"/>
          <a:sy n="99" d="100"/>
        </p:scale>
        <p:origin x="192" y="232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C96A07A-FDAC-994D-9D2D-952F759F40F6}" type="datetimeFigureOut">
              <a:rPr lang="en-US" smtClean="0"/>
              <a:t>3/19/26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F8D540C-32FC-0943-8B04-0B388C2117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510744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356E2A-2931-2676-D2CF-0561DC11CDE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4E6A824-DADC-4B6F-BF97-FD7F861C329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A5E249-44DA-222E-2EB7-0CBDABE8F3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D93C2C-B44E-3D41-827B-DDE11363734A}" type="datetimeFigureOut">
              <a:rPr lang="en-US" smtClean="0"/>
              <a:t>3/19/26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00A2459-814C-24DD-E4E7-72B29A039E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AD6E721-B6D5-8216-FF18-BEE4A14160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85F8AC-3483-A24C-84DA-78AF1A0940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990492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834D82-B793-7E2C-1834-F6D9C2F8F9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FAD446-107C-2240-EEF2-138AE963DA5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164E1DF-4E14-B1B8-512C-8AB0316B04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D93C2C-B44E-3D41-827B-DDE11363734A}" type="datetimeFigureOut">
              <a:rPr lang="en-US" smtClean="0"/>
              <a:t>3/19/26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FD9E84E-7E84-3B92-4258-950E2F1EA5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782FEBB-2FEC-8DC0-5A0D-D292D5B6E1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85F8AC-3483-A24C-84DA-78AF1A0940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788734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235FAA-059F-3E89-7522-3709CAD293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B936CF2-D452-9083-D4BF-84FBE9E1CAC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BBC3071-6DEE-14DC-82AE-043B7F7580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D93C2C-B44E-3D41-827B-DDE11363734A}" type="datetimeFigureOut">
              <a:rPr lang="en-US" smtClean="0"/>
              <a:t>3/19/26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C53254-B779-E219-69F1-25DAA0DCBB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7B14E6-EC84-69CF-AE1C-25EB34A6C9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85F8AC-3483-A24C-84DA-78AF1A0940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53442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CB9720-C565-A5FA-CE32-0885997A0C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328F51-371E-85D5-210A-5DDD68AC54B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97B56F0-BF44-DFB0-900D-E2BAC89DFCC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2231015-4B3A-E6C8-CAE5-75B5600DB8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D93C2C-B44E-3D41-827B-DDE11363734A}" type="datetimeFigureOut">
              <a:rPr lang="en-US" smtClean="0"/>
              <a:t>3/19/26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0141AE2-60DE-9164-ABE5-F48D79C0AD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89DEF44-C1B1-C4E7-CC86-CEA9C0ADF5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85F8AC-3483-A24C-84DA-78AF1A0940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449361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88D854-AC23-B92D-D8E5-5AF66A0653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15FBDEC-5C5F-C7F3-E178-98376714B56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F1A4C01-E18B-CB63-3F6A-BF0BDCF2B32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65A2037-AA01-45EE-60B9-0AE55368880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27E2660-255D-8582-8D0F-F5EEF0431C8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1B87212-FE30-B5D0-9D36-261CB541C9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D93C2C-B44E-3D41-827B-DDE11363734A}" type="datetimeFigureOut">
              <a:rPr lang="en-US" smtClean="0"/>
              <a:t>3/19/26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E8AABFC-C1FF-4EBA-A0A9-935814095E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B7A18E1-6B1B-033A-A7B4-77FCE0A458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85F8AC-3483-A24C-84DA-78AF1A0940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35506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FFB7AB-3D67-F160-D8AF-A59A470C61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ABBB8B1-A494-C981-47F2-DA25D93840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D93C2C-B44E-3D41-827B-DDE11363734A}" type="datetimeFigureOut">
              <a:rPr lang="en-US" smtClean="0"/>
              <a:t>3/19/26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3D331CF-3037-F4F2-6776-F899C0708A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10F6566-632C-459C-E3A8-9CE3FA897D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85F8AC-3483-A24C-84DA-78AF1A0940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613040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126242B-4654-ABBB-C71E-98D175A3EC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D93C2C-B44E-3D41-827B-DDE11363734A}" type="datetimeFigureOut">
              <a:rPr lang="en-US" smtClean="0"/>
              <a:t>3/19/26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33E709C-B119-418E-FD94-BE38ADA929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0754693-B3E7-17EE-2DBA-AC97A14259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85F8AC-3483-A24C-84DA-78AF1A0940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038492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3157FA-D9FC-BCEF-B82C-156017A8E4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8E7996-2D84-884A-9F3D-EBA1BFA7771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90F1C73-E65D-EA00-54EF-25CD73E7EEE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6D06805-6587-4A46-EE8D-1E4DB25788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D93C2C-B44E-3D41-827B-DDE11363734A}" type="datetimeFigureOut">
              <a:rPr lang="en-US" smtClean="0"/>
              <a:t>3/19/26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E7BB8A0-B0B4-2DBE-85C3-1A00AE3008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6BB7D28-9EA4-9E97-7A5B-1C90D03479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85F8AC-3483-A24C-84DA-78AF1A0940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24615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D8F8B9-4297-03C5-EA67-679A78FC8D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FA5105C-DC1B-5FA8-59C8-D25FABACD8A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91D0260-E33B-85F3-C90A-3F61325E3E0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45EC22B-B7F4-61A5-4292-909BFDA9F8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D93C2C-B44E-3D41-827B-DDE11363734A}" type="datetimeFigureOut">
              <a:rPr lang="en-US" smtClean="0"/>
              <a:t>3/19/26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A790A8F-40CD-310B-6D93-47C4CD3601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989AD39-3399-67F9-FA76-6278B60FFE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85F8AC-3483-A24C-84DA-78AF1A0940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97773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7C7AEF-4F15-3721-8854-E198C2C4F1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C2D3B2E-9AC5-67B2-83E9-5170A4C6F89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B63665E-71C4-353D-3D02-2AFAFA2BB6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D93C2C-B44E-3D41-827B-DDE11363734A}" type="datetimeFigureOut">
              <a:rPr lang="en-US" smtClean="0"/>
              <a:t>3/19/26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7085413-CB9E-88B5-4BE9-5683527AB0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4A88CCC-D935-C4E0-AAF8-8846957D2C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85F8AC-3483-A24C-84DA-78AF1A0940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804172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D764684-A603-4667-2CA8-9B53BD6EDCF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3DEAC94-EAC3-EEED-B5FC-B5EA6125928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0E7D941-A8AC-96C9-D657-F56BE60BDD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D93C2C-B44E-3D41-827B-DDE11363734A}" type="datetimeFigureOut">
              <a:rPr lang="en-US" smtClean="0"/>
              <a:t>3/19/26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D105590-5583-FA37-3FEF-A150736B1E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68E4EF6-9F9A-953E-23A2-A1D4419A5F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85F8AC-3483-A24C-84DA-78AF1A0940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08181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118818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F07FB16-F565-0B6F-6F2F-C3C08BE6BC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20DDDE1-D179-E7BE-775A-A496C1495D1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BDA013D-1CC6-093F-C370-BC302A495D1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3D93C2C-B44E-3D41-827B-DDE11363734A}" type="datetimeFigureOut">
              <a:rPr lang="en-US" smtClean="0"/>
              <a:t>3/19/26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38A681C-AFFB-097C-5317-4EEEA532B2B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1F0000A-D73F-A463-8348-616B7886D6F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D85F8AC-3483-A24C-84DA-78AF1A0940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64756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64096"/>
          </a:xfrm>
          <a:prstGeom prst="rect">
            <a:avLst/>
          </a:prstGeom>
          <a:solidFill>
            <a:srgbClr val="0D111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2000" cy="73152"/>
          </a:xfrm>
          <a:prstGeom prst="rect">
            <a:avLst/>
          </a:prstGeom>
          <a:solidFill>
            <a:srgbClr val="58A6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7924800" y="-1828800"/>
            <a:ext cx="6096000" cy="6096000"/>
          </a:xfrm>
          <a:prstGeom prst="ellipse">
            <a:avLst/>
          </a:prstGeom>
          <a:solidFill>
            <a:srgbClr val="1F6FE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9144000" y="-609600"/>
            <a:ext cx="3657600" cy="3657600"/>
          </a:xfrm>
          <a:prstGeom prst="ellipse">
            <a:avLst/>
          </a:prstGeom>
          <a:solidFill>
            <a:srgbClr val="A371F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-1828800" y="4267200"/>
            <a:ext cx="4876800" cy="4876800"/>
          </a:xfrm>
          <a:prstGeom prst="ellipse">
            <a:avLst/>
          </a:prstGeom>
          <a:solidFill>
            <a:srgbClr val="238636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7" name="Image 0" descr="https://github.githubassets.com/assets/GitHub-Mark-ea2971cee799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3440" y="609600"/>
            <a:ext cx="670560" cy="67056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584960" y="609600"/>
            <a:ext cx="2438400" cy="670560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933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GitHub</a:t>
            </a:r>
            <a:endParaRPr lang="en-US" sz="2933" dirty="0"/>
          </a:p>
        </p:txBody>
      </p:sp>
      <p:sp>
        <p:nvSpPr>
          <p:cNvPr id="9" name="Shape 6"/>
          <p:cNvSpPr/>
          <p:nvPr/>
        </p:nvSpPr>
        <p:spPr>
          <a:xfrm>
            <a:off x="853440" y="1645920"/>
            <a:ext cx="3048000" cy="18288"/>
          </a:xfrm>
          <a:prstGeom prst="rect">
            <a:avLst/>
          </a:prstGeom>
          <a:solidFill>
            <a:srgbClr val="3036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Shape 7"/>
          <p:cNvSpPr/>
          <p:nvPr/>
        </p:nvSpPr>
        <p:spPr>
          <a:xfrm>
            <a:off x="853440" y="2072640"/>
            <a:ext cx="3169920" cy="463296"/>
          </a:xfrm>
          <a:prstGeom prst="roundRect">
            <a:avLst>
              <a:gd name="adj" fmla="val 50000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/>
          <p:nvPr/>
        </p:nvSpPr>
        <p:spPr>
          <a:xfrm>
            <a:off x="853440" y="2072640"/>
            <a:ext cx="3169920" cy="463296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200" b="1" dirty="0">
                <a:solidFill>
                  <a:srgbClr val="58A6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PARTNER ROADSHOW 2026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853440" y="2804160"/>
            <a:ext cx="10363200" cy="1036320"/>
          </a:xfrm>
          <a:prstGeom prst="rect">
            <a:avLst/>
          </a:prstGeom>
          <a:noFill/>
          <a:ln/>
        </p:spPr>
        <p:txBody>
          <a:bodyPr wrap="square" rtlCol="0" anchor="b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5867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South East Asia</a:t>
            </a:r>
            <a:endParaRPr lang="en-US" sz="5867" dirty="0"/>
          </a:p>
        </p:txBody>
      </p:sp>
      <p:sp>
        <p:nvSpPr>
          <p:cNvPr id="13" name="Text 10"/>
          <p:cNvSpPr/>
          <p:nvPr/>
        </p:nvSpPr>
        <p:spPr>
          <a:xfrm>
            <a:off x="853440" y="3718560"/>
            <a:ext cx="10363200" cy="1036320"/>
          </a:xfrm>
          <a:prstGeom prst="rect">
            <a:avLst/>
          </a:prstGeom>
          <a:noFill/>
          <a:ln/>
        </p:spPr>
        <p:txBody>
          <a:bodyPr wrap="square" rtlCol="0" anchor="t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5867" b="1" dirty="0">
                <a:solidFill>
                  <a:srgbClr val="A371F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GitHub Partner Roadshow</a:t>
            </a:r>
            <a:endParaRPr lang="en-US" sz="5867" dirty="0"/>
          </a:p>
        </p:txBody>
      </p:sp>
      <p:sp>
        <p:nvSpPr>
          <p:cNvPr id="14" name="Text 11"/>
          <p:cNvSpPr/>
          <p:nvPr/>
        </p:nvSpPr>
        <p:spPr>
          <a:xfrm>
            <a:off x="853440" y="4754880"/>
            <a:ext cx="7315200" cy="609600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133" i="1" dirty="0">
                <a:solidFill>
                  <a:srgbClr val="8B949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Building the future of software, together.</a:t>
            </a:r>
            <a:endParaRPr lang="en-US" sz="2133" dirty="0"/>
          </a:p>
        </p:txBody>
      </p:sp>
      <p:sp>
        <p:nvSpPr>
          <p:cNvPr id="15" name="Shape 12"/>
          <p:cNvSpPr/>
          <p:nvPr/>
        </p:nvSpPr>
        <p:spPr>
          <a:xfrm>
            <a:off x="0" y="5913120"/>
            <a:ext cx="12192000" cy="950976"/>
          </a:xfrm>
          <a:prstGeom prst="rect">
            <a:avLst/>
          </a:prstGeom>
          <a:solidFill>
            <a:srgbClr val="161B2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Shape 13"/>
          <p:cNvSpPr/>
          <p:nvPr/>
        </p:nvSpPr>
        <p:spPr>
          <a:xfrm>
            <a:off x="0" y="5913121"/>
            <a:ext cx="12192000" cy="14631"/>
          </a:xfrm>
          <a:prstGeom prst="rect">
            <a:avLst/>
          </a:prstGeom>
          <a:solidFill>
            <a:srgbClr val="3036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4"/>
          <p:cNvSpPr/>
          <p:nvPr/>
        </p:nvSpPr>
        <p:spPr>
          <a:xfrm>
            <a:off x="853440" y="5913120"/>
            <a:ext cx="2682240" cy="950976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600" dirty="0">
                <a:solidFill>
                  <a:srgbClr val="C9D1D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March 2026</a:t>
            </a:r>
            <a:endParaRPr lang="en-US" sz="1600" dirty="0"/>
          </a:p>
        </p:txBody>
      </p:sp>
      <p:sp>
        <p:nvSpPr>
          <p:cNvPr id="18" name="Text 15"/>
          <p:cNvSpPr/>
          <p:nvPr/>
        </p:nvSpPr>
        <p:spPr>
          <a:xfrm>
            <a:off x="3413760" y="5913120"/>
            <a:ext cx="365760" cy="950976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867" dirty="0">
                <a:solidFill>
                  <a:srgbClr val="30363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|</a:t>
            </a:r>
            <a:endParaRPr lang="en-US" sz="1867" dirty="0"/>
          </a:p>
        </p:txBody>
      </p:sp>
      <p:sp>
        <p:nvSpPr>
          <p:cNvPr id="19" name="Text 16"/>
          <p:cNvSpPr/>
          <p:nvPr/>
        </p:nvSpPr>
        <p:spPr>
          <a:xfrm>
            <a:off x="3657600" y="5913120"/>
            <a:ext cx="3048000" cy="950976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600" dirty="0">
                <a:solidFill>
                  <a:srgbClr val="C9D1D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South East Asia</a:t>
            </a:r>
            <a:endParaRPr lang="en-US" sz="1600" dirty="0"/>
          </a:p>
        </p:txBody>
      </p:sp>
      <p:sp>
        <p:nvSpPr>
          <p:cNvPr id="20" name="Text 17"/>
          <p:cNvSpPr/>
          <p:nvPr/>
        </p:nvSpPr>
        <p:spPr>
          <a:xfrm>
            <a:off x="6461760" y="5913120"/>
            <a:ext cx="365760" cy="950976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867" dirty="0">
                <a:solidFill>
                  <a:srgbClr val="30363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|</a:t>
            </a:r>
            <a:endParaRPr lang="en-US" sz="1867" dirty="0"/>
          </a:p>
        </p:txBody>
      </p:sp>
      <p:sp>
        <p:nvSpPr>
          <p:cNvPr id="21" name="Text 18"/>
          <p:cNvSpPr/>
          <p:nvPr/>
        </p:nvSpPr>
        <p:spPr>
          <a:xfrm>
            <a:off x="6705600" y="5913120"/>
            <a:ext cx="3657600" cy="950976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600" dirty="0">
                <a:solidFill>
                  <a:srgbClr val="58A6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#GitHubPartnerRoadshow</a:t>
            </a:r>
            <a:endParaRPr lang="en-US" sz="1600" dirty="0"/>
          </a:p>
        </p:txBody>
      </p:sp>
      <p:sp>
        <p:nvSpPr>
          <p:cNvPr id="22" name="Shape 19"/>
          <p:cNvSpPr/>
          <p:nvPr/>
        </p:nvSpPr>
        <p:spPr>
          <a:xfrm>
            <a:off x="0" y="6790944"/>
            <a:ext cx="12192000" cy="73152"/>
          </a:xfrm>
          <a:prstGeom prst="rect">
            <a:avLst/>
          </a:prstGeom>
          <a:solidFill>
            <a:srgbClr val="A371F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20"/>
          <p:cNvSpPr/>
          <p:nvPr/>
        </p:nvSpPr>
        <p:spPr>
          <a:xfrm>
            <a:off x="7924800" y="670560"/>
            <a:ext cx="3657600" cy="487680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buNone/>
            </a:pPr>
            <a:r>
              <a:rPr lang="en-US" sz="1467" dirty="0">
                <a:solidFill>
                  <a:srgbClr val="3036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welcome(partners);</a:t>
            </a:r>
            <a:endParaRPr lang="en-US" sz="1467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64096"/>
          </a:xfrm>
          <a:prstGeom prst="rect">
            <a:avLst/>
          </a:prstGeom>
          <a:solidFill>
            <a:srgbClr val="0D111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2000" cy="73152"/>
          </a:xfrm>
          <a:prstGeom prst="rect">
            <a:avLst/>
          </a:prstGeom>
          <a:solidFill>
            <a:srgbClr val="58A6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9144000" y="-2438400"/>
            <a:ext cx="5486400" cy="5486400"/>
          </a:xfrm>
          <a:prstGeom prst="ellipse">
            <a:avLst/>
          </a:prstGeom>
          <a:solidFill>
            <a:srgbClr val="1F6FE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9997440" y="-1219200"/>
            <a:ext cx="3048000" cy="3048000"/>
          </a:xfrm>
          <a:prstGeom prst="ellipse">
            <a:avLst/>
          </a:prstGeom>
          <a:solidFill>
            <a:srgbClr val="A371F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609600" y="365760"/>
            <a:ext cx="3474720" cy="390144"/>
          </a:xfrm>
          <a:prstGeom prst="roundRect">
            <a:avLst>
              <a:gd name="adj" fmla="val 50000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609600" y="365760"/>
            <a:ext cx="3474720" cy="390144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067" b="1" dirty="0">
                <a:solidFill>
                  <a:srgbClr val="58A6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STATE OF THE OCTOVERSE 2025</a:t>
            </a:r>
            <a:endParaRPr lang="en-US" sz="1067" dirty="0"/>
          </a:p>
        </p:txBody>
      </p:sp>
      <p:sp>
        <p:nvSpPr>
          <p:cNvPr id="8" name="Text 6"/>
          <p:cNvSpPr/>
          <p:nvPr/>
        </p:nvSpPr>
        <p:spPr>
          <a:xfrm>
            <a:off x="609600" y="914400"/>
            <a:ext cx="10972800" cy="792480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South East Asia Opportunity</a:t>
            </a:r>
            <a:endParaRPr lang="en-US" sz="4000" dirty="0"/>
          </a:p>
        </p:txBody>
      </p:sp>
      <p:sp>
        <p:nvSpPr>
          <p:cNvPr id="9" name="Text 7"/>
          <p:cNvSpPr/>
          <p:nvPr/>
        </p:nvSpPr>
        <p:spPr>
          <a:xfrm>
            <a:off x="609600" y="1645920"/>
            <a:ext cx="8534400" cy="426720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667" dirty="0">
                <a:solidFill>
                  <a:srgbClr val="8B949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APAC is GitHub's fastest-growing region — and SEA is at the heart of it.</a:t>
            </a:r>
            <a:endParaRPr lang="en-US" sz="1667" dirty="0"/>
          </a:p>
        </p:txBody>
      </p:sp>
      <p:sp>
        <p:nvSpPr>
          <p:cNvPr id="10" name="Shape 8"/>
          <p:cNvSpPr/>
          <p:nvPr/>
        </p:nvSpPr>
        <p:spPr>
          <a:xfrm>
            <a:off x="609600" y="2377440"/>
            <a:ext cx="3413760" cy="1402080"/>
          </a:xfrm>
          <a:prstGeom prst="roundRect">
            <a:avLst>
              <a:gd name="adj" fmla="val 6957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609600" y="2499360"/>
            <a:ext cx="3413760" cy="609600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4267" b="1" dirty="0">
                <a:solidFill>
                  <a:srgbClr val="3FB95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+13M</a:t>
            </a:r>
            <a:endParaRPr lang="en-US" sz="4267" dirty="0"/>
          </a:p>
        </p:txBody>
      </p:sp>
      <p:sp>
        <p:nvSpPr>
          <p:cNvPr id="12" name="Text 10"/>
          <p:cNvSpPr/>
          <p:nvPr/>
        </p:nvSpPr>
        <p:spPr>
          <a:xfrm>
            <a:off x="609600" y="3108960"/>
            <a:ext cx="3413760" cy="548640"/>
          </a:xfrm>
          <a:prstGeom prst="rect">
            <a:avLst/>
          </a:prstGeom>
          <a:noFill/>
          <a:ln/>
        </p:spPr>
        <p:txBody>
          <a:bodyPr wrap="square" rtlCol="0" anchor="t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333" dirty="0">
                <a:solidFill>
                  <a:srgbClr val="8B949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new APAC developers</a:t>
            </a:r>
            <a:endParaRPr lang="en-US" sz="1333" dirty="0"/>
          </a:p>
          <a:p>
            <a:pPr marL="0" indent="0" algn="ctr">
              <a:buNone/>
            </a:pPr>
            <a:r>
              <a:rPr lang="en-US" sz="1333" dirty="0">
                <a:solidFill>
                  <a:srgbClr val="8B949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 2025 alone</a:t>
            </a:r>
            <a:endParaRPr lang="en-US" sz="1333" dirty="0"/>
          </a:p>
        </p:txBody>
      </p:sp>
      <p:sp>
        <p:nvSpPr>
          <p:cNvPr id="13" name="Shape 11"/>
          <p:cNvSpPr/>
          <p:nvPr/>
        </p:nvSpPr>
        <p:spPr>
          <a:xfrm>
            <a:off x="4389120" y="2377440"/>
            <a:ext cx="3413760" cy="1402080"/>
          </a:xfrm>
          <a:prstGeom prst="roundRect">
            <a:avLst>
              <a:gd name="adj" fmla="val 6957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4389120" y="2499360"/>
            <a:ext cx="3413760" cy="609600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4267" b="1" dirty="0">
                <a:solidFill>
                  <a:srgbClr val="58A6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4.37M</a:t>
            </a:r>
            <a:endParaRPr lang="en-US" sz="4267" dirty="0"/>
          </a:p>
        </p:txBody>
      </p:sp>
      <p:sp>
        <p:nvSpPr>
          <p:cNvPr id="15" name="Text 13"/>
          <p:cNvSpPr/>
          <p:nvPr/>
        </p:nvSpPr>
        <p:spPr>
          <a:xfrm>
            <a:off x="4389120" y="3108960"/>
            <a:ext cx="3413760" cy="548640"/>
          </a:xfrm>
          <a:prstGeom prst="rect">
            <a:avLst/>
          </a:prstGeom>
          <a:noFill/>
          <a:ln/>
        </p:spPr>
        <p:txBody>
          <a:bodyPr wrap="square" rtlCol="0" anchor="t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333" dirty="0">
                <a:solidFill>
                  <a:srgbClr val="8B949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developers in Indonesia</a:t>
            </a:r>
            <a:endParaRPr lang="en-US" sz="1333" dirty="0"/>
          </a:p>
          <a:p>
            <a:pPr marL="0" indent="0" algn="ctr">
              <a:buNone/>
            </a:pPr>
            <a:r>
              <a:rPr lang="en-US" sz="1333" dirty="0">
                <a:solidFill>
                  <a:srgbClr val="8B949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up from 0.9M in 2020</a:t>
            </a:r>
            <a:endParaRPr lang="en-US" sz="1333" dirty="0"/>
          </a:p>
        </p:txBody>
      </p:sp>
      <p:sp>
        <p:nvSpPr>
          <p:cNvPr id="16" name="Shape 14"/>
          <p:cNvSpPr/>
          <p:nvPr/>
        </p:nvSpPr>
        <p:spPr>
          <a:xfrm>
            <a:off x="8168640" y="2377440"/>
            <a:ext cx="3413760" cy="1402080"/>
          </a:xfrm>
          <a:prstGeom prst="roundRect">
            <a:avLst>
              <a:gd name="adj" fmla="val 6957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8168640" y="2499360"/>
            <a:ext cx="3413760" cy="609600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4267" b="1" dirty="0">
                <a:solidFill>
                  <a:srgbClr val="A371F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~25/min</a:t>
            </a:r>
            <a:endParaRPr lang="en-US" sz="4267" dirty="0"/>
          </a:p>
        </p:txBody>
      </p:sp>
      <p:sp>
        <p:nvSpPr>
          <p:cNvPr id="18" name="Text 16"/>
          <p:cNvSpPr/>
          <p:nvPr/>
        </p:nvSpPr>
        <p:spPr>
          <a:xfrm>
            <a:off x="8168640" y="3108960"/>
            <a:ext cx="3413760" cy="548640"/>
          </a:xfrm>
          <a:prstGeom prst="rect">
            <a:avLst/>
          </a:prstGeom>
          <a:noFill/>
          <a:ln/>
        </p:spPr>
        <p:txBody>
          <a:bodyPr wrap="square" rtlCol="0" anchor="t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333" dirty="0">
                <a:solidFill>
                  <a:srgbClr val="8B949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new APAC developers</a:t>
            </a:r>
            <a:endParaRPr lang="en-US" sz="1333" dirty="0"/>
          </a:p>
          <a:p>
            <a:pPr marL="0" indent="0" algn="ctr">
              <a:buNone/>
            </a:pPr>
            <a:r>
              <a:rPr lang="en-US" sz="1333" dirty="0">
                <a:solidFill>
                  <a:srgbClr val="8B949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joining GitHub every minute</a:t>
            </a:r>
            <a:endParaRPr lang="en-US" sz="1333" dirty="0"/>
          </a:p>
        </p:txBody>
      </p:sp>
      <p:sp>
        <p:nvSpPr>
          <p:cNvPr id="19" name="Shape 17"/>
          <p:cNvSpPr/>
          <p:nvPr/>
        </p:nvSpPr>
        <p:spPr>
          <a:xfrm>
            <a:off x="609600" y="4047744"/>
            <a:ext cx="10972800" cy="12192"/>
          </a:xfrm>
          <a:prstGeom prst="rect">
            <a:avLst/>
          </a:prstGeom>
          <a:solidFill>
            <a:srgbClr val="21262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609600" y="4206240"/>
            <a:ext cx="4876800" cy="365760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200" b="1" dirty="0">
                <a:solidFill>
                  <a:srgbClr val="58A6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SEA MARKET HIGHLIGHTS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09600" y="4632960"/>
            <a:ext cx="2072640" cy="341376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133" b="1" dirty="0">
                <a:solidFill>
                  <a:srgbClr val="484F5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Country</a:t>
            </a:r>
            <a:endParaRPr lang="en-US" sz="1133" dirty="0"/>
          </a:p>
        </p:txBody>
      </p:sp>
      <p:sp>
        <p:nvSpPr>
          <p:cNvPr id="22" name="Text 20"/>
          <p:cNvSpPr/>
          <p:nvPr/>
        </p:nvSpPr>
        <p:spPr>
          <a:xfrm>
            <a:off x="2682240" y="4632960"/>
            <a:ext cx="1463040" cy="341376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133" b="1" dirty="0">
                <a:solidFill>
                  <a:srgbClr val="484F5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Developers</a:t>
            </a:r>
            <a:endParaRPr lang="en-US" sz="1133" dirty="0"/>
          </a:p>
        </p:txBody>
      </p:sp>
      <p:sp>
        <p:nvSpPr>
          <p:cNvPr id="23" name="Text 21"/>
          <p:cNvSpPr/>
          <p:nvPr/>
        </p:nvSpPr>
        <p:spPr>
          <a:xfrm>
            <a:off x="4145280" y="4632960"/>
            <a:ext cx="1341120" cy="341376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133" b="1" dirty="0">
                <a:solidFill>
                  <a:srgbClr val="484F5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YoY Growth</a:t>
            </a:r>
            <a:endParaRPr lang="en-US" sz="1133" dirty="0"/>
          </a:p>
        </p:txBody>
      </p:sp>
      <p:sp>
        <p:nvSpPr>
          <p:cNvPr id="24" name="Shape 22"/>
          <p:cNvSpPr/>
          <p:nvPr/>
        </p:nvSpPr>
        <p:spPr>
          <a:xfrm>
            <a:off x="609600" y="4974337"/>
            <a:ext cx="4876800" cy="9753"/>
          </a:xfrm>
          <a:prstGeom prst="rect">
            <a:avLst/>
          </a:prstGeom>
          <a:solidFill>
            <a:srgbClr val="21262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609600" y="5023104"/>
            <a:ext cx="2072640" cy="341376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267" dirty="0">
                <a:solidFill>
                  <a:srgbClr val="C9D1D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🇮🇩  Indonesia</a:t>
            </a:r>
            <a:endParaRPr lang="en-US" sz="1267" dirty="0"/>
          </a:p>
        </p:txBody>
      </p:sp>
      <p:sp>
        <p:nvSpPr>
          <p:cNvPr id="26" name="Text 24"/>
          <p:cNvSpPr/>
          <p:nvPr/>
        </p:nvSpPr>
        <p:spPr>
          <a:xfrm>
            <a:off x="2682240" y="5023104"/>
            <a:ext cx="1463040" cy="341376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267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4.37M</a:t>
            </a:r>
            <a:endParaRPr lang="en-US" sz="1267" dirty="0"/>
          </a:p>
        </p:txBody>
      </p:sp>
      <p:sp>
        <p:nvSpPr>
          <p:cNvPr id="27" name="Text 25"/>
          <p:cNvSpPr/>
          <p:nvPr/>
        </p:nvSpPr>
        <p:spPr>
          <a:xfrm>
            <a:off x="4145280" y="5023104"/>
            <a:ext cx="1341120" cy="341376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267" b="1" dirty="0">
                <a:solidFill>
                  <a:srgbClr val="3FB95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▲ 386%*</a:t>
            </a:r>
            <a:endParaRPr lang="en-US" sz="1267" dirty="0"/>
          </a:p>
        </p:txBody>
      </p:sp>
      <p:sp>
        <p:nvSpPr>
          <p:cNvPr id="28" name="Text 26"/>
          <p:cNvSpPr/>
          <p:nvPr/>
        </p:nvSpPr>
        <p:spPr>
          <a:xfrm>
            <a:off x="609600" y="5413248"/>
            <a:ext cx="2072640" cy="341376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267" dirty="0">
                <a:solidFill>
                  <a:srgbClr val="C9D1D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🇵🇭  Philippines</a:t>
            </a:r>
            <a:endParaRPr lang="en-US" sz="1267" dirty="0"/>
          </a:p>
        </p:txBody>
      </p:sp>
      <p:sp>
        <p:nvSpPr>
          <p:cNvPr id="29" name="Text 27"/>
          <p:cNvSpPr/>
          <p:nvPr/>
        </p:nvSpPr>
        <p:spPr>
          <a:xfrm>
            <a:off x="2682240" y="5413248"/>
            <a:ext cx="1463040" cy="341376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267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1.7M+</a:t>
            </a:r>
            <a:endParaRPr lang="en-US" sz="1267" dirty="0"/>
          </a:p>
        </p:txBody>
      </p:sp>
      <p:sp>
        <p:nvSpPr>
          <p:cNvPr id="30" name="Text 28"/>
          <p:cNvSpPr/>
          <p:nvPr/>
        </p:nvSpPr>
        <p:spPr>
          <a:xfrm>
            <a:off x="4145280" y="5413248"/>
            <a:ext cx="1341120" cy="341376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267" b="1" dirty="0">
                <a:solidFill>
                  <a:srgbClr val="3FB95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▲ 29%</a:t>
            </a:r>
            <a:endParaRPr lang="en-US" sz="1267" dirty="0"/>
          </a:p>
        </p:txBody>
      </p:sp>
      <p:sp>
        <p:nvSpPr>
          <p:cNvPr id="31" name="Text 29"/>
          <p:cNvSpPr/>
          <p:nvPr/>
        </p:nvSpPr>
        <p:spPr>
          <a:xfrm>
            <a:off x="609600" y="5803392"/>
            <a:ext cx="2072640" cy="341376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267" dirty="0">
                <a:solidFill>
                  <a:srgbClr val="C9D1D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🇸🇬  Singapore</a:t>
            </a:r>
            <a:endParaRPr lang="en-US" sz="1267" dirty="0"/>
          </a:p>
        </p:txBody>
      </p:sp>
      <p:sp>
        <p:nvSpPr>
          <p:cNvPr id="32" name="Text 30"/>
          <p:cNvSpPr/>
          <p:nvPr/>
        </p:nvSpPr>
        <p:spPr>
          <a:xfrm>
            <a:off x="2682240" y="5803392"/>
            <a:ext cx="1463040" cy="341376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267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High density</a:t>
            </a:r>
            <a:endParaRPr lang="en-US" sz="1267" dirty="0"/>
          </a:p>
        </p:txBody>
      </p:sp>
      <p:sp>
        <p:nvSpPr>
          <p:cNvPr id="33" name="Text 31"/>
          <p:cNvSpPr/>
          <p:nvPr/>
        </p:nvSpPr>
        <p:spPr>
          <a:xfrm>
            <a:off x="4145280" y="5803392"/>
            <a:ext cx="1341120" cy="341376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267" b="1" dirty="0">
                <a:solidFill>
                  <a:srgbClr val="58A6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AI Hub</a:t>
            </a:r>
            <a:endParaRPr lang="en-US" sz="1267" dirty="0"/>
          </a:p>
        </p:txBody>
      </p:sp>
      <p:sp>
        <p:nvSpPr>
          <p:cNvPr id="34" name="Text 32"/>
          <p:cNvSpPr/>
          <p:nvPr/>
        </p:nvSpPr>
        <p:spPr>
          <a:xfrm>
            <a:off x="609600" y="6205728"/>
            <a:ext cx="3657600" cy="243840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933" i="1" dirty="0">
                <a:solidFill>
                  <a:srgbClr val="484F5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* 5-year growth 2020–2025</a:t>
            </a:r>
            <a:endParaRPr lang="en-US" sz="933" dirty="0"/>
          </a:p>
        </p:txBody>
      </p:sp>
      <p:sp>
        <p:nvSpPr>
          <p:cNvPr id="35" name="Shape 33"/>
          <p:cNvSpPr/>
          <p:nvPr/>
        </p:nvSpPr>
        <p:spPr>
          <a:xfrm>
            <a:off x="6217920" y="4206240"/>
            <a:ext cx="5364480" cy="2255520"/>
          </a:xfrm>
          <a:prstGeom prst="roundRect">
            <a:avLst>
              <a:gd name="adj" fmla="val 4324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6522720" y="4328160"/>
            <a:ext cx="4876800" cy="365760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467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Why SEA, Why Now</a:t>
            </a:r>
            <a:endParaRPr lang="en-US" sz="1467" dirty="0"/>
          </a:p>
        </p:txBody>
      </p:sp>
      <p:sp>
        <p:nvSpPr>
          <p:cNvPr id="37" name="Text 35"/>
          <p:cNvSpPr/>
          <p:nvPr/>
        </p:nvSpPr>
        <p:spPr>
          <a:xfrm>
            <a:off x="6522720" y="4693920"/>
            <a:ext cx="4815840" cy="1645920"/>
          </a:xfrm>
          <a:prstGeom prst="rect">
            <a:avLst/>
          </a:prstGeom>
          <a:noFill/>
          <a:ln/>
        </p:spPr>
        <p:txBody>
          <a:bodyPr wrap="square" rtlCol="0" anchor="t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189" indent="-457189">
              <a:spcAft>
                <a:spcPts val="267"/>
              </a:spcAft>
              <a:buSzPct val="100000"/>
              <a:buChar char="▪"/>
            </a:pPr>
            <a:r>
              <a:rPr lang="en-US" sz="1200" dirty="0">
                <a:solidFill>
                  <a:srgbClr val="C9D1D9"/>
                </a:solidFill>
              </a:rPr>
              <a:t>Indonesia is SEA's digital powerhouse — accounting for nearly half the region's online economy</a:t>
            </a:r>
            <a:endParaRPr lang="en-US" sz="1200" dirty="0"/>
          </a:p>
          <a:p>
            <a:pPr marL="457189" indent="-457189">
              <a:spcAft>
                <a:spcPts val="267"/>
              </a:spcAft>
              <a:buSzPct val="100000"/>
              <a:buChar char="▪"/>
            </a:pPr>
            <a:r>
              <a:rPr lang="en-US" sz="1200" dirty="0">
                <a:solidFill>
                  <a:srgbClr val="C9D1D9"/>
                </a:solidFill>
              </a:rPr>
              <a:t>Singapore's National AI Strategy &amp; Smart Nation initiative drive enterprise demand</a:t>
            </a:r>
            <a:endParaRPr lang="en-US" sz="1200" dirty="0"/>
          </a:p>
          <a:p>
            <a:pPr marL="457189" indent="-457189">
              <a:spcAft>
                <a:spcPts val="267"/>
              </a:spcAft>
              <a:buSzPct val="100000"/>
              <a:buChar char="▪"/>
            </a:pPr>
            <a:r>
              <a:rPr lang="en-US" sz="1200" dirty="0">
                <a:solidFill>
                  <a:srgbClr val="C9D1D9"/>
                </a:solidFill>
              </a:rPr>
              <a:t>80% of new developers use GitHub Copilot within their first week</a:t>
            </a:r>
            <a:endParaRPr lang="en-US" sz="1200" dirty="0"/>
          </a:p>
          <a:p>
            <a:pPr marL="457189" indent="-457189">
              <a:spcAft>
                <a:spcPts val="267"/>
              </a:spcAft>
              <a:buSzPct val="100000"/>
              <a:buChar char="▪"/>
            </a:pPr>
            <a:r>
              <a:rPr lang="en-US" sz="1200" dirty="0">
                <a:solidFill>
                  <a:srgbClr val="C9D1D9"/>
                </a:solidFill>
              </a:rPr>
              <a:t>AI-assisted local-language tooling unlocking non-English developer communities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0" y="6278880"/>
            <a:ext cx="12192000" cy="512064"/>
          </a:xfrm>
          <a:prstGeom prst="rect">
            <a:avLst/>
          </a:prstGeom>
          <a:solidFill>
            <a:srgbClr val="161B2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9" name="Shape 37"/>
          <p:cNvSpPr/>
          <p:nvPr/>
        </p:nvSpPr>
        <p:spPr>
          <a:xfrm>
            <a:off x="0" y="6278880"/>
            <a:ext cx="12192000" cy="12192"/>
          </a:xfrm>
          <a:prstGeom prst="rect">
            <a:avLst/>
          </a:prstGeom>
          <a:solidFill>
            <a:srgbClr val="3036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0" name="Text 38"/>
          <p:cNvSpPr/>
          <p:nvPr/>
        </p:nvSpPr>
        <p:spPr>
          <a:xfrm>
            <a:off x="609600" y="6278880"/>
            <a:ext cx="7315200" cy="512064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200" dirty="0">
                <a:solidFill>
                  <a:srgbClr val="484F5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Source: GitHub Octoverse 2024 &amp; 2025  •  github.com/octoverse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6705600" y="6278880"/>
            <a:ext cx="4876800" cy="512064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buNone/>
            </a:pPr>
            <a:r>
              <a:rPr lang="en-US" sz="1200" b="1" dirty="0">
                <a:solidFill>
                  <a:srgbClr val="58A6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180M+ developers worldwide</a:t>
            </a:r>
            <a:endParaRPr lang="en-US" sz="1200" dirty="0"/>
          </a:p>
        </p:txBody>
      </p:sp>
      <p:sp>
        <p:nvSpPr>
          <p:cNvPr id="42" name="Shape 40"/>
          <p:cNvSpPr/>
          <p:nvPr/>
        </p:nvSpPr>
        <p:spPr>
          <a:xfrm>
            <a:off x="0" y="6790944"/>
            <a:ext cx="12192000" cy="73152"/>
          </a:xfrm>
          <a:prstGeom prst="rect">
            <a:avLst/>
          </a:prstGeom>
          <a:solidFill>
            <a:srgbClr val="A371F7"/>
          </a:solidFill>
          <a:ln/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712655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CC04E688-3D4B-C149-A2EC-4C6C3EF0115A}">
  <we:reference id="12345678-1234-1234-1234-123456789012" version="1.0.0.0" store="developer" storeType="Registry"/>
  <we:alternateReferences/>
  <we:properties/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183</Words>
  <Application>Microsoft Macintosh PowerPoint</Application>
  <PresentationFormat>Widescreen</PresentationFormat>
  <Paragraphs>46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8" baseType="lpstr">
      <vt:lpstr>Aptos</vt:lpstr>
      <vt:lpstr>Aptos Display</vt:lpstr>
      <vt:lpstr>Arial</vt:lpstr>
      <vt:lpstr>Consolas</vt:lpstr>
      <vt:lpstr>Segoe UI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Benjamin Smillie</dc:creator>
  <cp:lastModifiedBy>Benjamin Smillie</cp:lastModifiedBy>
  <cp:revision>1</cp:revision>
  <dcterms:created xsi:type="dcterms:W3CDTF">2026-03-19T02:29:25Z</dcterms:created>
  <dcterms:modified xsi:type="dcterms:W3CDTF">2026-03-19T02:37:12Z</dcterms:modified>
</cp:coreProperties>
</file>