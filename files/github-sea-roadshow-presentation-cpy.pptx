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60" r:id="rId4"/>
    <p:sldId id="261" r:id="rId5"/>
    <p:sldId id="262" r:id="rId6"/>
    <p:sldId id="276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77"/>
    <p:restoredTop sz="94687"/>
  </p:normalViewPr>
  <p:slideViewPr>
    <p:cSldViewPr snapToGrid="0">
      <p:cViewPr varScale="1">
        <p:scale>
          <a:sx n="103" d="100"/>
          <a:sy n="103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96A07A-FDAC-994D-9D2D-952F759F40F6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8D540C-32FC-0943-8B04-0B388C211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107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56E2A-2931-2676-D2CF-0561DC11CD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6A824-DADC-4B6F-BF97-FD7F861C32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5E249-44DA-222E-2EB7-0CBDABE8F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A2459-814C-24DD-E4E7-72B29A03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6E721-B6D5-8216-FF18-BEE4A14160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99049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34D82-B793-7E2C-1834-F6D9C2F8F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D446-107C-2240-EEF2-138AE963DA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64E1DF-4E14-B1B8-512C-8AB0316B0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9E84E-7E84-3B92-4258-950E2F1EA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82FEBB-2FEC-8DC0-5A0D-D292D5B6E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887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35FAA-059F-3E89-7522-3709CAD29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936CF2-D452-9083-D4BF-84FBE9E1CA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C3071-6DEE-14DC-82AE-043B7F758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C53254-B779-E219-69F1-25DAA0DC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B14E6-EC84-69CF-AE1C-25EB34A6C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442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CB9720-C565-A5FA-CE32-0885997A0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28F51-371E-85D5-210A-5DDD68AC54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B56F0-BF44-DFB0-900D-E2BAC89DFC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31015-4B3A-E6C8-CAE5-75B5600DB8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41AE2-60DE-9164-ABE5-F48D79C0A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9DEF44-C1B1-C4E7-CC86-CEA9C0ADF5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4936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8D854-AC23-B92D-D8E5-5AF66A065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5FBDEC-5C5F-C7F3-E178-98376714B5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A4C01-E18B-CB63-3F6A-BF0BDCF2B3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5A2037-AA01-45EE-60B9-0AE5536888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7E2660-255D-8582-8D0F-F5EEF0431C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B87212-FE30-B5D0-9D36-261CB541C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8AABFC-C1FF-4EBA-A0A9-935814095E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7A18E1-6B1B-033A-A7B4-77FCE0A45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550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FB7AB-3D67-F160-D8AF-A59A470C6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BBB8B1-A494-C981-47F2-DA25D9384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3D331CF-3037-F4F2-6776-F899C0708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0F6566-632C-459C-E3A8-9CE3FA897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1304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26242B-4654-ABBB-C71E-98D175A3E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3E709C-B119-418E-FD94-BE38ADA9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754693-B3E7-17EE-2DBA-AC97A1425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49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157FA-D9FC-BCEF-B82C-156017A8E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8E7996-2D84-884A-9F3D-EBA1BFA77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0F1C73-E65D-EA00-54EF-25CD73E7EE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D06805-6587-4A46-EE8D-1E4DB257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7BB8A0-B0B4-2DBE-85C3-1A00AE300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BB7D28-9EA4-9E97-7A5B-1C90D0347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246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D8F8B9-4297-03C5-EA67-679A78FC8D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A5105C-DC1B-5FA8-59C8-D25FABACD8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91D0260-E33B-85F3-C90A-3F61325E3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5EC22B-B7F4-61A5-4292-909BFDA9F8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790A8F-40CD-310B-6D93-47C4CD360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89AD39-3399-67F9-FA76-6278B60FF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77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7AEF-4F15-3721-8854-E198C2C4F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2D3B2E-9AC5-67B2-83E9-5170A4C6F8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3665E-71C4-353D-3D02-2AFAFA2BB6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085413-CB9E-88B5-4BE9-5683527AB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A88CCC-D935-C4E0-AAF8-8846957D2C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8041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764684-A603-4667-2CA8-9B53BD6EDC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EAC94-EAC3-EEED-B5FC-B5EA61259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7D941-A8AC-96C9-D657-F56BE60BD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105590-5583-FA37-3FEF-A150736B1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E4EF6-9F9A-953E-23A2-A1D4419A5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18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18818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F07FB16-F565-0B6F-6F2F-C3C08BE6B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DDDE1-D179-E7BE-775A-A496C1495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A013D-1CC6-093F-C370-BC302A495D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D93C2C-B44E-3D41-827B-DDE11363734A}" type="datetimeFigureOut">
              <a:rPr lang="en-US" smtClean="0"/>
              <a:t>3/19/26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A681C-AFFB-097C-5317-4EEEA532B2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F0000A-D73F-A463-8348-616B7886D6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85F8AC-3483-A24C-84DA-78AF1A0940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475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24800" y="-1828800"/>
            <a:ext cx="6096000" cy="6096000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0" y="-609600"/>
            <a:ext cx="3657600" cy="3657600"/>
          </a:xfrm>
          <a:prstGeom prst="ellipse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-1828800" y="4267200"/>
            <a:ext cx="4876800" cy="4876800"/>
          </a:xfrm>
          <a:prstGeom prst="ellipse">
            <a:avLst/>
          </a:prstGeom>
          <a:solidFill>
            <a:srgbClr val="238636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https://github.githubassets.com/assets/GitHub-Mark-ea2971cee79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440" y="609600"/>
            <a:ext cx="670560" cy="670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84960" y="609600"/>
            <a:ext cx="243840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</a:t>
            </a:r>
            <a:endParaRPr lang="en-US" sz="2933" dirty="0"/>
          </a:p>
        </p:txBody>
      </p:sp>
      <p:sp>
        <p:nvSpPr>
          <p:cNvPr id="9" name="Shape 6"/>
          <p:cNvSpPr/>
          <p:nvPr/>
        </p:nvSpPr>
        <p:spPr>
          <a:xfrm>
            <a:off x="853440" y="1645920"/>
            <a:ext cx="304800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53440" y="2072640"/>
            <a:ext cx="3169920" cy="463296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53440" y="2072640"/>
            <a:ext cx="31699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PARTNER ROADSHOW 2026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53440" y="2804160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b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South East Asia</a:t>
            </a:r>
            <a:endParaRPr lang="en-US" sz="5867" dirty="0"/>
          </a:p>
        </p:txBody>
      </p:sp>
      <p:sp>
        <p:nvSpPr>
          <p:cNvPr id="13" name="Text 10"/>
          <p:cNvSpPr/>
          <p:nvPr/>
        </p:nvSpPr>
        <p:spPr>
          <a:xfrm>
            <a:off x="853440" y="3718560"/>
            <a:ext cx="10363200" cy="10363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5867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Partner Roadshow</a:t>
            </a:r>
            <a:endParaRPr lang="en-US" sz="5867" dirty="0"/>
          </a:p>
        </p:txBody>
      </p:sp>
      <p:sp>
        <p:nvSpPr>
          <p:cNvPr id="14" name="Text 11"/>
          <p:cNvSpPr/>
          <p:nvPr/>
        </p:nvSpPr>
        <p:spPr>
          <a:xfrm>
            <a:off x="853440" y="4754880"/>
            <a:ext cx="73152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Building the future of software, together.</a:t>
            </a:r>
            <a:endParaRPr lang="en-US" sz="2133" dirty="0"/>
          </a:p>
        </p:txBody>
      </p:sp>
      <p:sp>
        <p:nvSpPr>
          <p:cNvPr id="15" name="Shape 12"/>
          <p:cNvSpPr/>
          <p:nvPr/>
        </p:nvSpPr>
        <p:spPr>
          <a:xfrm>
            <a:off x="0" y="5913120"/>
            <a:ext cx="12192000" cy="950976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0" y="5913121"/>
            <a:ext cx="12192000" cy="14631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853440" y="5913120"/>
            <a:ext cx="268224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413760" y="5913120"/>
            <a:ext cx="36576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1867" dirty="0"/>
          </a:p>
        </p:txBody>
      </p:sp>
      <p:sp>
        <p:nvSpPr>
          <p:cNvPr id="19" name="Text 16"/>
          <p:cNvSpPr/>
          <p:nvPr/>
        </p:nvSpPr>
        <p:spPr>
          <a:xfrm>
            <a:off x="3657600" y="5913120"/>
            <a:ext cx="304800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South East Asia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461760" y="5913120"/>
            <a:ext cx="36576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</a:t>
            </a:r>
            <a:endParaRPr lang="en-US" sz="1867" dirty="0"/>
          </a:p>
        </p:txBody>
      </p:sp>
      <p:sp>
        <p:nvSpPr>
          <p:cNvPr id="21" name="Text 18"/>
          <p:cNvSpPr/>
          <p:nvPr/>
        </p:nvSpPr>
        <p:spPr>
          <a:xfrm>
            <a:off x="6705600" y="5913120"/>
            <a:ext cx="3657600" cy="9509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#GitHubPartnerRoadshow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0" y="6790944"/>
            <a:ext cx="12192000" cy="73152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7924800" y="670560"/>
            <a:ext cx="3657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467" dirty="0">
                <a:solidFill>
                  <a:srgbClr val="3036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welcome(partners);</a:t>
            </a:r>
            <a:endParaRPr lang="en-US" sz="1467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144000" y="-2438400"/>
            <a:ext cx="5486400" cy="5486400"/>
          </a:xfrm>
          <a:prstGeom prst="ellipse">
            <a:avLst/>
          </a:prstGeom>
          <a:solidFill>
            <a:srgbClr val="1F6FE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997440" y="-1219200"/>
            <a:ext cx="3048000" cy="3048000"/>
          </a:xfrm>
          <a:prstGeom prst="ellipse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365760"/>
            <a:ext cx="3474720" cy="390144"/>
          </a:xfrm>
          <a:prstGeom prst="roundRect">
            <a:avLst>
              <a:gd name="adj" fmla="val 50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600" y="365760"/>
            <a:ext cx="3474720" cy="3901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OF THE OCTOVERSE 2025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609600" y="914400"/>
            <a:ext cx="10972800" cy="792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South East Asia Opportunity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609600" y="1645920"/>
            <a:ext cx="8534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APAC is GitHub's fastest-growing region — and SEA is at the heart of it.</a:t>
            </a:r>
            <a:endParaRPr lang="en-US" sz="1667" dirty="0"/>
          </a:p>
        </p:txBody>
      </p:sp>
      <p:sp>
        <p:nvSpPr>
          <p:cNvPr id="10" name="Shape 8"/>
          <p:cNvSpPr/>
          <p:nvPr/>
        </p:nvSpPr>
        <p:spPr>
          <a:xfrm>
            <a:off x="609600" y="2377440"/>
            <a:ext cx="341376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09600" y="24993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+13M</a:t>
            </a:r>
            <a:endParaRPr lang="en-US" sz="4267" dirty="0"/>
          </a:p>
        </p:txBody>
      </p:sp>
      <p:sp>
        <p:nvSpPr>
          <p:cNvPr id="12" name="Text 10"/>
          <p:cNvSpPr/>
          <p:nvPr/>
        </p:nvSpPr>
        <p:spPr>
          <a:xfrm>
            <a:off x="609600" y="31089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APAC developers</a:t>
            </a:r>
            <a:endParaRPr lang="en-US" sz="1333" dirty="0"/>
          </a:p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2025 alone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4389120" y="2377440"/>
            <a:ext cx="341376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89120" y="24993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4.37M</a:t>
            </a:r>
            <a:endParaRPr lang="en-US" sz="4267" dirty="0"/>
          </a:p>
        </p:txBody>
      </p:sp>
      <p:sp>
        <p:nvSpPr>
          <p:cNvPr id="15" name="Text 13"/>
          <p:cNvSpPr/>
          <p:nvPr/>
        </p:nvSpPr>
        <p:spPr>
          <a:xfrm>
            <a:off x="4389120" y="31089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 in Indonesia</a:t>
            </a:r>
            <a:endParaRPr lang="en-US" sz="1333" dirty="0"/>
          </a:p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from 0.9M in 2020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8168640" y="2377440"/>
            <a:ext cx="341376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168640" y="2499360"/>
            <a:ext cx="341376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267" b="1" dirty="0">
                <a:solidFill>
                  <a:srgbClr val="A371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~25/min</a:t>
            </a:r>
            <a:endParaRPr lang="en-US" sz="4267" dirty="0"/>
          </a:p>
        </p:txBody>
      </p:sp>
      <p:sp>
        <p:nvSpPr>
          <p:cNvPr id="18" name="Text 16"/>
          <p:cNvSpPr/>
          <p:nvPr/>
        </p:nvSpPr>
        <p:spPr>
          <a:xfrm>
            <a:off x="8168640" y="3108960"/>
            <a:ext cx="3413760" cy="54864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APAC developers</a:t>
            </a:r>
            <a:endParaRPr lang="en-US" sz="1333" dirty="0"/>
          </a:p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joining GitHub every minute</a:t>
            </a:r>
            <a:endParaRPr lang="en-US" sz="1333" dirty="0"/>
          </a:p>
        </p:txBody>
      </p:sp>
      <p:sp>
        <p:nvSpPr>
          <p:cNvPr id="19" name="Shape 17"/>
          <p:cNvSpPr/>
          <p:nvPr/>
        </p:nvSpPr>
        <p:spPr>
          <a:xfrm>
            <a:off x="609600" y="4047744"/>
            <a:ext cx="10972800" cy="1219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09600" y="420624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MARKET HIGHLIGHTS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9600" y="4632960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33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Country</a:t>
            </a:r>
            <a:endParaRPr lang="en-US" sz="1133" dirty="0"/>
          </a:p>
        </p:txBody>
      </p:sp>
      <p:sp>
        <p:nvSpPr>
          <p:cNvPr id="22" name="Text 20"/>
          <p:cNvSpPr/>
          <p:nvPr/>
        </p:nvSpPr>
        <p:spPr>
          <a:xfrm>
            <a:off x="2682240" y="4632960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</a:t>
            </a:r>
            <a:endParaRPr lang="en-US" sz="1133" dirty="0"/>
          </a:p>
        </p:txBody>
      </p:sp>
      <p:sp>
        <p:nvSpPr>
          <p:cNvPr id="23" name="Text 21"/>
          <p:cNvSpPr/>
          <p:nvPr/>
        </p:nvSpPr>
        <p:spPr>
          <a:xfrm>
            <a:off x="4145280" y="4632960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33" b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YoY Growth</a:t>
            </a:r>
            <a:endParaRPr lang="en-US" sz="1133" dirty="0"/>
          </a:p>
        </p:txBody>
      </p:sp>
      <p:sp>
        <p:nvSpPr>
          <p:cNvPr id="24" name="Shape 22"/>
          <p:cNvSpPr/>
          <p:nvPr/>
        </p:nvSpPr>
        <p:spPr>
          <a:xfrm>
            <a:off x="609600" y="4974337"/>
            <a:ext cx="4876800" cy="9753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09600" y="5023104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🇮🇩  Indonesia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2682240" y="5023104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4.37M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4145280" y="5023104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386%*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609600" y="5413248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🇵🇭  Philippines</a:t>
            </a:r>
            <a:endParaRPr lang="en-US" sz="1267" dirty="0"/>
          </a:p>
        </p:txBody>
      </p:sp>
      <p:sp>
        <p:nvSpPr>
          <p:cNvPr id="29" name="Text 27"/>
          <p:cNvSpPr/>
          <p:nvPr/>
        </p:nvSpPr>
        <p:spPr>
          <a:xfrm>
            <a:off x="2682240" y="5413248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1.7M+</a:t>
            </a:r>
            <a:endParaRPr lang="en-US" sz="1267" dirty="0"/>
          </a:p>
        </p:txBody>
      </p:sp>
      <p:sp>
        <p:nvSpPr>
          <p:cNvPr id="30" name="Text 28"/>
          <p:cNvSpPr/>
          <p:nvPr/>
        </p:nvSpPr>
        <p:spPr>
          <a:xfrm>
            <a:off x="4145280" y="5413248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▲ 29%</a:t>
            </a:r>
            <a:endParaRPr lang="en-US" sz="1267" dirty="0"/>
          </a:p>
        </p:txBody>
      </p:sp>
      <p:sp>
        <p:nvSpPr>
          <p:cNvPr id="31" name="Text 29"/>
          <p:cNvSpPr/>
          <p:nvPr/>
        </p:nvSpPr>
        <p:spPr>
          <a:xfrm>
            <a:off x="609600" y="5803392"/>
            <a:ext cx="20726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🇸🇬  Singapore</a:t>
            </a:r>
            <a:endParaRPr lang="en-US" sz="1267" dirty="0"/>
          </a:p>
        </p:txBody>
      </p:sp>
      <p:sp>
        <p:nvSpPr>
          <p:cNvPr id="32" name="Text 30"/>
          <p:cNvSpPr/>
          <p:nvPr/>
        </p:nvSpPr>
        <p:spPr>
          <a:xfrm>
            <a:off x="2682240" y="5803392"/>
            <a:ext cx="146304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density</a:t>
            </a:r>
            <a:endParaRPr lang="en-US" sz="1267" dirty="0"/>
          </a:p>
        </p:txBody>
      </p:sp>
      <p:sp>
        <p:nvSpPr>
          <p:cNvPr id="33" name="Text 31"/>
          <p:cNvSpPr/>
          <p:nvPr/>
        </p:nvSpPr>
        <p:spPr>
          <a:xfrm>
            <a:off x="4145280" y="5803392"/>
            <a:ext cx="13411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Hub</a:t>
            </a:r>
            <a:endParaRPr lang="en-US" sz="1267" dirty="0"/>
          </a:p>
        </p:txBody>
      </p:sp>
      <p:sp>
        <p:nvSpPr>
          <p:cNvPr id="34" name="Text 32"/>
          <p:cNvSpPr/>
          <p:nvPr/>
        </p:nvSpPr>
        <p:spPr>
          <a:xfrm>
            <a:off x="609600" y="6205728"/>
            <a:ext cx="3657600" cy="243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i="1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* 5-year growth 2020–2025</a:t>
            </a:r>
            <a:endParaRPr lang="en-US" sz="933" dirty="0"/>
          </a:p>
        </p:txBody>
      </p:sp>
      <p:sp>
        <p:nvSpPr>
          <p:cNvPr id="35" name="Shape 33"/>
          <p:cNvSpPr/>
          <p:nvPr/>
        </p:nvSpPr>
        <p:spPr>
          <a:xfrm>
            <a:off x="6217920" y="4206240"/>
            <a:ext cx="5364480" cy="2255520"/>
          </a:xfrm>
          <a:prstGeom prst="roundRect">
            <a:avLst>
              <a:gd name="adj" fmla="val 4324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522720" y="4328160"/>
            <a:ext cx="487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SEA, Why Now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6522720" y="4693920"/>
            <a:ext cx="4815840" cy="1645920"/>
          </a:xfrm>
          <a:prstGeom prst="rect">
            <a:avLst/>
          </a:prstGeom>
          <a:noFill/>
          <a:ln/>
        </p:spPr>
        <p:txBody>
          <a:bodyPr wrap="square" rtlCol="0" anchor="t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89" indent="-457189">
              <a:spcAft>
                <a:spcPts val="267"/>
              </a:spcAft>
              <a:buSzPct val="100000"/>
              <a:buChar char="▪"/>
            </a:pPr>
            <a:r>
              <a:rPr lang="en-US" sz="1200" dirty="0">
                <a:solidFill>
                  <a:srgbClr val="C9D1D9"/>
                </a:solidFill>
              </a:rPr>
              <a:t>Indonesia is SEA's digital powerhouse — accounting for nearly half the region's online economy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▪"/>
            </a:pPr>
            <a:r>
              <a:rPr lang="en-US" sz="1200" dirty="0">
                <a:solidFill>
                  <a:srgbClr val="C9D1D9"/>
                </a:solidFill>
              </a:rPr>
              <a:t>Singapore's National AI Strategy &amp; Smart Nation initiative drive enterprise demand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▪"/>
            </a:pPr>
            <a:r>
              <a:rPr lang="en-US" sz="1200" dirty="0">
                <a:solidFill>
                  <a:srgbClr val="C9D1D9"/>
                </a:solidFill>
              </a:rPr>
              <a:t>80% of new developers use GitHub Copilot within their first week</a:t>
            </a:r>
            <a:endParaRPr lang="en-US" sz="1200" dirty="0"/>
          </a:p>
          <a:p>
            <a:pPr marL="457189" indent="-457189">
              <a:spcAft>
                <a:spcPts val="267"/>
              </a:spcAft>
              <a:buSzPct val="100000"/>
              <a:buChar char="▪"/>
            </a:pPr>
            <a:r>
              <a:rPr lang="en-US" sz="1200" dirty="0">
                <a:solidFill>
                  <a:srgbClr val="C9D1D9"/>
                </a:solidFill>
              </a:rPr>
              <a:t>AI-assisted local-language tooling unlocking non-English developer communities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0" y="6278880"/>
            <a:ext cx="12192000" cy="512064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0" y="6278880"/>
            <a:ext cx="12192000" cy="12192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609600" y="6278880"/>
            <a:ext cx="731520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GitHub Octoverse 2024 &amp; 2025  •  github.com/octoverse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705600" y="6278880"/>
            <a:ext cx="4876800" cy="51206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None/>
            </a:pPr>
            <a:r>
              <a:rPr lang="en-US" sz="12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180M+ developers worldwide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0" y="6790944"/>
            <a:ext cx="12192000" cy="73152"/>
          </a:xfrm>
          <a:prstGeom prst="rect">
            <a:avLst/>
          </a:prstGeom>
          <a:solidFill>
            <a:srgbClr val="A371F7"/>
          </a:solidFill>
          <a:ln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1265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243840"/>
            <a:ext cx="2926080" cy="304800"/>
          </a:xfrm>
          <a:prstGeom prst="roundRect">
            <a:avLst>
              <a:gd name="adj" fmla="val 32000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243840"/>
            <a:ext cx="2926080" cy="304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FEATURES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585216"/>
            <a:ext cx="804672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— </a:t>
            </a:r>
            <a:r>
              <a:rPr lang="en-US" sz="29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Command Your Craft</a:t>
            </a:r>
            <a:endParaRPr lang="en-US" sz="2933" dirty="0"/>
          </a:p>
        </p:txBody>
      </p:sp>
      <p:sp>
        <p:nvSpPr>
          <p:cNvPr id="8" name="Text 6"/>
          <p:cNvSpPr/>
          <p:nvPr/>
        </p:nvSpPr>
        <p:spPr>
          <a:xfrm>
            <a:off x="487680" y="1072896"/>
            <a:ext cx="8046720" cy="2682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AI accelerator for every workflow — from the editor to the enterprise.</a:t>
            </a:r>
            <a:endParaRPr lang="en-US" sz="1267" dirty="0"/>
          </a:p>
        </p:txBody>
      </p:sp>
      <p:sp>
        <p:nvSpPr>
          <p:cNvPr id="9" name="Shape 7"/>
          <p:cNvSpPr/>
          <p:nvPr/>
        </p:nvSpPr>
        <p:spPr>
          <a:xfrm>
            <a:off x="9083040" y="243840"/>
            <a:ext cx="2560320" cy="999744"/>
          </a:xfrm>
          <a:prstGeom prst="roundRect">
            <a:avLst>
              <a:gd name="adj" fmla="val 9756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9083040" y="243840"/>
            <a:ext cx="2560320" cy="99974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5000"/>
              </a:lnSpc>
              <a:buNone/>
            </a:pP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Up to </a:t>
            </a:r>
            <a:r>
              <a:rPr lang="en-US" sz="2933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55%</a:t>
            </a: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faster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coding productivity</a:t>
            </a:r>
            <a:endParaRPr lang="en-US" sz="1067" dirty="0"/>
          </a:p>
        </p:txBody>
      </p:sp>
      <p:sp>
        <p:nvSpPr>
          <p:cNvPr id="11" name="Shape 9"/>
          <p:cNvSpPr/>
          <p:nvPr/>
        </p:nvSpPr>
        <p:spPr>
          <a:xfrm>
            <a:off x="487680" y="1487424"/>
            <a:ext cx="3535680" cy="304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680" y="1487424"/>
            <a:ext cx="3535680" cy="304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&amp; EDITOR</a:t>
            </a:r>
            <a:endParaRPr lang="en-US" sz="1067" dirty="0"/>
          </a:p>
        </p:txBody>
      </p:sp>
      <p:sp>
        <p:nvSpPr>
          <p:cNvPr id="13" name="Shape 11"/>
          <p:cNvSpPr/>
          <p:nvPr/>
        </p:nvSpPr>
        <p:spPr>
          <a:xfrm>
            <a:off x="4328160" y="1487424"/>
            <a:ext cx="3535680" cy="304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28160" y="1487424"/>
            <a:ext cx="3535680" cy="304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&amp; AUTOMATION</a:t>
            </a:r>
            <a:endParaRPr lang="en-US" sz="1067" dirty="0"/>
          </a:p>
        </p:txBody>
      </p:sp>
      <p:sp>
        <p:nvSpPr>
          <p:cNvPr id="15" name="Shape 13"/>
          <p:cNvSpPr/>
          <p:nvPr/>
        </p:nvSpPr>
        <p:spPr>
          <a:xfrm>
            <a:off x="8168640" y="1487424"/>
            <a:ext cx="3535680" cy="304800"/>
          </a:xfrm>
          <a:prstGeom prst="rect">
            <a:avLst/>
          </a:prstGeom>
          <a:solidFill>
            <a:srgbClr val="161B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168640" y="1487424"/>
            <a:ext cx="3535680" cy="3048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&amp; PLATFORM</a:t>
            </a:r>
            <a:endParaRPr lang="en-US" sz="1067" dirty="0"/>
          </a:p>
        </p:txBody>
      </p:sp>
      <p:sp>
        <p:nvSpPr>
          <p:cNvPr id="17" name="Text 15"/>
          <p:cNvSpPr/>
          <p:nvPr/>
        </p:nvSpPr>
        <p:spPr>
          <a:xfrm>
            <a:off x="585216" y="1853184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Completion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Inline AI suggestions as you type across all languages</a:t>
            </a:r>
            <a:endParaRPr lang="en-US" sz="1267" dirty="0"/>
          </a:p>
        </p:txBody>
      </p:sp>
      <p:sp>
        <p:nvSpPr>
          <p:cNvPr id="18" name="Text 16"/>
          <p:cNvSpPr/>
          <p:nvPr/>
        </p:nvSpPr>
        <p:spPr>
          <a:xfrm>
            <a:off x="585216" y="2633472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 in IDE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Debug, explain &amp; ask questions in VS Code, JetBrains &amp; more</a:t>
            </a:r>
            <a:endParaRPr lang="en-US" sz="1267" dirty="0"/>
          </a:p>
        </p:txBody>
      </p:sp>
      <p:sp>
        <p:nvSpPr>
          <p:cNvPr id="19" name="Text 17"/>
          <p:cNvSpPr/>
          <p:nvPr/>
        </p:nvSpPr>
        <p:spPr>
          <a:xfrm>
            <a:off x="585216" y="3413760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 Mode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Multi-file edits, validation &amp; autonomous iteration in editor</a:t>
            </a:r>
            <a:endParaRPr lang="en-US" sz="1267" dirty="0"/>
          </a:p>
        </p:txBody>
      </p:sp>
      <p:sp>
        <p:nvSpPr>
          <p:cNvPr id="20" name="Text 18"/>
          <p:cNvSpPr/>
          <p:nvPr/>
        </p:nvSpPr>
        <p:spPr>
          <a:xfrm>
            <a:off x="585216" y="4194048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Multi-LLM Choice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GPT, Claude, Gemini &amp; more — pick for speed, accuracy, or cost</a:t>
            </a:r>
            <a:endParaRPr lang="en-US" sz="1267" dirty="0"/>
          </a:p>
        </p:txBody>
      </p:sp>
      <p:sp>
        <p:nvSpPr>
          <p:cNvPr id="21" name="Text 19"/>
          <p:cNvSpPr/>
          <p:nvPr/>
        </p:nvSpPr>
        <p:spPr>
          <a:xfrm>
            <a:off x="4425696" y="1853184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Coding Agents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Assign issues to Copilot, Claude, or Codex — they code &amp; create PRs</a:t>
            </a:r>
            <a:endParaRPr lang="en-US" sz="1267" dirty="0"/>
          </a:p>
        </p:txBody>
      </p:sp>
      <p:sp>
        <p:nvSpPr>
          <p:cNvPr id="22" name="Text 20"/>
          <p:cNvSpPr/>
          <p:nvPr/>
        </p:nvSpPr>
        <p:spPr>
          <a:xfrm>
            <a:off x="4425696" y="2633472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CLI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Natural language in terminal — plans, builds &amp; executes workflows</a:t>
            </a:r>
            <a:endParaRPr lang="en-US" sz="1267" dirty="0"/>
          </a:p>
        </p:txBody>
      </p:sp>
      <p:sp>
        <p:nvSpPr>
          <p:cNvPr id="23" name="Text 21"/>
          <p:cNvSpPr/>
          <p:nvPr/>
        </p:nvSpPr>
        <p:spPr>
          <a:xfrm>
            <a:off x="4425696" y="3413760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Review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PR reviews for all team members, even without a seat</a:t>
            </a:r>
            <a:endParaRPr lang="en-US" sz="1267" dirty="0"/>
          </a:p>
        </p:txBody>
      </p:sp>
      <p:sp>
        <p:nvSpPr>
          <p:cNvPr id="24" name="Text 22"/>
          <p:cNvSpPr/>
          <p:nvPr/>
        </p:nvSpPr>
        <p:spPr>
          <a:xfrm>
            <a:off x="4425696" y="4194048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Autofix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Auto-detects &amp; fixes security vulnerabilities via Advanced Security</a:t>
            </a:r>
            <a:endParaRPr lang="en-US" sz="1267" dirty="0"/>
          </a:p>
        </p:txBody>
      </p:sp>
      <p:sp>
        <p:nvSpPr>
          <p:cNvPr id="25" name="Text 23"/>
          <p:cNvSpPr/>
          <p:nvPr/>
        </p:nvSpPr>
        <p:spPr>
          <a:xfrm>
            <a:off x="8266176" y="1853184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Copilot Spaces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Shared knowledge from docs &amp; repos — keeps teams consistent</a:t>
            </a:r>
            <a:endParaRPr lang="en-US" sz="1267" dirty="0"/>
          </a:p>
        </p:txBody>
      </p:sp>
      <p:sp>
        <p:nvSpPr>
          <p:cNvPr id="26" name="Text 24"/>
          <p:cNvSpPr/>
          <p:nvPr/>
        </p:nvSpPr>
        <p:spPr>
          <a:xfrm>
            <a:off x="8266176" y="2633472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MCP Integrations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MCP server connections — admin-controlled allow lists</a:t>
            </a:r>
            <a:endParaRPr lang="en-US" sz="1267" dirty="0"/>
          </a:p>
        </p:txBody>
      </p:sp>
      <p:sp>
        <p:nvSpPr>
          <p:cNvPr id="27" name="Text 25"/>
          <p:cNvSpPr/>
          <p:nvPr/>
        </p:nvSpPr>
        <p:spPr>
          <a:xfrm>
            <a:off x="8266176" y="3413760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 Everywhere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VS Code · JetBrains · Visual Studio · GitHub.com · Mobile · CLI</a:t>
            </a:r>
            <a:endParaRPr lang="en-US" sz="1267" dirty="0"/>
          </a:p>
        </p:txBody>
      </p:sp>
      <p:sp>
        <p:nvSpPr>
          <p:cNvPr id="28" name="Text 26"/>
          <p:cNvSpPr/>
          <p:nvPr/>
        </p:nvSpPr>
        <p:spPr>
          <a:xfrm>
            <a:off x="8266176" y="4194048"/>
            <a:ext cx="3352800" cy="70713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0000"/>
              </a:lnSpc>
              <a:buNone/>
            </a:pPr>
            <a:r>
              <a:rPr lang="en-US" sz="12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Privacy &amp; IP Protection
</a:t>
            </a:r>
            <a:r>
              <a:rPr lang="en-US" sz="10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never trains models · IP indemnity · code reference filter</a:t>
            </a:r>
            <a:endParaRPr lang="en-US" sz="1267" dirty="0"/>
          </a:p>
        </p:txBody>
      </p:sp>
      <p:sp>
        <p:nvSpPr>
          <p:cNvPr id="29" name="Shape 27"/>
          <p:cNvSpPr/>
          <p:nvPr/>
        </p:nvSpPr>
        <p:spPr>
          <a:xfrm>
            <a:off x="4169664" y="1536192"/>
            <a:ext cx="18288" cy="336499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010144" y="1536192"/>
            <a:ext cx="18288" cy="3364992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87680" y="5084064"/>
            <a:ext cx="11216640" cy="24384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7680" y="5181600"/>
            <a:ext cx="2438400" cy="243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 &amp; PRICING</a:t>
            </a:r>
            <a:endParaRPr lang="en-US" sz="1067" dirty="0"/>
          </a:p>
        </p:txBody>
      </p:sp>
      <p:sp>
        <p:nvSpPr>
          <p:cNvPr id="33" name="Shape 31"/>
          <p:cNvSpPr/>
          <p:nvPr/>
        </p:nvSpPr>
        <p:spPr>
          <a:xfrm>
            <a:off x="487680" y="5474208"/>
            <a:ext cx="2097024" cy="67056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09600" y="5474208"/>
            <a:ext cx="1914144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r>
              <a:rPr lang="en-US" sz="1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$0/mo
</a:t>
            </a: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2K completions · 50 chats</a:t>
            </a:r>
            <a:endParaRPr lang="en-US" sz="1467" dirty="0"/>
          </a:p>
        </p:txBody>
      </p:sp>
      <p:sp>
        <p:nvSpPr>
          <p:cNvPr id="35" name="Shape 33"/>
          <p:cNvSpPr/>
          <p:nvPr/>
        </p:nvSpPr>
        <p:spPr>
          <a:xfrm>
            <a:off x="2731008" y="5474208"/>
            <a:ext cx="2097024" cy="67056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905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852928" y="5474208"/>
            <a:ext cx="1914144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</a:t>
            </a:r>
            <a:r>
              <a:rPr lang="en-US" sz="12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★</a:t>
            </a:r>
            <a:r>
              <a:rPr lang="en-US" sz="1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$10/mo
</a:t>
            </a: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completions &amp; chat</a:t>
            </a:r>
            <a:endParaRPr lang="en-US" sz="1467" dirty="0"/>
          </a:p>
        </p:txBody>
      </p:sp>
      <p:sp>
        <p:nvSpPr>
          <p:cNvPr id="37" name="Shape 35"/>
          <p:cNvSpPr/>
          <p:nvPr/>
        </p:nvSpPr>
        <p:spPr>
          <a:xfrm>
            <a:off x="4974336" y="5474208"/>
            <a:ext cx="2097024" cy="67056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5096256" y="5474208"/>
            <a:ext cx="1914144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Pro+</a:t>
            </a:r>
            <a:r>
              <a:rPr lang="en-US" sz="1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$39/mo
</a:t>
            </a: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Agents + premium models</a:t>
            </a:r>
            <a:endParaRPr lang="en-US" sz="1467" dirty="0"/>
          </a:p>
        </p:txBody>
      </p:sp>
      <p:sp>
        <p:nvSpPr>
          <p:cNvPr id="39" name="Shape 37"/>
          <p:cNvSpPr/>
          <p:nvPr/>
        </p:nvSpPr>
        <p:spPr>
          <a:xfrm>
            <a:off x="7217664" y="5474208"/>
            <a:ext cx="2097024" cy="67056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339584" y="5474208"/>
            <a:ext cx="1914144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</a:t>
            </a:r>
            <a:r>
              <a:rPr lang="en-US" sz="1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$19/u/mo
</a:t>
            </a: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 management + policies</a:t>
            </a:r>
            <a:endParaRPr lang="en-US" sz="1467" dirty="0"/>
          </a:p>
        </p:txBody>
      </p:sp>
      <p:sp>
        <p:nvSpPr>
          <p:cNvPr id="41" name="Shape 39"/>
          <p:cNvSpPr/>
          <p:nvPr/>
        </p:nvSpPr>
        <p:spPr>
          <a:xfrm>
            <a:off x="9460992" y="5474208"/>
            <a:ext cx="2097024" cy="67056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9582912" y="5474208"/>
            <a:ext cx="1914144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88000"/>
              </a:lnSpc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r>
              <a:rPr lang="en-US" sz="1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$39/u/mo
</a:t>
            </a:r>
            <a:r>
              <a:rPr lang="en-US" sz="10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platform + IP indemnity</a:t>
            </a:r>
            <a:endParaRPr lang="en-US" sz="1467" dirty="0"/>
          </a:p>
        </p:txBody>
      </p:sp>
      <p:sp>
        <p:nvSpPr>
          <p:cNvPr id="43" name="Text 41"/>
          <p:cNvSpPr/>
          <p:nvPr/>
        </p:nvSpPr>
        <p:spPr>
          <a:xfrm>
            <a:off x="487680" y="6242304"/>
            <a:ext cx="6096000" cy="21945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933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Source: github.com/features/copilot · March 2026</a:t>
            </a:r>
            <a:endParaRPr lang="en-US" sz="933" dirty="0"/>
          </a:p>
        </p:txBody>
      </p:sp>
    </p:spTree>
    <p:extLst>
      <p:ext uri="{BB962C8B-B14F-4D97-AF65-F5344CB8AC3E}">
        <p14:creationId xmlns:p14="http://schemas.microsoft.com/office/powerpoint/2010/main" val="85104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170688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17068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AGENDA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Today's Agenda</a:t>
            </a:r>
            <a:endParaRPr lang="en-US" sz="3733" dirty="0"/>
          </a:p>
        </p:txBody>
      </p:sp>
      <p:sp>
        <p:nvSpPr>
          <p:cNvPr id="8" name="Shape 6"/>
          <p:cNvSpPr/>
          <p:nvPr/>
        </p:nvSpPr>
        <p:spPr>
          <a:xfrm>
            <a:off x="487680" y="1767840"/>
            <a:ext cx="512064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92480" y="2109216"/>
            <a:ext cx="670560" cy="6705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92480" y="210921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67" dirty="0"/>
          </a:p>
        </p:txBody>
      </p:sp>
      <p:sp>
        <p:nvSpPr>
          <p:cNvPr id="11" name="Text 9"/>
          <p:cNvSpPr/>
          <p:nvPr/>
        </p:nvSpPr>
        <p:spPr>
          <a:xfrm>
            <a:off x="1706880" y="201168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Introduction to GitHub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1706880" y="24749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overview and capabilities</a:t>
            </a:r>
            <a:endParaRPr lang="en-US" sz="1333" dirty="0"/>
          </a:p>
        </p:txBody>
      </p:sp>
      <p:sp>
        <p:nvSpPr>
          <p:cNvPr id="13" name="Shape 11"/>
          <p:cNvSpPr/>
          <p:nvPr/>
        </p:nvSpPr>
        <p:spPr>
          <a:xfrm>
            <a:off x="487680" y="3438144"/>
            <a:ext cx="512064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2480" y="3779520"/>
            <a:ext cx="670560" cy="6705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92480" y="377952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1706880" y="3681984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1706880" y="4145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 development</a:t>
            </a:r>
            <a:endParaRPr lang="en-US" sz="1333" dirty="0"/>
          </a:p>
        </p:txBody>
      </p:sp>
      <p:sp>
        <p:nvSpPr>
          <p:cNvPr id="18" name="Shape 16"/>
          <p:cNvSpPr/>
          <p:nvPr/>
        </p:nvSpPr>
        <p:spPr>
          <a:xfrm>
            <a:off x="487680" y="5108448"/>
            <a:ext cx="512064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92480" y="5449824"/>
            <a:ext cx="670560" cy="6705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92480" y="5449824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1706880" y="5352288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1706880" y="58155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automation</a:t>
            </a:r>
            <a:endParaRPr lang="en-US" sz="1333" dirty="0"/>
          </a:p>
        </p:txBody>
      </p:sp>
      <p:sp>
        <p:nvSpPr>
          <p:cNvPr id="23" name="Shape 21"/>
          <p:cNvSpPr/>
          <p:nvPr/>
        </p:nvSpPr>
        <p:spPr>
          <a:xfrm>
            <a:off x="6339840" y="1767840"/>
            <a:ext cx="512064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644640" y="2109216"/>
            <a:ext cx="670560" cy="6705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44640" y="2109216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7559040" y="2011680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Security</a:t>
            </a:r>
            <a:endParaRPr lang="en-US" sz="1867" dirty="0"/>
          </a:p>
        </p:txBody>
      </p:sp>
      <p:sp>
        <p:nvSpPr>
          <p:cNvPr id="27" name="Text 25"/>
          <p:cNvSpPr/>
          <p:nvPr/>
        </p:nvSpPr>
        <p:spPr>
          <a:xfrm>
            <a:off x="7559040" y="247497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Securing your code</a:t>
            </a:r>
            <a:endParaRPr lang="en-US" sz="1333" dirty="0"/>
          </a:p>
        </p:txBody>
      </p:sp>
      <p:sp>
        <p:nvSpPr>
          <p:cNvPr id="28" name="Shape 26"/>
          <p:cNvSpPr/>
          <p:nvPr/>
        </p:nvSpPr>
        <p:spPr>
          <a:xfrm>
            <a:off x="6339840" y="3438144"/>
            <a:ext cx="512064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644640" y="3779520"/>
            <a:ext cx="670560" cy="6705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44640" y="3779520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05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7559040" y="3681984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Codespaces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7559040" y="4145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development environments</a:t>
            </a:r>
            <a:endParaRPr lang="en-US" sz="1333" dirty="0"/>
          </a:p>
        </p:txBody>
      </p:sp>
      <p:sp>
        <p:nvSpPr>
          <p:cNvPr id="33" name="Shape 31"/>
          <p:cNvSpPr/>
          <p:nvPr/>
        </p:nvSpPr>
        <p:spPr>
          <a:xfrm>
            <a:off x="6339840" y="5108448"/>
            <a:ext cx="5120640" cy="1402080"/>
          </a:xfrm>
          <a:prstGeom prst="roundRect">
            <a:avLst>
              <a:gd name="adj" fmla="val 695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44640" y="5449824"/>
            <a:ext cx="670560" cy="67056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644640" y="5449824"/>
            <a:ext cx="67056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06</a:t>
            </a:r>
            <a:endParaRPr lang="en-US" sz="1867" dirty="0"/>
          </a:p>
        </p:txBody>
      </p:sp>
      <p:sp>
        <p:nvSpPr>
          <p:cNvPr id="36" name="Text 34"/>
          <p:cNvSpPr/>
          <p:nvPr/>
        </p:nvSpPr>
        <p:spPr>
          <a:xfrm>
            <a:off x="7559040" y="5352288"/>
            <a:ext cx="36576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Q&amp;A</a:t>
            </a:r>
            <a:endParaRPr lang="en-US" sz="1867" dirty="0"/>
          </a:p>
        </p:txBody>
      </p:sp>
      <p:sp>
        <p:nvSpPr>
          <p:cNvPr id="37" name="Text 35"/>
          <p:cNvSpPr/>
          <p:nvPr/>
        </p:nvSpPr>
        <p:spPr>
          <a:xfrm>
            <a:off x="7559040" y="581558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questions answered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862155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75360" y="6705600"/>
            <a:ext cx="3048000" cy="304800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7680" y="365760"/>
            <a:ext cx="243840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7680" y="365760"/>
            <a:ext cx="243840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ABOUT GITHUB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487680" y="792480"/>
            <a:ext cx="975360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95000"/>
              </a:lnSpc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World's Leading </a:t>
            </a:r>
            <a:r>
              <a:rPr lang="en-US" sz="37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</a:t>
            </a:r>
            <a:endParaRPr lang="en-US" sz="3733" dirty="0"/>
          </a:p>
          <a:p>
            <a:pPr marL="0" indent="0">
              <a:lnSpc>
                <a:spcPct val="95000"/>
              </a:lnSpc>
              <a:buNone/>
            </a:pPr>
            <a:r>
              <a:rPr lang="en-US" sz="37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 Platform</a:t>
            </a:r>
            <a:endParaRPr lang="en-US" sz="3733" dirty="0"/>
          </a:p>
        </p:txBody>
      </p:sp>
      <p:sp>
        <p:nvSpPr>
          <p:cNvPr id="9" name="Shape 7"/>
          <p:cNvSpPr/>
          <p:nvPr/>
        </p:nvSpPr>
        <p:spPr>
          <a:xfrm>
            <a:off x="487680" y="1950720"/>
            <a:ext cx="73152" cy="3657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926336"/>
            <a:ext cx="8534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i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is the world's leading AI-powered developer platform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87680" y="2682240"/>
            <a:ext cx="2560320" cy="2438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7680" y="2987040"/>
            <a:ext cx="256032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0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100M+</a:t>
            </a:r>
            <a:endParaRPr lang="en-US" sz="5067" dirty="0"/>
          </a:p>
        </p:txBody>
      </p:sp>
      <p:sp>
        <p:nvSpPr>
          <p:cNvPr id="13" name="Text 11"/>
          <p:cNvSpPr/>
          <p:nvPr/>
        </p:nvSpPr>
        <p:spPr>
          <a:xfrm>
            <a:off x="487680" y="408432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developers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worldwide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255264" y="2682240"/>
            <a:ext cx="2560320" cy="2438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55264" y="2987040"/>
            <a:ext cx="256032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067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330M+</a:t>
            </a:r>
            <a:endParaRPr lang="en-US" sz="5067" dirty="0"/>
          </a:p>
        </p:txBody>
      </p:sp>
      <p:sp>
        <p:nvSpPr>
          <p:cNvPr id="16" name="Text 14"/>
          <p:cNvSpPr/>
          <p:nvPr/>
        </p:nvSpPr>
        <p:spPr>
          <a:xfrm>
            <a:off x="3255264" y="408432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repositories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GitHub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022848" y="2682240"/>
            <a:ext cx="2560320" cy="2438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022848" y="2987040"/>
            <a:ext cx="256032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067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endParaRPr lang="en-US" sz="5067" dirty="0"/>
          </a:p>
        </p:txBody>
      </p:sp>
      <p:sp>
        <p:nvSpPr>
          <p:cNvPr id="19" name="Text 17"/>
          <p:cNvSpPr/>
          <p:nvPr/>
        </p:nvSpPr>
        <p:spPr>
          <a:xfrm>
            <a:off x="6022848" y="408432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 Fortune 100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790432" y="2682240"/>
            <a:ext cx="2560320" cy="2438400"/>
          </a:xfrm>
          <a:prstGeom prst="roundRect">
            <a:avLst>
              <a:gd name="adj" fmla="val 5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790432" y="2987040"/>
            <a:ext cx="256032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5067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190+</a:t>
            </a:r>
            <a:endParaRPr lang="en-US" sz="5067" dirty="0"/>
          </a:p>
        </p:txBody>
      </p:sp>
      <p:sp>
        <p:nvSpPr>
          <p:cNvPr id="22" name="Text 20"/>
          <p:cNvSpPr/>
          <p:nvPr/>
        </p:nvSpPr>
        <p:spPr>
          <a:xfrm>
            <a:off x="8790432" y="4084320"/>
            <a:ext cx="25603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countries</a:t>
            </a:r>
            <a:endParaRPr lang="en-US" sz="16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6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with users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87680" y="5608320"/>
            <a:ext cx="109728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733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competitive advantage developers ask for by name.</a:t>
            </a:r>
            <a:endParaRPr lang="en-US" sz="1733" dirty="0"/>
          </a:p>
        </p:txBody>
      </p:sp>
    </p:spTree>
    <p:extLst>
      <p:ext uri="{BB962C8B-B14F-4D97-AF65-F5344CB8AC3E}">
        <p14:creationId xmlns:p14="http://schemas.microsoft.com/office/powerpoint/2010/main" val="18280460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64096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182880"/>
            <a:ext cx="1828800" cy="268224"/>
          </a:xfrm>
          <a:prstGeom prst="roundRect">
            <a:avLst>
              <a:gd name="adj" fmla="val 36364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182880"/>
            <a:ext cx="1828800" cy="268224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487680"/>
            <a:ext cx="7315200" cy="43891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Copilot </a:t>
            </a:r>
            <a:r>
              <a:rPr lang="en-US" sz="32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 Action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87680" y="926592"/>
            <a:ext cx="7315200" cy="2438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See it in Action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487680" y="1280160"/>
            <a:ext cx="6096000" cy="4876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7680" y="1280160"/>
            <a:ext cx="6096000" cy="365760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792480" y="1377696"/>
            <a:ext cx="146304" cy="146304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024128" y="1377696"/>
            <a:ext cx="146304" cy="146304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255776" y="1377696"/>
            <a:ext cx="146304" cy="146304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524000" y="12801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067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fibonacci.py</a:t>
            </a:r>
            <a:endParaRPr lang="en-US" sz="1067" dirty="0"/>
          </a:p>
        </p:txBody>
      </p:sp>
      <p:sp>
        <p:nvSpPr>
          <p:cNvPr id="15" name="Text 13"/>
          <p:cNvSpPr/>
          <p:nvPr/>
        </p:nvSpPr>
        <p:spPr>
          <a:xfrm>
            <a:off x="731520" y="1767840"/>
            <a:ext cx="5608320" cy="4145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Example: Copilot helping write a function
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333" dirty="0">
                <a:solidFill>
                  <a:srgbClr val="D2A8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calculate_fibonacci</a:t>
            </a:r>
            <a:r>
              <a:rPr lang="en-US" sz="13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(n):
</a:t>
            </a:r>
            <a:r>
              <a:rPr lang="en-US" sz="1333" dirty="0">
                <a:solidFill>
                  <a:srgbClr val="6A73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Copilot suggests the implementation
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</a:t>
            </a:r>
            <a:r>
              <a:rPr lang="en-US" sz="13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&lt;= 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</a:t>
            </a:r>
            <a:r>
              <a:rPr lang="en-US" sz="13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
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3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calculate_fibonacci(n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r>
              <a:rPr lang="en-US" sz="13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         + calculate_fibonacci(n</a:t>
            </a:r>
            <a:r>
              <a:rPr lang="en-US" sz="13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</a:t>
            </a:r>
            <a:r>
              <a:rPr lang="en-US" sz="1333" dirty="0">
                <a:solidFill>
                  <a:srgbClr val="79C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r>
              <a:rPr lang="en-US" sz="13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6949440" y="1280160"/>
            <a:ext cx="469392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Demo Topics</a:t>
            </a:r>
            <a:endParaRPr lang="en-US" sz="1733" dirty="0"/>
          </a:p>
        </p:txBody>
      </p:sp>
      <p:sp>
        <p:nvSpPr>
          <p:cNvPr id="17" name="Shape 15"/>
          <p:cNvSpPr/>
          <p:nvPr/>
        </p:nvSpPr>
        <p:spPr>
          <a:xfrm>
            <a:off x="6949440" y="1767840"/>
            <a:ext cx="4693920" cy="85344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49440" y="1767840"/>
            <a:ext cx="73152" cy="85344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254240" y="1840992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Completion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7254240" y="2194560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inline suggestions as you type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0" y="2767584"/>
            <a:ext cx="4693920" cy="85344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6949440" y="2767584"/>
            <a:ext cx="73152" cy="85344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254240" y="2840736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Function Generation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7254240" y="3194304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 entire functions from comments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949440" y="3767328"/>
            <a:ext cx="4693920" cy="85344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949440" y="3767328"/>
            <a:ext cx="73152" cy="85344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254240" y="3840480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Creation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7254240" y="4194048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Auto-generate unit test suites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949440" y="4767072"/>
            <a:ext cx="4693920" cy="853440"/>
          </a:xfrm>
          <a:prstGeom prst="roundRect">
            <a:avLst>
              <a:gd name="adj" fmla="val 8571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949440" y="4767072"/>
            <a:ext cx="73152" cy="85344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254240" y="4840224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7254240" y="5193792"/>
            <a:ext cx="414528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Write docs from code context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42214023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268224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268224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 Your </a:t>
            </a:r>
            <a:r>
              <a:rPr lang="en-US" sz="3733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487680" y="13411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Made Simple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487680" y="2011680"/>
            <a:ext cx="5486400" cy="5608320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194560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Features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2962656"/>
            <a:ext cx="97536" cy="9753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2865120"/>
            <a:ext cx="44500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Build, test, and deploy directly from GitHub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914400" y="3755136"/>
            <a:ext cx="97536" cy="9753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80160" y="3657600"/>
            <a:ext cx="44500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Pre-built actions marketplace with 15,000+ actions</a:t>
            </a:r>
            <a:endParaRPr lang="en-US" sz="1467" dirty="0"/>
          </a:p>
        </p:txBody>
      </p:sp>
      <p:sp>
        <p:nvSpPr>
          <p:cNvPr id="15" name="Shape 13"/>
          <p:cNvSpPr/>
          <p:nvPr/>
        </p:nvSpPr>
        <p:spPr>
          <a:xfrm>
            <a:off x="914400" y="4547616"/>
            <a:ext cx="97536" cy="9753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80160" y="4450080"/>
            <a:ext cx="44500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Matrix builds for multiple OS &amp; language versions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914400" y="5340096"/>
            <a:ext cx="97536" cy="9753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5242560"/>
            <a:ext cx="44500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Self-hosted or GitHub-hosted cloud runners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914400" y="6132576"/>
            <a:ext cx="97536" cy="9753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0" y="6035040"/>
            <a:ext cx="445008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triggers on any GitHub event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461760" y="2011680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Popular Use Cases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6461760" y="2682240"/>
            <a:ext cx="5181600" cy="1072896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61760" y="2682240"/>
            <a:ext cx="73152" cy="1072896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28041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Testing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6766560" y="323088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tests on every push and pull request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6461760" y="3962400"/>
            <a:ext cx="5181600" cy="1072896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61760" y="3962400"/>
            <a:ext cx="73152" cy="107289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408432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Deployment Pipelines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6766560" y="451104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to AWS, Azure, GCP, or any cloud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6461760" y="5242560"/>
            <a:ext cx="5181600" cy="1072896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61760" y="5242560"/>
            <a:ext cx="73152" cy="1072896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0" y="536448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Quality</a:t>
            </a:r>
            <a:endParaRPr lang="en-US" sz="1733" dirty="0"/>
          </a:p>
        </p:txBody>
      </p:sp>
      <p:sp>
        <p:nvSpPr>
          <p:cNvPr id="33" name="Text 31"/>
          <p:cNvSpPr/>
          <p:nvPr/>
        </p:nvSpPr>
        <p:spPr>
          <a:xfrm>
            <a:off x="6766560" y="579120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 linting, formatting &amp; standards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461760" y="6522720"/>
            <a:ext cx="5181600" cy="1072896"/>
          </a:xfrm>
          <a:prstGeom prst="roundRect">
            <a:avLst>
              <a:gd name="adj" fmla="val 681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61760" y="6522720"/>
            <a:ext cx="73152" cy="1072896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66560" y="664464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Scanning</a:t>
            </a:r>
            <a:endParaRPr lang="en-US" sz="1733" dirty="0"/>
          </a:p>
        </p:txBody>
      </p:sp>
      <p:sp>
        <p:nvSpPr>
          <p:cNvPr id="37" name="Text 35"/>
          <p:cNvSpPr/>
          <p:nvPr/>
        </p:nvSpPr>
        <p:spPr>
          <a:xfrm>
            <a:off x="6766560" y="70713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Find vulnerabilities before production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5955725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268224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268224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CI/CD Pipeline Example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487680" y="13411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simple workflow file that builds, tests, and deploys on every push.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975360" y="2072640"/>
            <a:ext cx="10241280" cy="6096000"/>
          </a:xfrm>
          <a:prstGeom prst="roundRect">
            <a:avLst>
              <a:gd name="adj" fmla="val 16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975360" y="2072640"/>
            <a:ext cx="10241280" cy="463296"/>
          </a:xfrm>
          <a:prstGeom prst="rect">
            <a:avLst/>
          </a:prstGeom>
          <a:solidFill>
            <a:srgbClr val="21262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1341120" y="2206752"/>
            <a:ext cx="170688" cy="170688"/>
          </a:xfrm>
          <a:prstGeom prst="ellipse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609344" y="2206752"/>
            <a:ext cx="170688" cy="170688"/>
          </a:xfrm>
          <a:prstGeom prst="ellipse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1877568" y="2206752"/>
            <a:ext cx="170688" cy="170688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194560" y="2072640"/>
            <a:ext cx="487680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.github/workflows/ci.yml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41120" y="2682240"/>
            <a:ext cx="9509760" cy="5242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r>
              <a:rPr lang="en-US" sz="15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CI/CD Pipeline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</a:t>
            </a:r>
            <a:r>
              <a:rPr lang="en-US" sz="15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r>
              <a:rPr lang="en-US" sz="15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[push, pull_request]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jobs</a:t>
            </a:r>
            <a:r>
              <a:rPr lang="en-US" sz="15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build</a:t>
            </a:r>
            <a:r>
              <a:rPr lang="en-US" sz="15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runs-on</a:t>
            </a:r>
            <a:r>
              <a:rPr lang="en-US" sz="15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ubuntu-latest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steps</a:t>
            </a:r>
            <a:r>
              <a:rPr lang="en-US" sz="15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uses</a:t>
            </a:r>
            <a:r>
              <a:rPr lang="en-US" sz="15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actions/checkout@v4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</a:t>
            </a:r>
            <a:r>
              <a:rPr lang="en-US" sz="15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Run tests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</a:t>
            </a:r>
            <a:r>
              <a:rPr lang="en-US" sz="15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npm test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name</a:t>
            </a:r>
            <a:r>
              <a:rPr lang="en-US" sz="15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Deploy
</a:t>
            </a:r>
            <a:r>
              <a:rPr lang="en-US" sz="1533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</a:t>
            </a:r>
            <a:r>
              <a:rPr lang="en-US" sz="1533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github.ref == </a:t>
            </a:r>
            <a:r>
              <a:rPr lang="en-US" sz="15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'refs/heads/main'
</a:t>
            </a:r>
            <a:r>
              <a:rPr lang="en-US" sz="1533" dirty="0">
                <a:solidFill>
                  <a:srgbClr val="7EE78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run</a:t>
            </a:r>
            <a:r>
              <a:rPr lang="en-US" sz="1533" dirty="0">
                <a:solidFill>
                  <a:srgbClr val="A5D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npm run deploy</a:t>
            </a:r>
            <a:endParaRPr lang="en-US" sz="1533" dirty="0"/>
          </a:p>
        </p:txBody>
      </p:sp>
    </p:spTree>
    <p:extLst>
      <p:ext uri="{BB962C8B-B14F-4D97-AF65-F5344CB8AC3E}">
        <p14:creationId xmlns:p14="http://schemas.microsoft.com/office/powerpoint/2010/main" val="3333704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3901440" cy="316992"/>
          </a:xfrm>
          <a:prstGeom prst="roundRect">
            <a:avLst>
              <a:gd name="adj" fmla="val 30769"/>
            </a:avLst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390144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ADVANCED SECURITY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Your </a:t>
            </a:r>
            <a:r>
              <a:rPr lang="en-US" sz="3733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Software Supply Chain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487680" y="13411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Comprehensive Security Features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487680" y="2011680"/>
            <a:ext cx="5303520" cy="2438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87680" y="2011680"/>
            <a:ext cx="5303520" cy="6096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225552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F8514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1341120" y="2255520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Scanning</a:t>
            </a:r>
            <a:endParaRPr lang="en-US" sz="2133" dirty="0"/>
          </a:p>
        </p:txBody>
      </p:sp>
      <p:sp>
        <p:nvSpPr>
          <p:cNvPr id="13" name="Text 11"/>
          <p:cNvSpPr/>
          <p:nvPr/>
        </p:nvSpPr>
        <p:spPr>
          <a:xfrm>
            <a:off x="792480" y="2926080"/>
            <a:ext cx="475488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identify vulnerabilities and coding errors in your codebase using CodeQL and third-party tools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6400800" y="2011680"/>
            <a:ext cx="5303520" cy="2438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2011680"/>
            <a:ext cx="5303520" cy="6096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644640" y="225552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7254240" y="2255520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Secret Scanning</a:t>
            </a:r>
            <a:endParaRPr lang="en-US" sz="2133" dirty="0"/>
          </a:p>
        </p:txBody>
      </p:sp>
      <p:sp>
        <p:nvSpPr>
          <p:cNvPr id="18" name="Text 16"/>
          <p:cNvSpPr/>
          <p:nvPr/>
        </p:nvSpPr>
        <p:spPr>
          <a:xfrm>
            <a:off x="6705600" y="2926080"/>
            <a:ext cx="475488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Detect and prevent credential leaks by scanning for API keys, tokens, and passwords in your code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487680" y="4815840"/>
            <a:ext cx="5303520" cy="2438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87680" y="4815840"/>
            <a:ext cx="5303520" cy="6096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31520" y="505968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133" dirty="0"/>
          </a:p>
        </p:txBody>
      </p:sp>
      <p:sp>
        <p:nvSpPr>
          <p:cNvPr id="22" name="Text 20"/>
          <p:cNvSpPr/>
          <p:nvPr/>
        </p:nvSpPr>
        <p:spPr>
          <a:xfrm>
            <a:off x="1341120" y="5059680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Dependabot</a:t>
            </a:r>
            <a:endParaRPr lang="en-US" sz="2133" dirty="0"/>
          </a:p>
        </p:txBody>
      </p:sp>
      <p:sp>
        <p:nvSpPr>
          <p:cNvPr id="23" name="Text 21"/>
          <p:cNvSpPr/>
          <p:nvPr/>
        </p:nvSpPr>
        <p:spPr>
          <a:xfrm>
            <a:off x="792480" y="5730240"/>
            <a:ext cx="475488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dependency updates with security alerts and pull requests to keep libraries current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6400800" y="4815840"/>
            <a:ext cx="5303520" cy="2438400"/>
          </a:xfrm>
          <a:prstGeom prst="roundRect">
            <a:avLst>
              <a:gd name="adj" fmla="val 4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400800" y="4815840"/>
            <a:ext cx="5303520" cy="609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44640" y="5059680"/>
            <a:ext cx="6096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133" dirty="0"/>
          </a:p>
        </p:txBody>
      </p:sp>
      <p:sp>
        <p:nvSpPr>
          <p:cNvPr id="27" name="Text 25"/>
          <p:cNvSpPr/>
          <p:nvPr/>
        </p:nvSpPr>
        <p:spPr>
          <a:xfrm>
            <a:off x="7254240" y="5059680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Advisories</a:t>
            </a:r>
            <a:endParaRPr lang="en-US" sz="2133" dirty="0"/>
          </a:p>
        </p:txBody>
      </p:sp>
      <p:sp>
        <p:nvSpPr>
          <p:cNvPr id="28" name="Text 26"/>
          <p:cNvSpPr/>
          <p:nvPr/>
        </p:nvSpPr>
        <p:spPr>
          <a:xfrm>
            <a:off x="6705600" y="5730240"/>
            <a:ext cx="475488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Private vulnerability reporting and coordinated disclosure for responsible security management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487680" y="7437120"/>
            <a:ext cx="11216640" cy="670560"/>
          </a:xfrm>
          <a:prstGeom prst="roundRect">
            <a:avLst>
              <a:gd name="adj" fmla="val 10909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31520" y="7437120"/>
            <a:ext cx="1072896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Find issues before production     ✓ Automated security fixes     ✓ Compliance and audit trails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885313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316992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316992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CODESPACES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109728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Dev Environment, </a:t>
            </a:r>
            <a:r>
              <a:rPr lang="en-US" sz="3733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Anywhere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487680" y="13411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Cloud-based development environments, ready in seconds.</a:t>
            </a:r>
            <a:endParaRPr lang="en-US" sz="1733" dirty="0"/>
          </a:p>
        </p:txBody>
      </p:sp>
      <p:sp>
        <p:nvSpPr>
          <p:cNvPr id="9" name="Shape 7"/>
          <p:cNvSpPr/>
          <p:nvPr/>
        </p:nvSpPr>
        <p:spPr>
          <a:xfrm>
            <a:off x="487680" y="2011680"/>
            <a:ext cx="5486400" cy="5852160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218944"/>
            <a:ext cx="48768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 are Codespaces?</a:t>
            </a:r>
            <a:endParaRPr lang="en-US" sz="2133" dirty="0"/>
          </a:p>
        </p:txBody>
      </p:sp>
      <p:sp>
        <p:nvSpPr>
          <p:cNvPr id="11" name="Shape 9"/>
          <p:cNvSpPr/>
          <p:nvPr/>
        </p:nvSpPr>
        <p:spPr>
          <a:xfrm>
            <a:off x="914400" y="3023616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280160" y="2926080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Cloud-based development environments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3901440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80160" y="3803904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Pre-configured and ready in seconds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14400" y="4779264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280160" y="4681728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Visual Studio Code experience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5657088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280160" y="5559552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Access from any device, any browser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6534912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80160" y="6437376"/>
            <a:ext cx="438912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Customizable with devcontainers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61760" y="2011680"/>
            <a:ext cx="512064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Why Codespaces?</a:t>
            </a:r>
            <a:endParaRPr lang="en-US" sz="2133" dirty="0"/>
          </a:p>
        </p:txBody>
      </p:sp>
      <p:sp>
        <p:nvSpPr>
          <p:cNvPr id="22" name="Shape 20"/>
          <p:cNvSpPr/>
          <p:nvPr/>
        </p:nvSpPr>
        <p:spPr>
          <a:xfrm>
            <a:off x="6461760" y="2682240"/>
            <a:ext cx="5181600" cy="1121664"/>
          </a:xfrm>
          <a:prstGeom prst="roundRect">
            <a:avLst>
              <a:gd name="adj" fmla="val 65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6461760" y="2682240"/>
            <a:ext cx="73152" cy="1121664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766560" y="280416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 from Anywhere</a:t>
            </a:r>
            <a:endParaRPr lang="en-US" sz="1733" dirty="0"/>
          </a:p>
        </p:txBody>
      </p:sp>
      <p:sp>
        <p:nvSpPr>
          <p:cNvPr id="25" name="Text 23"/>
          <p:cNvSpPr/>
          <p:nvPr/>
        </p:nvSpPr>
        <p:spPr>
          <a:xfrm>
            <a:off x="6766560" y="3230880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local setup required — code from any browser on any device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6461760" y="4023360"/>
            <a:ext cx="5181600" cy="1121664"/>
          </a:xfrm>
          <a:prstGeom prst="roundRect">
            <a:avLst>
              <a:gd name="adj" fmla="val 65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61760" y="4023360"/>
            <a:ext cx="73152" cy="1121664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66560" y="414528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Consistent Environments</a:t>
            </a:r>
            <a:endParaRPr lang="en-US" sz="1733" dirty="0"/>
          </a:p>
        </p:txBody>
      </p:sp>
      <p:sp>
        <p:nvSpPr>
          <p:cNvPr id="29" name="Text 27"/>
          <p:cNvSpPr/>
          <p:nvPr/>
        </p:nvSpPr>
        <p:spPr>
          <a:xfrm>
            <a:off x="6766560" y="4572000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Eliminate 'works on my machine' problems forever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6461760" y="5364480"/>
            <a:ext cx="5181600" cy="1121664"/>
          </a:xfrm>
          <a:prstGeom prst="roundRect">
            <a:avLst>
              <a:gd name="adj" fmla="val 65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461760" y="5364480"/>
            <a:ext cx="73152" cy="1121664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6766560" y="548640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Onboarding</a:t>
            </a:r>
            <a:endParaRPr lang="en-US" sz="1733" dirty="0"/>
          </a:p>
        </p:txBody>
      </p:sp>
      <p:sp>
        <p:nvSpPr>
          <p:cNvPr id="33" name="Text 31"/>
          <p:cNvSpPr/>
          <p:nvPr/>
        </p:nvSpPr>
        <p:spPr>
          <a:xfrm>
            <a:off x="6766560" y="5913120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New team members productive in minutes, not days</a:t>
            </a:r>
            <a:endParaRPr lang="en-US" sz="1333" dirty="0"/>
          </a:p>
        </p:txBody>
      </p:sp>
      <p:sp>
        <p:nvSpPr>
          <p:cNvPr id="34" name="Shape 32"/>
          <p:cNvSpPr/>
          <p:nvPr/>
        </p:nvSpPr>
        <p:spPr>
          <a:xfrm>
            <a:off x="6461760" y="6705600"/>
            <a:ext cx="5181600" cy="1121664"/>
          </a:xfrm>
          <a:prstGeom prst="roundRect">
            <a:avLst>
              <a:gd name="adj" fmla="val 652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61760" y="6705600"/>
            <a:ext cx="73152" cy="1121664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766560" y="6827520"/>
            <a:ext cx="463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Compute</a:t>
            </a:r>
            <a:endParaRPr lang="en-US" sz="1733" dirty="0"/>
          </a:p>
        </p:txBody>
      </p:sp>
      <p:sp>
        <p:nvSpPr>
          <p:cNvPr id="37" name="Text 35"/>
          <p:cNvSpPr/>
          <p:nvPr/>
        </p:nvSpPr>
        <p:spPr>
          <a:xfrm>
            <a:off x="6766560" y="7254240"/>
            <a:ext cx="4632960" cy="46329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 from 2-core to 32-core machines on demand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35155995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75360" y="7071360"/>
            <a:ext cx="2682240" cy="26822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7680" y="365760"/>
            <a:ext cx="316992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7680" y="365760"/>
            <a:ext cx="316992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ENTERPRISE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for </a:t>
            </a:r>
            <a:r>
              <a:rPr lang="en-US" sz="37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Organizations</a:t>
            </a:r>
            <a:endParaRPr lang="en-US" sz="3733" dirty="0"/>
          </a:p>
        </p:txBody>
      </p:sp>
      <p:sp>
        <p:nvSpPr>
          <p:cNvPr id="9" name="Text 7"/>
          <p:cNvSpPr/>
          <p:nvPr/>
        </p:nvSpPr>
        <p:spPr>
          <a:xfrm>
            <a:off x="487680" y="1341120"/>
            <a:ext cx="975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7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Enterprise-grade tools for teams of every size.</a:t>
            </a:r>
            <a:endParaRPr lang="en-US" sz="1733" dirty="0"/>
          </a:p>
        </p:txBody>
      </p:sp>
      <p:sp>
        <p:nvSpPr>
          <p:cNvPr id="10" name="Shape 8"/>
          <p:cNvSpPr/>
          <p:nvPr/>
        </p:nvSpPr>
        <p:spPr>
          <a:xfrm>
            <a:off x="487680" y="2011680"/>
            <a:ext cx="3499104" cy="201168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87680" y="2011680"/>
            <a:ext cx="3499104" cy="60960"/>
          </a:xfrm>
          <a:prstGeom prst="rect">
            <a:avLst/>
          </a:prstGeom>
          <a:solidFill>
            <a:srgbClr val="F8514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31520" y="2255520"/>
            <a:ext cx="30114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Security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731520" y="2804160"/>
            <a:ext cx="3011424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SOC 2, FedRAMP, and industry-leading compliance certifications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352544" y="2011680"/>
            <a:ext cx="3499104" cy="201168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52544" y="2011680"/>
            <a:ext cx="3499104" cy="6096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96384" y="2255520"/>
            <a:ext cx="30114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Auditing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4596384" y="2804160"/>
            <a:ext cx="3011424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Detailed audit logs, API access, and comprehensive reporting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17408" y="2011680"/>
            <a:ext cx="3499104" cy="201168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217408" y="2011680"/>
            <a:ext cx="3499104" cy="609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61248" y="2255520"/>
            <a:ext cx="30114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SAML / SSO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8461248" y="2804160"/>
            <a:ext cx="3011424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 with your identity provider for seamless authentication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87680" y="4328160"/>
            <a:ext cx="3499104" cy="201168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87680" y="4328160"/>
            <a:ext cx="3499104" cy="609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31520" y="4572000"/>
            <a:ext cx="30114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Support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731520" y="5120640"/>
            <a:ext cx="3011424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24/7 priority support with dedicated SLA guarantees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352544" y="4328160"/>
            <a:ext cx="3499104" cy="201168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352544" y="4328160"/>
            <a:ext cx="3499104" cy="6096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596384" y="4572000"/>
            <a:ext cx="30114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Collaboration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4596384" y="5120640"/>
            <a:ext cx="3011424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Code owners, protected branches, required reviews, and draft PRs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8217408" y="4328160"/>
            <a:ext cx="3499104" cy="2011680"/>
          </a:xfrm>
          <a:prstGeom prst="roundRect">
            <a:avLst>
              <a:gd name="adj" fmla="val 48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8217408" y="4328160"/>
            <a:ext cx="3499104" cy="6096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8461248" y="4572000"/>
            <a:ext cx="3011424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Policy Enforcement</a:t>
            </a:r>
            <a:endParaRPr lang="en-US" sz="1867" dirty="0"/>
          </a:p>
        </p:txBody>
      </p:sp>
      <p:sp>
        <p:nvSpPr>
          <p:cNvPr id="33" name="Text 31"/>
          <p:cNvSpPr/>
          <p:nvPr/>
        </p:nvSpPr>
        <p:spPr>
          <a:xfrm>
            <a:off x="8461248" y="5120640"/>
            <a:ext cx="3011424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Organization-wide policies, rulesets, and governance at scale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1709572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2682240" cy="316992"/>
          </a:xfrm>
          <a:prstGeom prst="roundRect">
            <a:avLst>
              <a:gd name="adj" fmla="val 30769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268224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SUCCESS STORIES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Companies </a:t>
            </a:r>
            <a:r>
              <a:rPr lang="en-US" sz="3733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Thriving with GitHub</a:t>
            </a:r>
            <a:endParaRPr lang="en-US" sz="3733" dirty="0"/>
          </a:p>
        </p:txBody>
      </p:sp>
      <p:sp>
        <p:nvSpPr>
          <p:cNvPr id="8" name="Shape 6"/>
          <p:cNvSpPr/>
          <p:nvPr/>
        </p:nvSpPr>
        <p:spPr>
          <a:xfrm>
            <a:off x="487680" y="1767840"/>
            <a:ext cx="5486400" cy="4876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1950720"/>
            <a:ext cx="487680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Leaders</a:t>
            </a:r>
            <a:endParaRPr lang="en-US" sz="2133" dirty="0"/>
          </a:p>
        </p:txBody>
      </p:sp>
      <p:sp>
        <p:nvSpPr>
          <p:cNvPr id="10" name="Shape 8"/>
          <p:cNvSpPr/>
          <p:nvPr/>
        </p:nvSpPr>
        <p:spPr>
          <a:xfrm>
            <a:off x="853440" y="2682240"/>
            <a:ext cx="2316480" cy="6096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53440" y="2682240"/>
            <a:ext cx="231648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Microsoft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3413760" y="2682240"/>
            <a:ext cx="2316480" cy="6096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413760" y="2682240"/>
            <a:ext cx="231648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</a:t>
            </a:r>
            <a:endParaRPr lang="en-US" sz="1467" dirty="0"/>
          </a:p>
        </p:txBody>
      </p:sp>
      <p:sp>
        <p:nvSpPr>
          <p:cNvPr id="14" name="Shape 12"/>
          <p:cNvSpPr/>
          <p:nvPr/>
        </p:nvSpPr>
        <p:spPr>
          <a:xfrm>
            <a:off x="853440" y="3474720"/>
            <a:ext cx="2316480" cy="6096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3440" y="3474720"/>
            <a:ext cx="231648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Amazon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3413760" y="3474720"/>
            <a:ext cx="2316480" cy="6096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413760" y="3474720"/>
            <a:ext cx="231648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Netflix</a:t>
            </a:r>
            <a:endParaRPr lang="en-US" sz="1467" dirty="0"/>
          </a:p>
        </p:txBody>
      </p:sp>
      <p:sp>
        <p:nvSpPr>
          <p:cNvPr id="18" name="Shape 16"/>
          <p:cNvSpPr/>
          <p:nvPr/>
        </p:nvSpPr>
        <p:spPr>
          <a:xfrm>
            <a:off x="853440" y="4267200"/>
            <a:ext cx="2316480" cy="6096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53440" y="4267200"/>
            <a:ext cx="231648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Spotify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3413760" y="4267200"/>
            <a:ext cx="2316480" cy="6096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413760" y="4267200"/>
            <a:ext cx="231648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Airbnb</a:t>
            </a:r>
            <a:endParaRPr lang="en-US" sz="1467" dirty="0"/>
          </a:p>
        </p:txBody>
      </p:sp>
      <p:sp>
        <p:nvSpPr>
          <p:cNvPr id="22" name="Shape 20"/>
          <p:cNvSpPr/>
          <p:nvPr/>
        </p:nvSpPr>
        <p:spPr>
          <a:xfrm>
            <a:off x="853440" y="5059680"/>
            <a:ext cx="2316480" cy="6096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53440" y="5059680"/>
            <a:ext cx="231648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Shopify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3413760" y="5059680"/>
            <a:ext cx="2316480" cy="609600"/>
          </a:xfrm>
          <a:prstGeom prst="roundRect">
            <a:avLst>
              <a:gd name="adj" fmla="val 12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13760" y="5059680"/>
            <a:ext cx="231648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67" b="1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853440" y="591312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i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...and thousands of startups worldwide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6461760" y="1767840"/>
            <a:ext cx="5181600" cy="4876800"/>
          </a:xfrm>
          <a:prstGeom prst="roundRect">
            <a:avLst>
              <a:gd name="adj" fmla="val 20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705600" y="1950720"/>
            <a:ext cx="46329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Southeast Asia 🌏</a:t>
            </a:r>
            <a:endParaRPr lang="en-US" sz="2133" dirty="0"/>
          </a:p>
        </p:txBody>
      </p:sp>
      <p:sp>
        <p:nvSpPr>
          <p:cNvPr id="29" name="Shape 27"/>
          <p:cNvSpPr/>
          <p:nvPr/>
        </p:nvSpPr>
        <p:spPr>
          <a:xfrm>
            <a:off x="6888480" y="2779776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7254240" y="2682240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Fintech &amp; E-commerce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7254240" y="3108960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Leading platforms building on GitHub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6888480" y="3816096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254240" y="3718560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Projects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254240" y="4145280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transformation initiatives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6888480" y="4852416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7254240" y="4754880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254240" y="5181600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Universities and coding bootcamps</a:t>
            </a:r>
            <a:endParaRPr lang="en-US" sz="1333" dirty="0"/>
          </a:p>
        </p:txBody>
      </p:sp>
      <p:sp>
        <p:nvSpPr>
          <p:cNvPr id="38" name="Shape 36"/>
          <p:cNvSpPr/>
          <p:nvPr/>
        </p:nvSpPr>
        <p:spPr>
          <a:xfrm>
            <a:off x="6888480" y="5888736"/>
            <a:ext cx="97536" cy="97536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254240" y="5791200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Source Growth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7254240" y="6217920"/>
            <a:ext cx="41452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Rapidly expanding contributions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487680" y="7071360"/>
            <a:ext cx="11155680" cy="97536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31520" y="7071360"/>
            <a:ext cx="1072896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90%</a:t>
            </a:r>
            <a:r>
              <a:rPr lang="en-US" sz="14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of Fortune 100 companies trust GitHub  •  </a:t>
            </a:r>
            <a:r>
              <a:rPr lang="en-US" sz="32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100M+</a:t>
            </a:r>
            <a:r>
              <a:rPr lang="en-US" sz="14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developers worldwide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822377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268224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268224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GETTING STARTED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Your Journey </a:t>
            </a:r>
            <a:r>
              <a:rPr lang="en-US" sz="3733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Begins Here</a:t>
            </a:r>
            <a:endParaRPr lang="en-US" sz="3733" dirty="0"/>
          </a:p>
        </p:txBody>
      </p:sp>
      <p:sp>
        <p:nvSpPr>
          <p:cNvPr id="8" name="Shape 6"/>
          <p:cNvSpPr/>
          <p:nvPr/>
        </p:nvSpPr>
        <p:spPr>
          <a:xfrm>
            <a:off x="487680" y="1706880"/>
            <a:ext cx="5486400" cy="6096000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127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31520" y="1889760"/>
            <a:ext cx="3169920" cy="365760"/>
          </a:xfrm>
          <a:prstGeom prst="roundRect">
            <a:avLst>
              <a:gd name="adj" fmla="val 20000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1889760"/>
            <a:ext cx="316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INDIVIDUAL DEVELOPERS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914400" y="2621280"/>
            <a:ext cx="548640" cy="54864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2621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67" dirty="0"/>
          </a:p>
        </p:txBody>
      </p:sp>
      <p:sp>
        <p:nvSpPr>
          <p:cNvPr id="13" name="Text 11"/>
          <p:cNvSpPr/>
          <p:nvPr/>
        </p:nvSpPr>
        <p:spPr>
          <a:xfrm>
            <a:off x="1706880" y="264566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 a free account at github.com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70432" y="3206496"/>
            <a:ext cx="24384" cy="536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14400" y="3779520"/>
            <a:ext cx="548640" cy="54864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914400" y="3779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67" dirty="0"/>
          </a:p>
        </p:txBody>
      </p:sp>
      <p:sp>
        <p:nvSpPr>
          <p:cNvPr id="17" name="Text 15"/>
          <p:cNvSpPr/>
          <p:nvPr/>
        </p:nvSpPr>
        <p:spPr>
          <a:xfrm>
            <a:off x="1706880" y="380390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Try GitHub Copilot (free trial available)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170432" y="4364736"/>
            <a:ext cx="24384" cy="536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914400" y="4937760"/>
            <a:ext cx="548640" cy="54864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1440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67" dirty="0"/>
          </a:p>
        </p:txBody>
      </p:sp>
      <p:sp>
        <p:nvSpPr>
          <p:cNvPr id="21" name="Text 19"/>
          <p:cNvSpPr/>
          <p:nvPr/>
        </p:nvSpPr>
        <p:spPr>
          <a:xfrm>
            <a:off x="1706880" y="496214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Explore public repositories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170432" y="5522976"/>
            <a:ext cx="24384" cy="536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914400" y="6096000"/>
            <a:ext cx="548640" cy="54864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14400" y="609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67" dirty="0"/>
          </a:p>
        </p:txBody>
      </p:sp>
      <p:sp>
        <p:nvSpPr>
          <p:cNvPr id="25" name="Text 23"/>
          <p:cNvSpPr/>
          <p:nvPr/>
        </p:nvSpPr>
        <p:spPr>
          <a:xfrm>
            <a:off x="1706880" y="612038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Contribute to open source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17920" y="1706880"/>
            <a:ext cx="5486400" cy="6096000"/>
          </a:xfrm>
          <a:prstGeom prst="roundRect">
            <a:avLst>
              <a:gd name="adj" fmla="val 1778"/>
            </a:avLst>
          </a:prstGeom>
          <a:solidFill>
            <a:srgbClr val="161B22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61760" y="1889760"/>
            <a:ext cx="3413760" cy="365760"/>
          </a:xfrm>
          <a:prstGeom prst="roundRect">
            <a:avLst>
              <a:gd name="adj" fmla="val 20000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461760" y="1889760"/>
            <a:ext cx="341376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TEAMS &amp; ORGANIZATIONS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644640" y="2621280"/>
            <a:ext cx="548640" cy="54864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644640" y="2621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867" dirty="0"/>
          </a:p>
        </p:txBody>
      </p:sp>
      <p:sp>
        <p:nvSpPr>
          <p:cNvPr id="31" name="Text 29"/>
          <p:cNvSpPr/>
          <p:nvPr/>
        </p:nvSpPr>
        <p:spPr>
          <a:xfrm>
            <a:off x="7437120" y="264566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Assess your team's needs and workflows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900672" y="3206496"/>
            <a:ext cx="24384" cy="536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644640" y="3779520"/>
            <a:ext cx="548640" cy="54864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644640" y="3779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867" dirty="0"/>
          </a:p>
        </p:txBody>
      </p:sp>
      <p:sp>
        <p:nvSpPr>
          <p:cNvPr id="35" name="Text 33"/>
          <p:cNvSpPr/>
          <p:nvPr/>
        </p:nvSpPr>
        <p:spPr>
          <a:xfrm>
            <a:off x="7437120" y="380390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 personalized demo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900672" y="4364736"/>
            <a:ext cx="24384" cy="536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6644640" y="4937760"/>
            <a:ext cx="548640" cy="54864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644640" y="49377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867" dirty="0"/>
          </a:p>
        </p:txBody>
      </p:sp>
      <p:sp>
        <p:nvSpPr>
          <p:cNvPr id="39" name="Text 37"/>
          <p:cNvSpPr/>
          <p:nvPr/>
        </p:nvSpPr>
        <p:spPr>
          <a:xfrm>
            <a:off x="7437120" y="496214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 migration and onboarding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6900672" y="5522976"/>
            <a:ext cx="24384" cy="53644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644640" y="6096000"/>
            <a:ext cx="548640" cy="548640"/>
          </a:xfrm>
          <a:prstGeom prst="ellipse">
            <a:avLst/>
          </a:prstGeom>
          <a:solidFill>
            <a:srgbClr val="0D1117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44640" y="6096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867" dirty="0"/>
          </a:p>
        </p:txBody>
      </p:sp>
      <p:sp>
        <p:nvSpPr>
          <p:cNvPr id="43" name="Text 41"/>
          <p:cNvSpPr/>
          <p:nvPr/>
        </p:nvSpPr>
        <p:spPr>
          <a:xfrm>
            <a:off x="7437120" y="6120384"/>
            <a:ext cx="3901440" cy="5486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Training and enablement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837372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268224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268224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&amp; PLANS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Flexible Options </a:t>
            </a:r>
            <a:r>
              <a:rPr lang="en-US" sz="37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 Every Team</a:t>
            </a:r>
            <a:endParaRPr lang="en-US" sz="3733" dirty="0"/>
          </a:p>
        </p:txBody>
      </p:sp>
      <p:sp>
        <p:nvSpPr>
          <p:cNvPr id="8" name="Shape 6"/>
          <p:cNvSpPr/>
          <p:nvPr/>
        </p:nvSpPr>
        <p:spPr>
          <a:xfrm>
            <a:off x="670560" y="1706880"/>
            <a:ext cx="3535680" cy="58521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70560" y="2011680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</a:t>
            </a:r>
            <a:endParaRPr lang="en-US" sz="2667" dirty="0"/>
          </a:p>
        </p:txBody>
      </p:sp>
      <p:sp>
        <p:nvSpPr>
          <p:cNvPr id="10" name="Text 8"/>
          <p:cNvSpPr/>
          <p:nvPr/>
        </p:nvSpPr>
        <p:spPr>
          <a:xfrm>
            <a:off x="670560" y="262128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70560" y="335280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forever</a:t>
            </a:r>
            <a:endParaRPr lang="en-US" sz="1333" dirty="0"/>
          </a:p>
        </p:txBody>
      </p:sp>
      <p:sp>
        <p:nvSpPr>
          <p:cNvPr id="12" name="Shape 10"/>
          <p:cNvSpPr/>
          <p:nvPr/>
        </p:nvSpPr>
        <p:spPr>
          <a:xfrm>
            <a:off x="1036320" y="3901440"/>
            <a:ext cx="280416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36320" y="42672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14" name="Text 12"/>
          <p:cNvSpPr/>
          <p:nvPr/>
        </p:nvSpPr>
        <p:spPr>
          <a:xfrm>
            <a:off x="1402080" y="42672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Unlimited public &amp; private repos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36320" y="48768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16" name="Text 14"/>
          <p:cNvSpPr/>
          <p:nvPr/>
        </p:nvSpPr>
        <p:spPr>
          <a:xfrm>
            <a:off x="1402080" y="48768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Actions (2,000 min/month)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6320" y="54864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1402080" y="54864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Codespaces (60 hrs/month)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36320" y="60960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1402080" y="60960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support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36320" y="67056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1402080" y="67056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Dependabot alerts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11040" y="1706880"/>
            <a:ext cx="3535680" cy="58521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905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486400" y="1524000"/>
            <a:ext cx="1584960" cy="341376"/>
          </a:xfrm>
          <a:prstGeom prst="roundRect">
            <a:avLst>
              <a:gd name="adj" fmla="val 21429"/>
            </a:avLst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486400" y="1524000"/>
            <a:ext cx="1584960" cy="341376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POPULAR</a:t>
            </a:r>
            <a:endParaRPr lang="en-US" sz="933" dirty="0"/>
          </a:p>
        </p:txBody>
      </p:sp>
      <p:sp>
        <p:nvSpPr>
          <p:cNvPr id="26" name="Text 24"/>
          <p:cNvSpPr/>
          <p:nvPr/>
        </p:nvSpPr>
        <p:spPr>
          <a:xfrm>
            <a:off x="4511040" y="2011680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</a:t>
            </a:r>
            <a:endParaRPr lang="en-US" sz="2667" dirty="0"/>
          </a:p>
        </p:txBody>
      </p:sp>
      <p:sp>
        <p:nvSpPr>
          <p:cNvPr id="27" name="Text 25"/>
          <p:cNvSpPr/>
          <p:nvPr/>
        </p:nvSpPr>
        <p:spPr>
          <a:xfrm>
            <a:off x="4511040" y="262128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$4</a:t>
            </a:r>
            <a:endParaRPr lang="en-US" sz="4800" dirty="0"/>
          </a:p>
        </p:txBody>
      </p:sp>
      <p:sp>
        <p:nvSpPr>
          <p:cNvPr id="28" name="Text 26"/>
          <p:cNvSpPr/>
          <p:nvPr/>
        </p:nvSpPr>
        <p:spPr>
          <a:xfrm>
            <a:off x="4511040" y="335280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user / month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4876800" y="3901440"/>
            <a:ext cx="280416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76800" y="42672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5242560" y="42672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Free, plus: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876800" y="48768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5242560" y="48768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Advanced collaboration features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76800" y="54864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5242560" y="54864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Protected branches &amp; code owners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876800" y="60960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5242560" y="60960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Required reviewers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4876800" y="67056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5242560" y="67056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3,000 Actions minutes/month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8351520" y="1706880"/>
            <a:ext cx="3535680" cy="5852160"/>
          </a:xfrm>
          <a:prstGeom prst="roundRect">
            <a:avLst>
              <a:gd name="adj" fmla="val 3448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8351520" y="2011680"/>
            <a:ext cx="35356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2667" dirty="0"/>
          </a:p>
        </p:txBody>
      </p:sp>
      <p:sp>
        <p:nvSpPr>
          <p:cNvPr id="42" name="Text 40"/>
          <p:cNvSpPr/>
          <p:nvPr/>
        </p:nvSpPr>
        <p:spPr>
          <a:xfrm>
            <a:off x="8351520" y="2621280"/>
            <a:ext cx="353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48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4800" dirty="0"/>
          </a:p>
        </p:txBody>
      </p:sp>
      <p:sp>
        <p:nvSpPr>
          <p:cNvPr id="43" name="Text 41"/>
          <p:cNvSpPr/>
          <p:nvPr/>
        </p:nvSpPr>
        <p:spPr>
          <a:xfrm>
            <a:off x="8351520" y="3352800"/>
            <a:ext cx="353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</a:t>
            </a:r>
            <a:endParaRPr lang="en-US" sz="1333" dirty="0"/>
          </a:p>
        </p:txBody>
      </p:sp>
      <p:sp>
        <p:nvSpPr>
          <p:cNvPr id="44" name="Shape 42"/>
          <p:cNvSpPr/>
          <p:nvPr/>
        </p:nvSpPr>
        <p:spPr>
          <a:xfrm>
            <a:off x="8717280" y="3901440"/>
            <a:ext cx="2804160" cy="18288"/>
          </a:xfrm>
          <a:prstGeom prst="rect">
            <a:avLst/>
          </a:prstGeom>
          <a:solidFill>
            <a:srgbClr val="3036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717280" y="42672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46" name="Text 44"/>
          <p:cNvSpPr/>
          <p:nvPr/>
        </p:nvSpPr>
        <p:spPr>
          <a:xfrm>
            <a:off x="9083040" y="42672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Everything in Team, plus: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8717280" y="48768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48" name="Text 46"/>
          <p:cNvSpPr/>
          <p:nvPr/>
        </p:nvSpPr>
        <p:spPr>
          <a:xfrm>
            <a:off x="9083040" y="48768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Advanced Security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8717280" y="54864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50" name="Text 48"/>
          <p:cNvSpPr/>
          <p:nvPr/>
        </p:nvSpPr>
        <p:spPr>
          <a:xfrm>
            <a:off x="9083040" y="54864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Premium 24/7 support &amp; SLA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717280" y="60960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52" name="Text 50"/>
          <p:cNvSpPr/>
          <p:nvPr/>
        </p:nvSpPr>
        <p:spPr>
          <a:xfrm>
            <a:off x="9083040" y="60960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SAML SSO &amp; audit log API</a:t>
            </a:r>
            <a:endParaRPr lang="en-US" sz="1400" dirty="0"/>
          </a:p>
        </p:txBody>
      </p:sp>
      <p:sp>
        <p:nvSpPr>
          <p:cNvPr id="53" name="Text 51"/>
          <p:cNvSpPr/>
          <p:nvPr/>
        </p:nvSpPr>
        <p:spPr>
          <a:xfrm>
            <a:off x="8717280" y="6705600"/>
            <a:ext cx="3657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67" dirty="0"/>
          </a:p>
        </p:txBody>
      </p:sp>
      <p:sp>
        <p:nvSpPr>
          <p:cNvPr id="54" name="Text 52"/>
          <p:cNvSpPr/>
          <p:nvPr/>
        </p:nvSpPr>
        <p:spPr>
          <a:xfrm>
            <a:off x="9083040" y="6705600"/>
            <a:ext cx="24384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success team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654077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87680" y="365760"/>
            <a:ext cx="316992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87680" y="365760"/>
            <a:ext cx="316992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RESOURCES &amp; SUPPORT</a:t>
            </a:r>
            <a:endParaRPr lang="en-US" sz="1067" dirty="0"/>
          </a:p>
        </p:txBody>
      </p:sp>
      <p:sp>
        <p:nvSpPr>
          <p:cNvPr id="7" name="Text 5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Learn More, </a:t>
            </a:r>
            <a:r>
              <a:rPr lang="en-US" sz="3733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 Further</a:t>
            </a:r>
            <a:endParaRPr lang="en-US" sz="3733" dirty="0"/>
          </a:p>
        </p:txBody>
      </p:sp>
      <p:sp>
        <p:nvSpPr>
          <p:cNvPr id="8" name="Shape 6"/>
          <p:cNvSpPr/>
          <p:nvPr/>
        </p:nvSpPr>
        <p:spPr>
          <a:xfrm>
            <a:off x="487680" y="1767840"/>
            <a:ext cx="3499104" cy="5852160"/>
          </a:xfrm>
          <a:prstGeom prst="roundRect">
            <a:avLst>
              <a:gd name="adj" fmla="val 278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87680" y="1767840"/>
            <a:ext cx="3499104" cy="6096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31520" y="2072640"/>
            <a:ext cx="30114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Documentation</a:t>
            </a:r>
            <a:endParaRPr lang="en-US" sz="2133" dirty="0"/>
          </a:p>
        </p:txBody>
      </p:sp>
      <p:sp>
        <p:nvSpPr>
          <p:cNvPr id="11" name="Shape 9"/>
          <p:cNvSpPr/>
          <p:nvPr/>
        </p:nvSpPr>
        <p:spPr>
          <a:xfrm>
            <a:off x="670560" y="2926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53440" y="3108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docs.github.com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53440" y="3535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Official documentation</a:t>
            </a:r>
            <a:endParaRPr lang="en-US" sz="1333" dirty="0"/>
          </a:p>
        </p:txBody>
      </p:sp>
      <p:sp>
        <p:nvSpPr>
          <p:cNvPr id="14" name="Shape 12"/>
          <p:cNvSpPr/>
          <p:nvPr/>
        </p:nvSpPr>
        <p:spPr>
          <a:xfrm>
            <a:off x="670560" y="4450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53440" y="4632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skills.github.com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3440" y="5059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learning paths</a:t>
            </a:r>
            <a:endParaRPr lang="en-US" sz="1333" dirty="0"/>
          </a:p>
        </p:txBody>
      </p:sp>
      <p:sp>
        <p:nvSpPr>
          <p:cNvPr id="17" name="Shape 15"/>
          <p:cNvSpPr/>
          <p:nvPr/>
        </p:nvSpPr>
        <p:spPr>
          <a:xfrm>
            <a:off x="670560" y="5974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3440" y="6156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Blog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53440" y="6583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Latest news &amp; insights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4352544" y="1767840"/>
            <a:ext cx="3499104" cy="5852160"/>
          </a:xfrm>
          <a:prstGeom prst="roundRect">
            <a:avLst>
              <a:gd name="adj" fmla="val 278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352544" y="1767840"/>
            <a:ext cx="3499104" cy="609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96384" y="2072640"/>
            <a:ext cx="30114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</a:t>
            </a:r>
            <a:endParaRPr lang="en-US" sz="2133" dirty="0"/>
          </a:p>
        </p:txBody>
      </p:sp>
      <p:sp>
        <p:nvSpPr>
          <p:cNvPr id="23" name="Shape 21"/>
          <p:cNvSpPr/>
          <p:nvPr/>
        </p:nvSpPr>
        <p:spPr>
          <a:xfrm>
            <a:off x="4535424" y="2926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718304" y="3108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 Forum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18304" y="3535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Ask questions, share ideas</a:t>
            </a:r>
            <a:endParaRPr lang="en-US" sz="1333" dirty="0"/>
          </a:p>
        </p:txBody>
      </p:sp>
      <p:sp>
        <p:nvSpPr>
          <p:cNvPr id="26" name="Shape 24"/>
          <p:cNvSpPr/>
          <p:nvPr/>
        </p:nvSpPr>
        <p:spPr>
          <a:xfrm>
            <a:off x="4535424" y="4450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718304" y="4632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Education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718304" y="5059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Free tools for students</a:t>
            </a:r>
            <a:endParaRPr lang="en-US" sz="1333" dirty="0"/>
          </a:p>
        </p:txBody>
      </p:sp>
      <p:sp>
        <p:nvSpPr>
          <p:cNvPr id="29" name="Shape 27"/>
          <p:cNvSpPr/>
          <p:nvPr/>
        </p:nvSpPr>
        <p:spPr>
          <a:xfrm>
            <a:off x="4535424" y="5974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718304" y="6156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Local Meetups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718304" y="6583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Events in your area</a:t>
            </a:r>
            <a:endParaRPr lang="en-US" sz="1333" dirty="0"/>
          </a:p>
        </p:txBody>
      </p:sp>
      <p:sp>
        <p:nvSpPr>
          <p:cNvPr id="32" name="Shape 30"/>
          <p:cNvSpPr/>
          <p:nvPr/>
        </p:nvSpPr>
        <p:spPr>
          <a:xfrm>
            <a:off x="8217408" y="1767840"/>
            <a:ext cx="3499104" cy="5852160"/>
          </a:xfrm>
          <a:prstGeom prst="roundRect">
            <a:avLst>
              <a:gd name="adj" fmla="val 2787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8217408" y="1767840"/>
            <a:ext cx="3499104" cy="609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8461248" y="2072640"/>
            <a:ext cx="3011424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133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</a:t>
            </a:r>
            <a:endParaRPr lang="en-US" sz="2133" dirty="0"/>
          </a:p>
        </p:txBody>
      </p:sp>
      <p:sp>
        <p:nvSpPr>
          <p:cNvPr id="35" name="Shape 33"/>
          <p:cNvSpPr/>
          <p:nvPr/>
        </p:nvSpPr>
        <p:spPr>
          <a:xfrm>
            <a:off x="8400288" y="2926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8583168" y="3108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Sales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583168" y="3535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github.com/enterprise/contact</a:t>
            </a:r>
            <a:endParaRPr lang="en-US" sz="1333" dirty="0"/>
          </a:p>
        </p:txBody>
      </p:sp>
      <p:sp>
        <p:nvSpPr>
          <p:cNvPr id="38" name="Shape 36"/>
          <p:cNvSpPr/>
          <p:nvPr/>
        </p:nvSpPr>
        <p:spPr>
          <a:xfrm>
            <a:off x="8400288" y="4450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83168" y="4632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583168" y="5059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support.github.com</a:t>
            </a:r>
            <a:endParaRPr lang="en-US" sz="1333" dirty="0"/>
          </a:p>
        </p:txBody>
      </p:sp>
      <p:sp>
        <p:nvSpPr>
          <p:cNvPr id="41" name="Shape 39"/>
          <p:cNvSpPr/>
          <p:nvPr/>
        </p:nvSpPr>
        <p:spPr>
          <a:xfrm>
            <a:off x="8400288" y="5974080"/>
            <a:ext cx="3133344" cy="1219200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583168" y="615696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Team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83168" y="6583680"/>
            <a:ext cx="2767584" cy="3657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support available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25419092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1828800"/>
            <a:ext cx="5486400" cy="54864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997440" y="2438400"/>
            <a:ext cx="4267200" cy="42672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219200" y="5486400"/>
            <a:ext cx="4267200" cy="426720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7680" y="609600"/>
            <a:ext cx="121920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7680" y="609600"/>
            <a:ext cx="121920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 &amp; A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487680" y="1828800"/>
            <a:ext cx="8534400" cy="12192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9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Questions?</a:t>
            </a:r>
            <a:endParaRPr lang="en-US" sz="6933" dirty="0"/>
          </a:p>
        </p:txBody>
      </p:sp>
      <p:sp>
        <p:nvSpPr>
          <p:cNvPr id="9" name="Text 7"/>
          <p:cNvSpPr/>
          <p:nvPr/>
        </p:nvSpPr>
        <p:spPr>
          <a:xfrm>
            <a:off x="487680" y="3169920"/>
            <a:ext cx="85344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We're here to help!</a:t>
            </a:r>
            <a:endParaRPr lang="en-US" sz="2667" dirty="0"/>
          </a:p>
        </p:txBody>
      </p:sp>
      <p:sp>
        <p:nvSpPr>
          <p:cNvPr id="10" name="Shape 8"/>
          <p:cNvSpPr/>
          <p:nvPr/>
        </p:nvSpPr>
        <p:spPr>
          <a:xfrm>
            <a:off x="609600" y="5120640"/>
            <a:ext cx="2438400" cy="18288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609600" y="5120640"/>
            <a:ext cx="2438400" cy="60960"/>
          </a:xfrm>
          <a:prstGeom prst="rect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792480" y="5364480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Questions</a:t>
            </a:r>
            <a:endParaRPr lang="en-US" sz="1467" dirty="0"/>
          </a:p>
        </p:txBody>
      </p:sp>
      <p:sp>
        <p:nvSpPr>
          <p:cNvPr id="13" name="Text 11"/>
          <p:cNvSpPr/>
          <p:nvPr/>
        </p:nvSpPr>
        <p:spPr>
          <a:xfrm>
            <a:off x="792480" y="5913120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integrations, APIs</a:t>
            </a:r>
            <a:endParaRPr lang="en-US" sz="1267" dirty="0"/>
          </a:p>
        </p:txBody>
      </p:sp>
      <p:sp>
        <p:nvSpPr>
          <p:cNvPr id="14" name="Shape 12"/>
          <p:cNvSpPr/>
          <p:nvPr/>
        </p:nvSpPr>
        <p:spPr>
          <a:xfrm>
            <a:off x="3352800" y="5120640"/>
            <a:ext cx="2438400" cy="18288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352800" y="5120640"/>
            <a:ext cx="2438400" cy="60960"/>
          </a:xfrm>
          <a:prstGeom prst="rect">
            <a:avLst/>
          </a:prstGeom>
          <a:solidFill>
            <a:srgbClr val="58A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535680" y="5364480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Pricing &amp; Licensing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3535680" y="5913120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Plans, billing, volume discounts</a:t>
            </a:r>
            <a:endParaRPr lang="en-US" sz="1267" dirty="0"/>
          </a:p>
        </p:txBody>
      </p:sp>
      <p:sp>
        <p:nvSpPr>
          <p:cNvPr id="18" name="Shape 16"/>
          <p:cNvSpPr/>
          <p:nvPr/>
        </p:nvSpPr>
        <p:spPr>
          <a:xfrm>
            <a:off x="6096000" y="5120640"/>
            <a:ext cx="2438400" cy="18288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096000" y="5120640"/>
            <a:ext cx="2438400" cy="60960"/>
          </a:xfrm>
          <a:prstGeom prst="rect">
            <a:avLst/>
          </a:prstGeom>
          <a:solidFill>
            <a:srgbClr val="A78B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78880" y="5364480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Migration Support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278880" y="5913120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Moving to GitHub from other platforms</a:t>
            </a:r>
            <a:endParaRPr lang="en-US" sz="1267" dirty="0"/>
          </a:p>
        </p:txBody>
      </p:sp>
      <p:sp>
        <p:nvSpPr>
          <p:cNvPr id="22" name="Shape 20"/>
          <p:cNvSpPr/>
          <p:nvPr/>
        </p:nvSpPr>
        <p:spPr>
          <a:xfrm>
            <a:off x="8839200" y="5120640"/>
            <a:ext cx="2438400" cy="1828800"/>
          </a:xfrm>
          <a:prstGeom prst="roundRect">
            <a:avLst>
              <a:gd name="adj" fmla="val 5333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839200" y="5120640"/>
            <a:ext cx="2438400" cy="60960"/>
          </a:xfrm>
          <a:prstGeom prst="rect">
            <a:avLst/>
          </a:prstGeom>
          <a:solidFill>
            <a:srgbClr val="F088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9022080" y="5364480"/>
            <a:ext cx="207264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Best Practices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9022080" y="5913120"/>
            <a:ext cx="2072640" cy="6705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Workflows, DevOps, security patterns</a:t>
            </a:r>
            <a:endParaRPr lang="en-US" sz="1267" dirty="0"/>
          </a:p>
        </p:txBody>
      </p:sp>
    </p:spTree>
    <p:extLst>
      <p:ext uri="{BB962C8B-B14F-4D97-AF65-F5344CB8AC3E}">
        <p14:creationId xmlns:p14="http://schemas.microsoft.com/office/powerpoint/2010/main" val="1491481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534400" y="-609600"/>
            <a:ext cx="6096000" cy="609600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9753600" y="0"/>
            <a:ext cx="4632960" cy="463296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1219200" y="6096000"/>
            <a:ext cx="4267200" cy="426720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7680" y="609600"/>
            <a:ext cx="1950720" cy="316992"/>
          </a:xfrm>
          <a:prstGeom prst="roundRect">
            <a:avLst>
              <a:gd name="adj" fmla="val 30769"/>
            </a:avLst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7680" y="609600"/>
            <a:ext cx="195072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487680" y="1584960"/>
            <a:ext cx="8534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You!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487680" y="2682240"/>
            <a:ext cx="85344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67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Let's Build the Future </a:t>
            </a:r>
            <a:r>
              <a:rPr lang="en-US" sz="2667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Together</a:t>
            </a:r>
            <a:endParaRPr lang="en-US" sz="2667" dirty="0"/>
          </a:p>
        </p:txBody>
      </p:sp>
      <p:sp>
        <p:nvSpPr>
          <p:cNvPr id="10" name="Shape 8"/>
          <p:cNvSpPr/>
          <p:nvPr/>
        </p:nvSpPr>
        <p:spPr>
          <a:xfrm>
            <a:off x="487680" y="3901440"/>
            <a:ext cx="5242560" cy="390144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408432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Stay Connected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53440" y="4754880"/>
            <a:ext cx="3657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4754880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 us: @github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53440" y="5425440"/>
            <a:ext cx="3657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5425440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our developer community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53440" y="6096000"/>
            <a:ext cx="3657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280160" y="6096000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Subscribe to GitHub updates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3440" y="6766560"/>
            <a:ext cx="36576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6766560"/>
            <a:ext cx="414528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 future SEA events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217920" y="3901440"/>
            <a:ext cx="5242560" cy="3901440"/>
          </a:xfrm>
          <a:prstGeom prst="roundRect">
            <a:avLst>
              <a:gd name="adj" fmla="val 2500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61760" y="4084320"/>
            <a:ext cx="463296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Contact Information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522720" y="4754880"/>
            <a:ext cx="14630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Website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7985760" y="475488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522720" y="5425440"/>
            <a:ext cx="14630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7985760" y="542544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github.com/enterprise/contact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522720" y="6096000"/>
            <a:ext cx="14630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</a:t>
            </a:r>
            <a:endParaRPr lang="en-US" sz="1333" dirty="0"/>
          </a:p>
        </p:txBody>
      </p:sp>
      <p:sp>
        <p:nvSpPr>
          <p:cNvPr id="27" name="Text 25"/>
          <p:cNvSpPr/>
          <p:nvPr/>
        </p:nvSpPr>
        <p:spPr>
          <a:xfrm>
            <a:off x="7985760" y="609600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support.github.com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6522720" y="6766560"/>
            <a:ext cx="14630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333" b="1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7985760" y="6766560"/>
            <a:ext cx="316992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 support available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0" y="8412480"/>
            <a:ext cx="12192000" cy="4267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33" dirty="0">
                <a:solidFill>
                  <a:srgbClr val="484F5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March 2026  |  South East Asia  |  #GitHubPartnerRoadshow</a:t>
            </a:r>
            <a:endParaRPr lang="en-US" sz="1333" dirty="0"/>
          </a:p>
        </p:txBody>
      </p:sp>
    </p:spTree>
    <p:extLst>
      <p:ext uri="{BB962C8B-B14F-4D97-AF65-F5344CB8AC3E}">
        <p14:creationId xmlns:p14="http://schemas.microsoft.com/office/powerpoint/2010/main" val="181891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9144000"/>
          </a:xfrm>
          <a:prstGeom prst="rect">
            <a:avLst/>
          </a:prstGeom>
          <a:solidFill>
            <a:srgbClr val="0D11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363200" y="-1219200"/>
            <a:ext cx="2682240" cy="2682240"/>
          </a:xfrm>
          <a:prstGeom prst="ellipse">
            <a:avLst/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1216640" y="-609600"/>
            <a:ext cx="1828800" cy="1828800"/>
          </a:xfrm>
          <a:prstGeom prst="ellipse">
            <a:avLst/>
          </a:prstGeom>
          <a:solidFill>
            <a:srgbClr val="3B82F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75360" y="7071360"/>
            <a:ext cx="2682240" cy="2682240"/>
          </a:xfrm>
          <a:prstGeom prst="ellipse">
            <a:avLst/>
          </a:prstGeom>
          <a:solidFill>
            <a:srgbClr val="3FB95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87680" y="365760"/>
            <a:ext cx="2194560" cy="316992"/>
          </a:xfrm>
          <a:prstGeom prst="roundRect">
            <a:avLst>
              <a:gd name="adj" fmla="val 30769"/>
            </a:avLst>
          </a:prstGeom>
          <a:solidFill>
            <a:srgbClr val="7C3AE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7680" y="365760"/>
            <a:ext cx="2194560" cy="316992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067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 STEPS</a:t>
            </a:r>
            <a:endParaRPr lang="en-US" sz="1067" dirty="0"/>
          </a:p>
        </p:txBody>
      </p:sp>
      <p:sp>
        <p:nvSpPr>
          <p:cNvPr id="8" name="Text 6"/>
          <p:cNvSpPr/>
          <p:nvPr/>
        </p:nvSpPr>
        <p:spPr>
          <a:xfrm>
            <a:off x="487680" y="792480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733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Continue Your </a:t>
            </a:r>
            <a:r>
              <a:rPr lang="en-US" sz="37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Journey</a:t>
            </a:r>
            <a:endParaRPr lang="en-US" sz="3733" dirty="0"/>
          </a:p>
        </p:txBody>
      </p:sp>
      <p:sp>
        <p:nvSpPr>
          <p:cNvPr id="9" name="Shape 7"/>
          <p:cNvSpPr/>
          <p:nvPr/>
        </p:nvSpPr>
        <p:spPr>
          <a:xfrm>
            <a:off x="609600" y="1828800"/>
            <a:ext cx="2560320" cy="426720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463040" y="2194560"/>
            <a:ext cx="853440" cy="85344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63040" y="219456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2133" dirty="0"/>
          </a:p>
        </p:txBody>
      </p:sp>
      <p:sp>
        <p:nvSpPr>
          <p:cNvPr id="12" name="Text 10"/>
          <p:cNvSpPr/>
          <p:nvPr/>
        </p:nvSpPr>
        <p:spPr>
          <a:xfrm>
            <a:off x="853440" y="3291840"/>
            <a:ext cx="20726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 a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Follow-Up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53440" y="4389120"/>
            <a:ext cx="207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Dive deeper into features that matter to your team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413760" y="1828800"/>
            <a:ext cx="2560320" cy="426720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67200" y="2194560"/>
            <a:ext cx="853440" cy="85344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58A6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67200" y="219456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 dirty="0">
                <a:solidFill>
                  <a:srgbClr val="58A6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2133" dirty="0"/>
          </a:p>
        </p:txBody>
      </p:sp>
      <p:sp>
        <p:nvSpPr>
          <p:cNvPr id="17" name="Text 15"/>
          <p:cNvSpPr/>
          <p:nvPr/>
        </p:nvSpPr>
        <p:spPr>
          <a:xfrm>
            <a:off x="3657600" y="3291840"/>
            <a:ext cx="20726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Start a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57600" y="4389120"/>
            <a:ext cx="207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Experience GitHub Enterprise with a free trial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217920" y="1828800"/>
            <a:ext cx="2560320" cy="426720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7071360" y="2194560"/>
            <a:ext cx="853440" cy="85344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7071360" y="219456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 dirty="0">
                <a:solidFill>
                  <a:srgbClr val="A78BF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2133" dirty="0"/>
          </a:p>
        </p:txBody>
      </p:sp>
      <p:sp>
        <p:nvSpPr>
          <p:cNvPr id="22" name="Text 20"/>
          <p:cNvSpPr/>
          <p:nvPr/>
        </p:nvSpPr>
        <p:spPr>
          <a:xfrm>
            <a:off x="6461760" y="3291840"/>
            <a:ext cx="20726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Join Our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Community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6461760" y="4389120"/>
            <a:ext cx="207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 with developers across Southeast Asia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9022080" y="1828800"/>
            <a:ext cx="2560320" cy="4267200"/>
          </a:xfrm>
          <a:prstGeom prst="roundRect">
            <a:avLst>
              <a:gd name="adj" fmla="val 4762"/>
            </a:avLst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875520" y="2194560"/>
            <a:ext cx="853440" cy="853440"/>
          </a:xfrm>
          <a:prstGeom prst="ellipse">
            <a:avLst/>
          </a:prstGeom>
          <a:solidFill>
            <a:srgbClr val="0D1117"/>
          </a:solidFill>
          <a:ln w="25400">
            <a:solidFill>
              <a:srgbClr val="F088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875520" y="2194560"/>
            <a:ext cx="8534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133" b="1" dirty="0">
                <a:solidFill>
                  <a:srgbClr val="F0883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2133" dirty="0"/>
          </a:p>
        </p:txBody>
      </p:sp>
      <p:sp>
        <p:nvSpPr>
          <p:cNvPr id="27" name="Text 25"/>
          <p:cNvSpPr/>
          <p:nvPr/>
        </p:nvSpPr>
        <p:spPr>
          <a:xfrm>
            <a:off x="9265920" y="3291840"/>
            <a:ext cx="2072640" cy="8534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Attend</a:t>
            </a:r>
            <a:endParaRPr lang="en-US" sz="20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Workshops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265920" y="4389120"/>
            <a:ext cx="2072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5000"/>
              </a:lnSpc>
              <a:buNone/>
            </a:pPr>
            <a:r>
              <a:rPr lang="en-US" sz="1400" dirty="0">
                <a:solidFill>
                  <a:srgbClr val="8B949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Hands-on training sessions and deep dives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3230880" y="3535680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67" dirty="0"/>
          </a:p>
        </p:txBody>
      </p:sp>
      <p:sp>
        <p:nvSpPr>
          <p:cNvPr id="30" name="Text 28"/>
          <p:cNvSpPr/>
          <p:nvPr/>
        </p:nvSpPr>
        <p:spPr>
          <a:xfrm>
            <a:off x="6035040" y="3535680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67" dirty="0"/>
          </a:p>
        </p:txBody>
      </p:sp>
      <p:sp>
        <p:nvSpPr>
          <p:cNvPr id="31" name="Text 29"/>
          <p:cNvSpPr/>
          <p:nvPr/>
        </p:nvSpPr>
        <p:spPr>
          <a:xfrm>
            <a:off x="8839200" y="3535680"/>
            <a:ext cx="243840" cy="4876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2667" b="1" dirty="0">
                <a:solidFill>
                  <a:srgbClr val="30363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›</a:t>
            </a:r>
            <a:endParaRPr lang="en-US" sz="2667" dirty="0"/>
          </a:p>
        </p:txBody>
      </p:sp>
      <p:sp>
        <p:nvSpPr>
          <p:cNvPr id="32" name="Shape 30"/>
          <p:cNvSpPr/>
          <p:nvPr/>
        </p:nvSpPr>
        <p:spPr>
          <a:xfrm>
            <a:off x="1828800" y="6705600"/>
            <a:ext cx="8534400" cy="975360"/>
          </a:xfrm>
          <a:prstGeom prst="roundRect">
            <a:avLst>
              <a:gd name="adj" fmla="val 10000"/>
            </a:avLst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28800" y="6705600"/>
            <a:ext cx="8534400" cy="97536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09585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219170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82875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43833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047924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657509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267093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76678" algn="l" defTabSz="1219170" rtl="0" eaLnBrk="1" latinLnBrk="0" hangingPunct="1"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67" dirty="0">
                <a:solidFill>
                  <a:srgbClr val="C9D1D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Thank you for joining the </a:t>
            </a:r>
            <a:r>
              <a:rPr lang="en-US" sz="1867" b="1" dirty="0">
                <a:solidFill>
                  <a:srgbClr val="3FB95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SEA Roadshow!</a:t>
            </a:r>
            <a:r>
              <a:rPr lang="en-US" sz="1867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🚀</a:t>
            </a:r>
            <a:endParaRPr lang="en-US" sz="1867" dirty="0"/>
          </a:p>
        </p:txBody>
      </p:sp>
    </p:spTree>
    <p:extLst>
      <p:ext uri="{BB962C8B-B14F-4D97-AF65-F5344CB8AC3E}">
        <p14:creationId xmlns:p14="http://schemas.microsoft.com/office/powerpoint/2010/main" val="32614078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C04E688-3D4B-C149-A2EC-4C6C3EF0115A}">
  <we:reference id="12345678-1234-1234-1234-123456789012" version="1.0.0.0" store="developer" storeType="Registry"/>
  <we:alternateReferences/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1609</Words>
  <Application>Microsoft Macintosh PowerPoint</Application>
  <PresentationFormat>Widescreen</PresentationFormat>
  <Paragraphs>373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Benjamin Smillie</dc:creator>
  <cp:lastModifiedBy>Benjamin Smillie</cp:lastModifiedBy>
  <cp:revision>4</cp:revision>
  <dcterms:created xsi:type="dcterms:W3CDTF">2026-03-19T02:29:25Z</dcterms:created>
  <dcterms:modified xsi:type="dcterms:W3CDTF">2026-03-19T03:14:08Z</dcterms:modified>
</cp:coreProperties>
</file>