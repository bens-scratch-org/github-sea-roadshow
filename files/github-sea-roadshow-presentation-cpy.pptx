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0" r:id="rId4"/>
    <p:sldId id="261" r:id="rId5"/>
    <p:sldId id="262" r:id="rId6"/>
    <p:sldId id="276" r:id="rId7"/>
    <p:sldId id="277" r:id="rId8"/>
    <p:sldId id="278" r:id="rId9"/>
    <p:sldId id="279" r:id="rId10"/>
    <p:sldId id="280" r:id="rId11"/>
    <p:sldId id="268" r:id="rId12"/>
    <p:sldId id="281" r:id="rId13"/>
    <p:sldId id="282" r:id="rId14"/>
    <p:sldId id="283" r:id="rId15"/>
    <p:sldId id="284" r:id="rId16"/>
    <p:sldId id="285" r:id="rId17"/>
    <p:sldId id="286" r:id="rId18"/>
    <p:sldId id="28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77"/>
    <p:restoredTop sz="94687"/>
  </p:normalViewPr>
  <p:slideViewPr>
    <p:cSldViewPr snapToGrid="0">
      <p:cViewPr varScale="1">
        <p:scale>
          <a:sx n="103" d="100"/>
          <a:sy n="103" d="100"/>
        </p:scale>
        <p:origin x="200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96A07A-FDAC-994D-9D2D-952F759F40F6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8D540C-32FC-0943-8B04-0B388C2117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107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56E2A-2931-2676-D2CF-0561DC11CD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E6A824-DADC-4B6F-BF97-FD7F861C32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A5E249-44DA-222E-2EB7-0CBDABE8F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A2459-814C-24DD-E4E7-72B29A039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6E721-B6D5-8216-FF18-BEE4A1416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904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34D82-B793-7E2C-1834-F6D9C2F8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AD446-107C-2240-EEF2-138AE963D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64E1DF-4E14-B1B8-512C-8AB0316B0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9E84E-7E84-3B92-4258-950E2F1EA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82FEBB-2FEC-8DC0-5A0D-D292D5B6E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8873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35FAA-059F-3E89-7522-3709CAD29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936CF2-D452-9083-D4BF-84FBE9E1CA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C3071-6DEE-14DC-82AE-043B7F758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53254-B779-E219-69F1-25DAA0DCB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7B14E6-EC84-69CF-AE1C-25EB34A6C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344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B9720-C565-A5FA-CE32-0885997A0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8F51-371E-85D5-210A-5DDD68AC54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B56F0-BF44-DFB0-900D-E2BAC89DF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231015-4B3A-E6C8-CAE5-75B5600DB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141AE2-60DE-9164-ABE5-F48D79C0A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9DEF44-C1B1-C4E7-CC86-CEA9C0ADF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493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8D854-AC23-B92D-D8E5-5AF66A065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5FBDEC-5C5F-C7F3-E178-98376714B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A4C01-E18B-CB63-3F6A-BF0BDCF2B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A2037-AA01-45EE-60B9-0AE5536888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7E2660-255D-8582-8D0F-F5EEF0431C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B87212-FE30-B5D0-9D36-261CB541C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8AABFC-C1FF-4EBA-A0A9-935814095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7A18E1-6B1B-033A-A7B4-77FCE0A45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55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FB7AB-3D67-F160-D8AF-A59A470C6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BBB8B1-A494-C981-47F2-DA25D9384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331CF-3037-F4F2-6776-F899C0708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F6566-632C-459C-E3A8-9CE3FA897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130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6242B-4654-ABBB-C71E-98D175A3E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3E709C-B119-418E-FD94-BE38ADA92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54693-B3E7-17EE-2DBA-AC97A1425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384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57FA-D9FC-BCEF-B82C-156017A8E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E7996-2D84-884A-9F3D-EBA1BFA77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0F1C73-E65D-EA00-54EF-25CD73E7E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06805-6587-4A46-EE8D-1E4DB2578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BB8A0-B0B4-2DBE-85C3-1A00AE300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BB7D28-9EA4-9E97-7A5B-1C90D0347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46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8F8B9-4297-03C5-EA67-679A78FC8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A5105C-DC1B-5FA8-59C8-D25FABACD8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1D0260-E33B-85F3-C90A-3F61325E3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5EC22B-B7F4-61A5-4292-909BFDA9F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790A8F-40CD-310B-6D93-47C4CD360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89AD39-3399-67F9-FA76-6278B60FF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77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C7AEF-4F15-3721-8854-E198C2C4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2D3B2E-9AC5-67B2-83E9-5170A4C6F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3665E-71C4-353D-3D02-2AFAFA2BB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085413-CB9E-88B5-4BE9-5683527AB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88CCC-D935-C4E0-AAF8-8846957D2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041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764684-A603-4667-2CA8-9B53BD6EDC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DEAC94-EAC3-EEED-B5FC-B5EA61259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7D941-A8AC-96C9-D657-F56BE60BD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05590-5583-FA37-3FEF-A150736B1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E4EF6-9F9A-953E-23A2-A1D4419A5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818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1881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7FB16-F565-0B6F-6F2F-C3C08BE6B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0DDDE1-D179-E7BE-775A-A496C1495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DA013D-1CC6-093F-C370-BC302A495D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A681C-AFFB-097C-5317-4EEEA532B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0000A-D73F-A463-8348-616B7886D6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475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24800" y="-1828800"/>
            <a:ext cx="6096000" cy="6096000"/>
          </a:xfrm>
          <a:prstGeom prst="ellipse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0" y="-609600"/>
            <a:ext cx="3657600" cy="3657600"/>
          </a:xfrm>
          <a:prstGeom prst="ellipse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1828800" y="4267200"/>
            <a:ext cx="4876800" cy="4876800"/>
          </a:xfrm>
          <a:prstGeom prst="ellipse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https://github.githubassets.com/assets/GitHub-Mark-ea2971cee7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" y="609600"/>
            <a:ext cx="670560" cy="670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84960" y="609600"/>
            <a:ext cx="243840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2933" dirty="0"/>
          </a:p>
        </p:txBody>
      </p:sp>
      <p:sp>
        <p:nvSpPr>
          <p:cNvPr id="9" name="Shape 6"/>
          <p:cNvSpPr/>
          <p:nvPr/>
        </p:nvSpPr>
        <p:spPr>
          <a:xfrm>
            <a:off x="853440" y="1645920"/>
            <a:ext cx="304800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53440" y="2072640"/>
            <a:ext cx="3169920" cy="463296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53440" y="2072640"/>
            <a:ext cx="316992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ROADSHOW 2026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3440" y="2804160"/>
            <a:ext cx="10363200" cy="1036320"/>
          </a:xfrm>
          <a:prstGeom prst="rect">
            <a:avLst/>
          </a:prstGeom>
          <a:noFill/>
          <a:ln/>
        </p:spPr>
        <p:txBody>
          <a:bodyPr wrap="square" rtlCol="0" anchor="b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 East Asia</a:t>
            </a:r>
            <a:endParaRPr lang="en-US" sz="5867" dirty="0"/>
          </a:p>
        </p:txBody>
      </p:sp>
      <p:sp>
        <p:nvSpPr>
          <p:cNvPr id="13" name="Text 10"/>
          <p:cNvSpPr/>
          <p:nvPr/>
        </p:nvSpPr>
        <p:spPr>
          <a:xfrm>
            <a:off x="853440" y="3718560"/>
            <a:ext cx="10363200" cy="103632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867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Partner Roadshow</a:t>
            </a:r>
            <a:endParaRPr lang="en-US" sz="5867" dirty="0"/>
          </a:p>
        </p:txBody>
      </p:sp>
      <p:sp>
        <p:nvSpPr>
          <p:cNvPr id="14" name="Text 11"/>
          <p:cNvSpPr/>
          <p:nvPr/>
        </p:nvSpPr>
        <p:spPr>
          <a:xfrm>
            <a:off x="853440" y="4754880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33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the future of software, together.</a:t>
            </a:r>
            <a:endParaRPr lang="en-US" sz="2133" dirty="0"/>
          </a:p>
        </p:txBody>
      </p:sp>
      <p:sp>
        <p:nvSpPr>
          <p:cNvPr id="15" name="Shape 12"/>
          <p:cNvSpPr/>
          <p:nvPr/>
        </p:nvSpPr>
        <p:spPr>
          <a:xfrm>
            <a:off x="0" y="5913120"/>
            <a:ext cx="12192000" cy="950976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0" y="5913121"/>
            <a:ext cx="12192000" cy="14631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53440" y="5913120"/>
            <a:ext cx="268224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413760" y="5913120"/>
            <a:ext cx="36576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</a:t>
            </a:r>
            <a:endParaRPr lang="en-US" sz="1867" dirty="0"/>
          </a:p>
        </p:txBody>
      </p:sp>
      <p:sp>
        <p:nvSpPr>
          <p:cNvPr id="19" name="Text 16"/>
          <p:cNvSpPr/>
          <p:nvPr/>
        </p:nvSpPr>
        <p:spPr>
          <a:xfrm>
            <a:off x="3657600" y="5913120"/>
            <a:ext cx="304800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 East Asia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61760" y="5913120"/>
            <a:ext cx="36576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</a:t>
            </a:r>
            <a:endParaRPr lang="en-US" sz="1867" dirty="0"/>
          </a:p>
        </p:txBody>
      </p:sp>
      <p:sp>
        <p:nvSpPr>
          <p:cNvPr id="21" name="Text 18"/>
          <p:cNvSpPr/>
          <p:nvPr/>
        </p:nvSpPr>
        <p:spPr>
          <a:xfrm>
            <a:off x="6705600" y="5913120"/>
            <a:ext cx="365760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#GitHubPartnerRoadshow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0" y="6790944"/>
            <a:ext cx="12192000" cy="73152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924800" y="670560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467" dirty="0">
                <a:solidFill>
                  <a:srgbClr val="30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welcome(partners);</a:t>
            </a:r>
            <a:endParaRPr lang="en-US" sz="146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-2438400"/>
            <a:ext cx="5486400" cy="5486400"/>
          </a:xfrm>
          <a:prstGeom prst="ellipse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97440" y="-1219200"/>
            <a:ext cx="3048000" cy="3048000"/>
          </a:xfrm>
          <a:prstGeom prst="ellipse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09600" y="365760"/>
            <a:ext cx="3474720" cy="390144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09600" y="365760"/>
            <a:ext cx="3474720" cy="39014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OF THE OCTOVERSE 2025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609600" y="914400"/>
            <a:ext cx="10972800" cy="792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South East Asia Opportunity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09600" y="1645920"/>
            <a:ext cx="85344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is GitHub's fastest-growing region — and SEA is at the heart of it.</a:t>
            </a:r>
            <a:endParaRPr lang="en-US" sz="1667" dirty="0"/>
          </a:p>
        </p:txBody>
      </p:sp>
      <p:sp>
        <p:nvSpPr>
          <p:cNvPr id="10" name="Shape 8"/>
          <p:cNvSpPr/>
          <p:nvPr/>
        </p:nvSpPr>
        <p:spPr>
          <a:xfrm>
            <a:off x="609600" y="2377440"/>
            <a:ext cx="341376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9600" y="24993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+13M</a:t>
            </a:r>
            <a:endParaRPr lang="en-US" sz="4267" dirty="0"/>
          </a:p>
        </p:txBody>
      </p:sp>
      <p:sp>
        <p:nvSpPr>
          <p:cNvPr id="12" name="Text 10"/>
          <p:cNvSpPr/>
          <p:nvPr/>
        </p:nvSpPr>
        <p:spPr>
          <a:xfrm>
            <a:off x="609600" y="3108960"/>
            <a:ext cx="3413760" cy="54864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APAC developers</a:t>
            </a:r>
            <a:endParaRPr lang="en-US" sz="1333" dirty="0"/>
          </a:p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2025 alone</a:t>
            </a:r>
            <a:endParaRPr lang="en-US" sz="1333" dirty="0"/>
          </a:p>
        </p:txBody>
      </p:sp>
      <p:sp>
        <p:nvSpPr>
          <p:cNvPr id="13" name="Shape 11"/>
          <p:cNvSpPr/>
          <p:nvPr/>
        </p:nvSpPr>
        <p:spPr>
          <a:xfrm>
            <a:off x="4389120" y="2377440"/>
            <a:ext cx="341376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89120" y="24993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4.37M</a:t>
            </a:r>
            <a:endParaRPr lang="en-US" sz="4267" dirty="0"/>
          </a:p>
        </p:txBody>
      </p:sp>
      <p:sp>
        <p:nvSpPr>
          <p:cNvPr id="15" name="Text 13"/>
          <p:cNvSpPr/>
          <p:nvPr/>
        </p:nvSpPr>
        <p:spPr>
          <a:xfrm>
            <a:off x="4389120" y="3108960"/>
            <a:ext cx="3413760" cy="54864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 in Indonesia</a:t>
            </a:r>
            <a:endParaRPr lang="en-US" sz="1333" dirty="0"/>
          </a:p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0.9M in 2020</a:t>
            </a:r>
            <a:endParaRPr lang="en-US" sz="1333" dirty="0"/>
          </a:p>
        </p:txBody>
      </p:sp>
      <p:sp>
        <p:nvSpPr>
          <p:cNvPr id="16" name="Shape 14"/>
          <p:cNvSpPr/>
          <p:nvPr/>
        </p:nvSpPr>
        <p:spPr>
          <a:xfrm>
            <a:off x="8168640" y="2377440"/>
            <a:ext cx="341376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68640" y="24993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~25/min</a:t>
            </a:r>
            <a:endParaRPr lang="en-US" sz="4267" dirty="0"/>
          </a:p>
        </p:txBody>
      </p:sp>
      <p:sp>
        <p:nvSpPr>
          <p:cNvPr id="18" name="Text 16"/>
          <p:cNvSpPr/>
          <p:nvPr/>
        </p:nvSpPr>
        <p:spPr>
          <a:xfrm>
            <a:off x="8168640" y="3108960"/>
            <a:ext cx="3413760" cy="54864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APAC developers</a:t>
            </a:r>
            <a:endParaRPr lang="en-US" sz="1333" dirty="0"/>
          </a:p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joining GitHub every minute</a:t>
            </a:r>
            <a:endParaRPr lang="en-US" sz="1333" dirty="0"/>
          </a:p>
        </p:txBody>
      </p:sp>
      <p:sp>
        <p:nvSpPr>
          <p:cNvPr id="19" name="Shape 17"/>
          <p:cNvSpPr/>
          <p:nvPr/>
        </p:nvSpPr>
        <p:spPr>
          <a:xfrm>
            <a:off x="609600" y="4047744"/>
            <a:ext cx="10972800" cy="12192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9600" y="420624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 MARKET HIGHLIGHTS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9600" y="4632960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33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Country</a:t>
            </a:r>
            <a:endParaRPr lang="en-US" sz="1133" dirty="0"/>
          </a:p>
        </p:txBody>
      </p:sp>
      <p:sp>
        <p:nvSpPr>
          <p:cNvPr id="22" name="Text 20"/>
          <p:cNvSpPr/>
          <p:nvPr/>
        </p:nvSpPr>
        <p:spPr>
          <a:xfrm>
            <a:off x="2682240" y="4632960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33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</a:t>
            </a:r>
            <a:endParaRPr lang="en-US" sz="1133" dirty="0"/>
          </a:p>
        </p:txBody>
      </p:sp>
      <p:sp>
        <p:nvSpPr>
          <p:cNvPr id="23" name="Text 21"/>
          <p:cNvSpPr/>
          <p:nvPr/>
        </p:nvSpPr>
        <p:spPr>
          <a:xfrm>
            <a:off x="4145280" y="4632960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33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YoY Growth</a:t>
            </a:r>
            <a:endParaRPr lang="en-US" sz="1133" dirty="0"/>
          </a:p>
        </p:txBody>
      </p:sp>
      <p:sp>
        <p:nvSpPr>
          <p:cNvPr id="24" name="Shape 22"/>
          <p:cNvSpPr/>
          <p:nvPr/>
        </p:nvSpPr>
        <p:spPr>
          <a:xfrm>
            <a:off x="609600" y="4974337"/>
            <a:ext cx="4876800" cy="9753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9600" y="5023104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🇮🇩  Indonesia</a:t>
            </a:r>
            <a:endParaRPr lang="en-US" sz="1267" dirty="0"/>
          </a:p>
        </p:txBody>
      </p:sp>
      <p:sp>
        <p:nvSpPr>
          <p:cNvPr id="26" name="Text 24"/>
          <p:cNvSpPr/>
          <p:nvPr/>
        </p:nvSpPr>
        <p:spPr>
          <a:xfrm>
            <a:off x="2682240" y="5023104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4.37M</a:t>
            </a:r>
            <a:endParaRPr lang="en-US" sz="1267" dirty="0"/>
          </a:p>
        </p:txBody>
      </p:sp>
      <p:sp>
        <p:nvSpPr>
          <p:cNvPr id="27" name="Text 25"/>
          <p:cNvSpPr/>
          <p:nvPr/>
        </p:nvSpPr>
        <p:spPr>
          <a:xfrm>
            <a:off x="4145280" y="5023104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386%*</a:t>
            </a:r>
            <a:endParaRPr lang="en-US" sz="1267" dirty="0"/>
          </a:p>
        </p:txBody>
      </p:sp>
      <p:sp>
        <p:nvSpPr>
          <p:cNvPr id="28" name="Text 26"/>
          <p:cNvSpPr/>
          <p:nvPr/>
        </p:nvSpPr>
        <p:spPr>
          <a:xfrm>
            <a:off x="609600" y="5413248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🇵🇭  Philippines</a:t>
            </a:r>
            <a:endParaRPr lang="en-US" sz="1267" dirty="0"/>
          </a:p>
        </p:txBody>
      </p:sp>
      <p:sp>
        <p:nvSpPr>
          <p:cNvPr id="29" name="Text 27"/>
          <p:cNvSpPr/>
          <p:nvPr/>
        </p:nvSpPr>
        <p:spPr>
          <a:xfrm>
            <a:off x="2682240" y="5413248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1.7M+</a:t>
            </a:r>
            <a:endParaRPr lang="en-US" sz="1267" dirty="0"/>
          </a:p>
        </p:txBody>
      </p:sp>
      <p:sp>
        <p:nvSpPr>
          <p:cNvPr id="30" name="Text 28"/>
          <p:cNvSpPr/>
          <p:nvPr/>
        </p:nvSpPr>
        <p:spPr>
          <a:xfrm>
            <a:off x="4145280" y="5413248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29%</a:t>
            </a:r>
            <a:endParaRPr lang="en-US" sz="1267" dirty="0"/>
          </a:p>
        </p:txBody>
      </p:sp>
      <p:sp>
        <p:nvSpPr>
          <p:cNvPr id="31" name="Text 29"/>
          <p:cNvSpPr/>
          <p:nvPr/>
        </p:nvSpPr>
        <p:spPr>
          <a:xfrm>
            <a:off x="609600" y="5803392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🇸🇬  Singapore</a:t>
            </a:r>
            <a:endParaRPr lang="en-US" sz="1267" dirty="0"/>
          </a:p>
        </p:txBody>
      </p:sp>
      <p:sp>
        <p:nvSpPr>
          <p:cNvPr id="32" name="Text 30"/>
          <p:cNvSpPr/>
          <p:nvPr/>
        </p:nvSpPr>
        <p:spPr>
          <a:xfrm>
            <a:off x="2682240" y="5803392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density</a:t>
            </a:r>
            <a:endParaRPr lang="en-US" sz="1267" dirty="0"/>
          </a:p>
        </p:txBody>
      </p:sp>
      <p:sp>
        <p:nvSpPr>
          <p:cNvPr id="33" name="Text 31"/>
          <p:cNvSpPr/>
          <p:nvPr/>
        </p:nvSpPr>
        <p:spPr>
          <a:xfrm>
            <a:off x="4145280" y="5803392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Hub</a:t>
            </a:r>
            <a:endParaRPr lang="en-US" sz="1267" dirty="0"/>
          </a:p>
        </p:txBody>
      </p:sp>
      <p:sp>
        <p:nvSpPr>
          <p:cNvPr id="34" name="Text 32"/>
          <p:cNvSpPr/>
          <p:nvPr/>
        </p:nvSpPr>
        <p:spPr>
          <a:xfrm>
            <a:off x="609600" y="6205728"/>
            <a:ext cx="3657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3" i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5-year growth 2020–2025</a:t>
            </a:r>
            <a:endParaRPr lang="en-US" sz="933" dirty="0"/>
          </a:p>
        </p:txBody>
      </p:sp>
      <p:sp>
        <p:nvSpPr>
          <p:cNvPr id="35" name="Shape 33"/>
          <p:cNvSpPr/>
          <p:nvPr/>
        </p:nvSpPr>
        <p:spPr>
          <a:xfrm>
            <a:off x="6217920" y="4206240"/>
            <a:ext cx="5364480" cy="225552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22720" y="432816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SEA, Why Now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6522720" y="4693920"/>
            <a:ext cx="4815840" cy="164592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Indonesia is SEA's digital powerhouse — accounting for nearly half the region's online economy</a:t>
            </a:r>
            <a:endParaRPr lang="en-US" sz="1200" dirty="0"/>
          </a:p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Singapore's National AI Strategy &amp; Smart Nation initiative drive enterprise demand</a:t>
            </a:r>
            <a:endParaRPr lang="en-US" sz="1200" dirty="0"/>
          </a:p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80% of new developers use GitHub Copilot within their first week</a:t>
            </a:r>
            <a:endParaRPr lang="en-US" sz="1200" dirty="0"/>
          </a:p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AI-assisted local-language tooling unlocking non-English developer communities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0" y="6278880"/>
            <a:ext cx="12192000" cy="512064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0" y="6278880"/>
            <a:ext cx="12192000" cy="1219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09600" y="6278880"/>
            <a:ext cx="7315200" cy="51206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 Octoverse 2024 &amp; 2025  •  github.com/octoverse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05600" y="6278880"/>
            <a:ext cx="4876800" cy="51206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180M+ developers worldwide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0" y="6790944"/>
            <a:ext cx="12192000" cy="73152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126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243840"/>
            <a:ext cx="2926080" cy="304800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243840"/>
            <a:ext cx="29260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FEATURES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585216"/>
            <a:ext cx="804672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— </a:t>
            </a:r>
            <a:r>
              <a:rPr lang="en-US" sz="29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 Your Craft</a:t>
            </a:r>
            <a:endParaRPr lang="en-US" sz="2933" dirty="0"/>
          </a:p>
        </p:txBody>
      </p:sp>
      <p:sp>
        <p:nvSpPr>
          <p:cNvPr id="8" name="Text 6"/>
          <p:cNvSpPr/>
          <p:nvPr/>
        </p:nvSpPr>
        <p:spPr>
          <a:xfrm>
            <a:off x="487680" y="1072896"/>
            <a:ext cx="80467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AI accelerator for every workflow — from the editor to the enterprise.</a:t>
            </a:r>
            <a:endParaRPr lang="en-US" sz="1267" dirty="0"/>
          </a:p>
        </p:txBody>
      </p:sp>
      <p:sp>
        <p:nvSpPr>
          <p:cNvPr id="9" name="Shape 7"/>
          <p:cNvSpPr/>
          <p:nvPr/>
        </p:nvSpPr>
        <p:spPr>
          <a:xfrm>
            <a:off x="9083040" y="243840"/>
            <a:ext cx="2560320" cy="999744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83040" y="243840"/>
            <a:ext cx="2560320" cy="99974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85000"/>
              </a:lnSpc>
              <a:buNone/>
            </a:pP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</a:t>
            </a:r>
            <a:r>
              <a:rPr lang="en-US" sz="2933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faster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coding productivity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7680" y="1487424"/>
            <a:ext cx="3535680" cy="304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7680" y="1487424"/>
            <a:ext cx="35356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&amp; EDITOR</a:t>
            </a:r>
            <a:endParaRPr lang="en-US" sz="1067" dirty="0"/>
          </a:p>
        </p:txBody>
      </p:sp>
      <p:sp>
        <p:nvSpPr>
          <p:cNvPr id="13" name="Shape 11"/>
          <p:cNvSpPr/>
          <p:nvPr/>
        </p:nvSpPr>
        <p:spPr>
          <a:xfrm>
            <a:off x="4328160" y="1487424"/>
            <a:ext cx="3535680" cy="304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28160" y="1487424"/>
            <a:ext cx="35356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&amp; AUTOMATION</a:t>
            </a:r>
            <a:endParaRPr lang="en-US" sz="1067" dirty="0"/>
          </a:p>
        </p:txBody>
      </p:sp>
      <p:sp>
        <p:nvSpPr>
          <p:cNvPr id="15" name="Shape 13"/>
          <p:cNvSpPr/>
          <p:nvPr/>
        </p:nvSpPr>
        <p:spPr>
          <a:xfrm>
            <a:off x="8168640" y="1487424"/>
            <a:ext cx="3535680" cy="304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68640" y="1487424"/>
            <a:ext cx="35356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&amp; PLATFORM</a:t>
            </a:r>
            <a:endParaRPr lang="en-US" sz="1067" dirty="0"/>
          </a:p>
        </p:txBody>
      </p:sp>
      <p:sp>
        <p:nvSpPr>
          <p:cNvPr id="17" name="Text 15"/>
          <p:cNvSpPr/>
          <p:nvPr/>
        </p:nvSpPr>
        <p:spPr>
          <a:xfrm>
            <a:off x="585216" y="1853184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Completion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Inline AI suggestions as you type across all languages</a:t>
            </a:r>
            <a:endParaRPr lang="en-US" sz="1267" dirty="0"/>
          </a:p>
        </p:txBody>
      </p:sp>
      <p:sp>
        <p:nvSpPr>
          <p:cNvPr id="18" name="Text 16"/>
          <p:cNvSpPr/>
          <p:nvPr/>
        </p:nvSpPr>
        <p:spPr>
          <a:xfrm>
            <a:off x="585216" y="2633472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in IDE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Debug, explain &amp; ask questions in VS Code, JetBrains &amp; more</a:t>
            </a:r>
            <a:endParaRPr lang="en-US" sz="1267" dirty="0"/>
          </a:p>
        </p:txBody>
      </p:sp>
      <p:sp>
        <p:nvSpPr>
          <p:cNvPr id="19" name="Text 17"/>
          <p:cNvSpPr/>
          <p:nvPr/>
        </p:nvSpPr>
        <p:spPr>
          <a:xfrm>
            <a:off x="585216" y="3413760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Mode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Multi-file edits, validation &amp; autonomous iteration in editor</a:t>
            </a:r>
            <a:endParaRPr lang="en-US" sz="1267" dirty="0"/>
          </a:p>
        </p:txBody>
      </p:sp>
      <p:sp>
        <p:nvSpPr>
          <p:cNvPr id="20" name="Text 18"/>
          <p:cNvSpPr/>
          <p:nvPr/>
        </p:nvSpPr>
        <p:spPr>
          <a:xfrm>
            <a:off x="585216" y="4194048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Multi-LLM Choice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GPT, Claude, Gemini &amp; more — pick for speed, accuracy, or cost</a:t>
            </a:r>
            <a:endParaRPr lang="en-US" sz="1267" dirty="0"/>
          </a:p>
        </p:txBody>
      </p:sp>
      <p:sp>
        <p:nvSpPr>
          <p:cNvPr id="21" name="Text 19"/>
          <p:cNvSpPr/>
          <p:nvPr/>
        </p:nvSpPr>
        <p:spPr>
          <a:xfrm>
            <a:off x="4425696" y="1853184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Coding Agents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issues to Copilot, Claude, or Codex — they code &amp; create PRs</a:t>
            </a:r>
            <a:endParaRPr lang="en-US" sz="1267" dirty="0"/>
          </a:p>
        </p:txBody>
      </p:sp>
      <p:sp>
        <p:nvSpPr>
          <p:cNvPr id="22" name="Text 20"/>
          <p:cNvSpPr/>
          <p:nvPr/>
        </p:nvSpPr>
        <p:spPr>
          <a:xfrm>
            <a:off x="4425696" y="2633472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CLI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language in terminal — plans, builds &amp; executes workflows</a:t>
            </a:r>
            <a:endParaRPr lang="en-US" sz="1267" dirty="0"/>
          </a:p>
        </p:txBody>
      </p:sp>
      <p:sp>
        <p:nvSpPr>
          <p:cNvPr id="23" name="Text 21"/>
          <p:cNvSpPr/>
          <p:nvPr/>
        </p:nvSpPr>
        <p:spPr>
          <a:xfrm>
            <a:off x="4425696" y="3413760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Review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PR reviews for all team members, even without a seat</a:t>
            </a:r>
            <a:endParaRPr lang="en-US" sz="1267" dirty="0"/>
          </a:p>
        </p:txBody>
      </p:sp>
      <p:sp>
        <p:nvSpPr>
          <p:cNvPr id="24" name="Text 22"/>
          <p:cNvSpPr/>
          <p:nvPr/>
        </p:nvSpPr>
        <p:spPr>
          <a:xfrm>
            <a:off x="4425696" y="4194048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Autofix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Auto-detects &amp; fixes security vulnerabilities via Advanced Security</a:t>
            </a:r>
            <a:endParaRPr lang="en-US" sz="1267" dirty="0"/>
          </a:p>
        </p:txBody>
      </p:sp>
      <p:sp>
        <p:nvSpPr>
          <p:cNvPr id="25" name="Text 23"/>
          <p:cNvSpPr/>
          <p:nvPr/>
        </p:nvSpPr>
        <p:spPr>
          <a:xfrm>
            <a:off x="8266176" y="1853184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Spaces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knowledge from docs &amp; repos — keeps teams consistent</a:t>
            </a:r>
            <a:endParaRPr lang="en-US" sz="1267" dirty="0"/>
          </a:p>
        </p:txBody>
      </p:sp>
      <p:sp>
        <p:nvSpPr>
          <p:cNvPr id="26" name="Text 24"/>
          <p:cNvSpPr/>
          <p:nvPr/>
        </p:nvSpPr>
        <p:spPr>
          <a:xfrm>
            <a:off x="8266176" y="2633472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Integrations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MCP server connections — admin-controlled allow lists</a:t>
            </a:r>
            <a:endParaRPr lang="en-US" sz="1267" dirty="0"/>
          </a:p>
        </p:txBody>
      </p:sp>
      <p:sp>
        <p:nvSpPr>
          <p:cNvPr id="27" name="Text 25"/>
          <p:cNvSpPr/>
          <p:nvPr/>
        </p:nvSpPr>
        <p:spPr>
          <a:xfrm>
            <a:off x="8266176" y="3413760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Everywhere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Code · JetBrains · Visual Studio · GitHub.com · Mobile · CLI</a:t>
            </a:r>
            <a:endParaRPr lang="en-US" sz="1267" dirty="0"/>
          </a:p>
        </p:txBody>
      </p:sp>
      <p:sp>
        <p:nvSpPr>
          <p:cNvPr id="28" name="Text 26"/>
          <p:cNvSpPr/>
          <p:nvPr/>
        </p:nvSpPr>
        <p:spPr>
          <a:xfrm>
            <a:off x="8266176" y="4194048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&amp; IP Protection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never trains models · IP indemnity · code reference filter</a:t>
            </a:r>
            <a:endParaRPr lang="en-US" sz="1267" dirty="0"/>
          </a:p>
        </p:txBody>
      </p:sp>
      <p:sp>
        <p:nvSpPr>
          <p:cNvPr id="29" name="Shape 27"/>
          <p:cNvSpPr/>
          <p:nvPr/>
        </p:nvSpPr>
        <p:spPr>
          <a:xfrm>
            <a:off x="4169664" y="1536192"/>
            <a:ext cx="18288" cy="3364992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010144" y="1536192"/>
            <a:ext cx="18288" cy="3364992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7680" y="5084064"/>
            <a:ext cx="11216640" cy="24384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7680" y="5181600"/>
            <a:ext cx="24384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&amp; PRICING</a:t>
            </a:r>
            <a:endParaRPr lang="en-US" sz="1067" dirty="0"/>
          </a:p>
        </p:txBody>
      </p:sp>
      <p:sp>
        <p:nvSpPr>
          <p:cNvPr id="33" name="Shape 31"/>
          <p:cNvSpPr/>
          <p:nvPr/>
        </p:nvSpPr>
        <p:spPr>
          <a:xfrm>
            <a:off x="487680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09600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$0/mo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2K completions · 50 chats</a:t>
            </a:r>
            <a:endParaRPr lang="en-US" sz="1467" dirty="0"/>
          </a:p>
        </p:txBody>
      </p:sp>
      <p:sp>
        <p:nvSpPr>
          <p:cNvPr id="35" name="Shape 33"/>
          <p:cNvSpPr/>
          <p:nvPr/>
        </p:nvSpPr>
        <p:spPr>
          <a:xfrm>
            <a:off x="2731008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852928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</a:t>
            </a:r>
            <a:r>
              <a:rPr lang="en-US" sz="120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★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$10/mo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Unlimited completions &amp; chat</a:t>
            </a:r>
            <a:endParaRPr lang="en-US" sz="1467" dirty="0"/>
          </a:p>
        </p:txBody>
      </p:sp>
      <p:sp>
        <p:nvSpPr>
          <p:cNvPr id="37" name="Shape 35"/>
          <p:cNvSpPr/>
          <p:nvPr/>
        </p:nvSpPr>
        <p:spPr>
          <a:xfrm>
            <a:off x="4974336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96256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Pro+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$39/mo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+ premium models</a:t>
            </a:r>
            <a:endParaRPr lang="en-US" sz="1467" dirty="0"/>
          </a:p>
        </p:txBody>
      </p:sp>
      <p:sp>
        <p:nvSpPr>
          <p:cNvPr id="39" name="Shape 37"/>
          <p:cNvSpPr/>
          <p:nvPr/>
        </p:nvSpPr>
        <p:spPr>
          <a:xfrm>
            <a:off x="7217664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339584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$19/u/mo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 management + policies</a:t>
            </a:r>
            <a:endParaRPr lang="en-US" sz="1467" dirty="0"/>
          </a:p>
        </p:txBody>
      </p:sp>
      <p:sp>
        <p:nvSpPr>
          <p:cNvPr id="41" name="Shape 39"/>
          <p:cNvSpPr/>
          <p:nvPr/>
        </p:nvSpPr>
        <p:spPr>
          <a:xfrm>
            <a:off x="9460992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582912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$39/u/mo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platform + IP indemnity</a:t>
            </a:r>
            <a:endParaRPr lang="en-US" sz="1467" dirty="0"/>
          </a:p>
        </p:txBody>
      </p:sp>
      <p:sp>
        <p:nvSpPr>
          <p:cNvPr id="43" name="Text 41"/>
          <p:cNvSpPr/>
          <p:nvPr/>
        </p:nvSpPr>
        <p:spPr>
          <a:xfrm>
            <a:off x="487680" y="6242304"/>
            <a:ext cx="609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3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github.com/features/copilot · March 2026</a:t>
            </a:r>
            <a:endParaRPr lang="en-US" sz="933" dirty="0"/>
          </a:p>
        </p:txBody>
      </p:sp>
    </p:spTree>
    <p:extLst>
      <p:ext uri="{BB962C8B-B14F-4D97-AF65-F5344CB8AC3E}">
        <p14:creationId xmlns:p14="http://schemas.microsoft.com/office/powerpoint/2010/main" val="85104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365760"/>
            <a:ext cx="1706880" cy="316992"/>
          </a:xfrm>
          <a:prstGeom prst="roundRect">
            <a:avLst>
              <a:gd name="adj" fmla="val 30769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365760"/>
            <a:ext cx="17068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79248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Agenda</a:t>
            </a:r>
            <a:endParaRPr lang="en-US" sz="3733" dirty="0"/>
          </a:p>
        </p:txBody>
      </p:sp>
      <p:sp>
        <p:nvSpPr>
          <p:cNvPr id="8" name="Shape 6"/>
          <p:cNvSpPr/>
          <p:nvPr/>
        </p:nvSpPr>
        <p:spPr>
          <a:xfrm>
            <a:off x="487680" y="1767840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92480" y="2109216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92480" y="2109216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1706880" y="2011680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to GitHub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1706880" y="247497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overview and capabilities</a:t>
            </a:r>
            <a:endParaRPr lang="en-US" sz="1333" dirty="0"/>
          </a:p>
        </p:txBody>
      </p:sp>
      <p:sp>
        <p:nvSpPr>
          <p:cNvPr id="13" name="Shape 11"/>
          <p:cNvSpPr/>
          <p:nvPr/>
        </p:nvSpPr>
        <p:spPr>
          <a:xfrm>
            <a:off x="487680" y="3438144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2480" y="3779520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2480" y="3779520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67" dirty="0"/>
          </a:p>
        </p:txBody>
      </p:sp>
      <p:sp>
        <p:nvSpPr>
          <p:cNvPr id="16" name="Text 14"/>
          <p:cNvSpPr/>
          <p:nvPr/>
        </p:nvSpPr>
        <p:spPr>
          <a:xfrm>
            <a:off x="1706880" y="3681984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1706880" y="4145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development</a:t>
            </a:r>
            <a:endParaRPr lang="en-US" sz="1333" dirty="0"/>
          </a:p>
        </p:txBody>
      </p:sp>
      <p:sp>
        <p:nvSpPr>
          <p:cNvPr id="18" name="Shape 16"/>
          <p:cNvSpPr/>
          <p:nvPr/>
        </p:nvSpPr>
        <p:spPr>
          <a:xfrm>
            <a:off x="487680" y="5108448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92480" y="5449824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2480" y="5449824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1706880" y="5352288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1706880" y="581558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automation</a:t>
            </a:r>
            <a:endParaRPr lang="en-US" sz="1333" dirty="0"/>
          </a:p>
        </p:txBody>
      </p:sp>
      <p:sp>
        <p:nvSpPr>
          <p:cNvPr id="23" name="Shape 21"/>
          <p:cNvSpPr/>
          <p:nvPr/>
        </p:nvSpPr>
        <p:spPr>
          <a:xfrm>
            <a:off x="6339840" y="1767840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44640" y="2109216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44640" y="2109216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67" dirty="0"/>
          </a:p>
        </p:txBody>
      </p:sp>
      <p:sp>
        <p:nvSpPr>
          <p:cNvPr id="26" name="Text 24"/>
          <p:cNvSpPr/>
          <p:nvPr/>
        </p:nvSpPr>
        <p:spPr>
          <a:xfrm>
            <a:off x="7559040" y="2011680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Security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7559040" y="247497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Securing your code</a:t>
            </a:r>
            <a:endParaRPr lang="en-US" sz="1333" dirty="0"/>
          </a:p>
        </p:txBody>
      </p:sp>
      <p:sp>
        <p:nvSpPr>
          <p:cNvPr id="28" name="Shape 26"/>
          <p:cNvSpPr/>
          <p:nvPr/>
        </p:nvSpPr>
        <p:spPr>
          <a:xfrm>
            <a:off x="6339840" y="3438144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644640" y="3779520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44640" y="3779520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867" dirty="0"/>
          </a:p>
        </p:txBody>
      </p:sp>
      <p:sp>
        <p:nvSpPr>
          <p:cNvPr id="31" name="Text 29"/>
          <p:cNvSpPr/>
          <p:nvPr/>
        </p:nvSpPr>
        <p:spPr>
          <a:xfrm>
            <a:off x="7559040" y="3681984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Codespaces</a:t>
            </a:r>
            <a:endParaRPr lang="en-US" sz="1867" dirty="0"/>
          </a:p>
        </p:txBody>
      </p:sp>
      <p:sp>
        <p:nvSpPr>
          <p:cNvPr id="32" name="Text 30"/>
          <p:cNvSpPr/>
          <p:nvPr/>
        </p:nvSpPr>
        <p:spPr>
          <a:xfrm>
            <a:off x="7559040" y="4145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development environments</a:t>
            </a:r>
            <a:endParaRPr lang="en-US" sz="1333" dirty="0"/>
          </a:p>
        </p:txBody>
      </p:sp>
      <p:sp>
        <p:nvSpPr>
          <p:cNvPr id="33" name="Shape 31"/>
          <p:cNvSpPr/>
          <p:nvPr/>
        </p:nvSpPr>
        <p:spPr>
          <a:xfrm>
            <a:off x="6339840" y="5108448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644640" y="5449824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644640" y="5449824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867" dirty="0"/>
          </a:p>
        </p:txBody>
      </p:sp>
      <p:sp>
        <p:nvSpPr>
          <p:cNvPr id="36" name="Text 34"/>
          <p:cNvSpPr/>
          <p:nvPr/>
        </p:nvSpPr>
        <p:spPr>
          <a:xfrm>
            <a:off x="7559040" y="5352288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Q&amp;A</a:t>
            </a:r>
            <a:endParaRPr lang="en-US" sz="1867" dirty="0"/>
          </a:p>
        </p:txBody>
      </p:sp>
      <p:sp>
        <p:nvSpPr>
          <p:cNvPr id="37" name="Text 35"/>
          <p:cNvSpPr/>
          <p:nvPr/>
        </p:nvSpPr>
        <p:spPr>
          <a:xfrm>
            <a:off x="7559040" y="581558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questions answered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3862155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975360" y="6705600"/>
            <a:ext cx="3048000" cy="30480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365760"/>
            <a:ext cx="2438400" cy="316992"/>
          </a:xfrm>
          <a:prstGeom prst="roundRect">
            <a:avLst>
              <a:gd name="adj" fmla="val 30769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365760"/>
            <a:ext cx="243840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GITHUB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792480"/>
            <a:ext cx="975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5000"/>
              </a:lnSpc>
              <a:buNone/>
            </a:pPr>
            <a:r>
              <a:rPr lang="en-US" sz="3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World's Leading </a:t>
            </a:r>
            <a:r>
              <a:rPr lang="en-US" sz="37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</a:t>
            </a:r>
            <a:endParaRPr lang="en-US" sz="3733" dirty="0"/>
          </a:p>
          <a:p>
            <a:pPr marL="0" indent="0">
              <a:lnSpc>
                <a:spcPct val="95000"/>
              </a:lnSpc>
              <a:buNone/>
            </a:pPr>
            <a:r>
              <a:rPr lang="en-US" sz="37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Platform</a:t>
            </a:r>
            <a:endParaRPr lang="en-US" sz="3733" dirty="0"/>
          </a:p>
        </p:txBody>
      </p:sp>
      <p:sp>
        <p:nvSpPr>
          <p:cNvPr id="9" name="Shape 7"/>
          <p:cNvSpPr/>
          <p:nvPr/>
        </p:nvSpPr>
        <p:spPr>
          <a:xfrm>
            <a:off x="487680" y="1950720"/>
            <a:ext cx="73152" cy="3657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926336"/>
            <a:ext cx="85344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i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is the world's leading AI-powered developer platform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7680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7680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100M+</a:t>
            </a:r>
            <a:endParaRPr lang="en-US" sz="5067" dirty="0"/>
          </a:p>
        </p:txBody>
      </p:sp>
      <p:sp>
        <p:nvSpPr>
          <p:cNvPr id="13" name="Text 11"/>
          <p:cNvSpPr/>
          <p:nvPr/>
        </p:nvSpPr>
        <p:spPr>
          <a:xfrm>
            <a:off x="487680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worldwide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55264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55264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330M+</a:t>
            </a:r>
            <a:endParaRPr lang="en-US" sz="5067" dirty="0"/>
          </a:p>
        </p:txBody>
      </p:sp>
      <p:sp>
        <p:nvSpPr>
          <p:cNvPr id="16" name="Text 14"/>
          <p:cNvSpPr/>
          <p:nvPr/>
        </p:nvSpPr>
        <p:spPr>
          <a:xfrm>
            <a:off x="3255264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repositories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GitHub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22848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22848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</a:t>
            </a:r>
            <a:endParaRPr lang="en-US" sz="5067" dirty="0"/>
          </a:p>
        </p:txBody>
      </p:sp>
      <p:sp>
        <p:nvSpPr>
          <p:cNvPr id="19" name="Text 17"/>
          <p:cNvSpPr/>
          <p:nvPr/>
        </p:nvSpPr>
        <p:spPr>
          <a:xfrm>
            <a:off x="6022848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Fortune 100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companies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790432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790432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190+</a:t>
            </a:r>
            <a:endParaRPr lang="en-US" sz="5067" dirty="0"/>
          </a:p>
        </p:txBody>
      </p:sp>
      <p:sp>
        <p:nvSpPr>
          <p:cNvPr id="22" name="Text 20"/>
          <p:cNvSpPr/>
          <p:nvPr/>
        </p:nvSpPr>
        <p:spPr>
          <a:xfrm>
            <a:off x="8790432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countries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users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7680" y="5608320"/>
            <a:ext cx="109728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competitive advantage developers ask for by name.</a:t>
            </a:r>
            <a:endParaRPr lang="en-US" sz="1733" dirty="0"/>
          </a:p>
        </p:txBody>
      </p:sp>
    </p:spTree>
    <p:extLst>
      <p:ext uri="{BB962C8B-B14F-4D97-AF65-F5344CB8AC3E}">
        <p14:creationId xmlns:p14="http://schemas.microsoft.com/office/powerpoint/2010/main" val="1828046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1828800" cy="268224"/>
          </a:xfrm>
          <a:prstGeom prst="roundRect">
            <a:avLst>
              <a:gd name="adj" fmla="val 36364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18288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</a:t>
            </a: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Action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73152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Action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487680" y="1280160"/>
            <a:ext cx="6096000" cy="48768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7680" y="1280160"/>
            <a:ext cx="6096000" cy="365760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92480" y="1377696"/>
            <a:ext cx="146304" cy="146304"/>
          </a:xfrm>
          <a:prstGeom prst="ellipse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24128" y="1377696"/>
            <a:ext cx="146304" cy="146304"/>
          </a:xfrm>
          <a:prstGeom prst="ellipse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255776" y="1377696"/>
            <a:ext cx="146304" cy="146304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52400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67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fibonacci.py</a:t>
            </a:r>
            <a:endParaRPr lang="en-US" sz="1067" dirty="0"/>
          </a:p>
        </p:txBody>
      </p:sp>
      <p:sp>
        <p:nvSpPr>
          <p:cNvPr id="15" name="Text 13"/>
          <p:cNvSpPr/>
          <p:nvPr/>
        </p:nvSpPr>
        <p:spPr>
          <a:xfrm>
            <a:off x="731520" y="1767840"/>
            <a:ext cx="5608320" cy="41452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333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Example: Copilot helping write a function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1333" dirty="0">
                <a:solidFill>
                  <a:srgbClr val="D2A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calculate_fibonacci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
</a:t>
            </a:r>
            <a:r>
              <a:rPr lang="en-US" sz="1333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Copilot suggests the implementation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&lt;= </a:t>
            </a:r>
            <a:r>
              <a:rPr lang="en-US" sz="1333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calculate_fibonacci(n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333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         + calculate_fibonacci(n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333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6949440" y="1280160"/>
            <a:ext cx="46939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 Topics</a:t>
            </a:r>
            <a:endParaRPr lang="en-US" sz="1733" dirty="0"/>
          </a:p>
        </p:txBody>
      </p:sp>
      <p:sp>
        <p:nvSpPr>
          <p:cNvPr id="17" name="Shape 15"/>
          <p:cNvSpPr/>
          <p:nvPr/>
        </p:nvSpPr>
        <p:spPr>
          <a:xfrm>
            <a:off x="6949440" y="1767840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949440" y="1767840"/>
            <a:ext cx="73152" cy="853440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254240" y="1840992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Completion</a:t>
            </a:r>
            <a:endParaRPr lang="en-US" sz="1467" dirty="0"/>
          </a:p>
        </p:txBody>
      </p:sp>
      <p:sp>
        <p:nvSpPr>
          <p:cNvPr id="20" name="Text 18"/>
          <p:cNvSpPr/>
          <p:nvPr/>
        </p:nvSpPr>
        <p:spPr>
          <a:xfrm>
            <a:off x="7254240" y="2194560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inline suggestions as you type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949440" y="2767584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949440" y="2767584"/>
            <a:ext cx="73152" cy="85344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254240" y="2840736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 Generation</a:t>
            </a:r>
            <a:endParaRPr lang="en-US" sz="1467" dirty="0"/>
          </a:p>
        </p:txBody>
      </p:sp>
      <p:sp>
        <p:nvSpPr>
          <p:cNvPr id="24" name="Text 22"/>
          <p:cNvSpPr/>
          <p:nvPr/>
        </p:nvSpPr>
        <p:spPr>
          <a:xfrm>
            <a:off x="7254240" y="3194304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entire functions from comments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949440" y="3767328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949440" y="3767328"/>
            <a:ext cx="73152" cy="85344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254240" y="3840480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Creation</a:t>
            </a:r>
            <a:endParaRPr lang="en-US" sz="1467" dirty="0"/>
          </a:p>
        </p:txBody>
      </p:sp>
      <p:sp>
        <p:nvSpPr>
          <p:cNvPr id="28" name="Text 26"/>
          <p:cNvSpPr/>
          <p:nvPr/>
        </p:nvSpPr>
        <p:spPr>
          <a:xfrm>
            <a:off x="7254240" y="4194048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Auto-generate unit test suites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949440" y="4767072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949440" y="4767072"/>
            <a:ext cx="73152" cy="853440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254240" y="4840224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</a:t>
            </a:r>
            <a:endParaRPr lang="en-US" sz="1467" dirty="0"/>
          </a:p>
        </p:txBody>
      </p:sp>
      <p:sp>
        <p:nvSpPr>
          <p:cNvPr id="32" name="Text 30"/>
          <p:cNvSpPr/>
          <p:nvPr/>
        </p:nvSpPr>
        <p:spPr>
          <a:xfrm>
            <a:off x="7254240" y="5193792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docs from code context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221402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 Your </a:t>
            </a:r>
            <a:r>
              <a:rPr lang="en-US" sz="3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9753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Made Simple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487680" y="1280160"/>
            <a:ext cx="5486400" cy="4998720"/>
          </a:xfrm>
          <a:prstGeom prst="roundRect">
            <a:avLst>
              <a:gd name="adj" fmla="val 195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438656"/>
            <a:ext cx="487680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Features</a:t>
            </a:r>
            <a:endParaRPr lang="en-US" sz="1867" dirty="0"/>
          </a:p>
        </p:txBody>
      </p:sp>
      <p:sp>
        <p:nvSpPr>
          <p:cNvPr id="11" name="Shape 9"/>
          <p:cNvSpPr/>
          <p:nvPr/>
        </p:nvSpPr>
        <p:spPr>
          <a:xfrm>
            <a:off x="914400" y="2060448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19200" y="1975104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Build, test, and deploy directly from GitHub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2767584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19200" y="2682240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Pre-built actions marketplace (15,000+ actions)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474720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19200" y="3389376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Matrix builds for multiple OS &amp; language versions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181856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19200" y="4096512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or GitHub-hosted cloud runners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4888992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19200" y="4803648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triggers on any GitHub event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39840" y="1280160"/>
            <a:ext cx="524256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Popular Use Cases</a:t>
            </a:r>
            <a:endParaRPr lang="en-US" sz="1867" dirty="0"/>
          </a:p>
        </p:txBody>
      </p:sp>
      <p:sp>
        <p:nvSpPr>
          <p:cNvPr id="22" name="Shape 20"/>
          <p:cNvSpPr/>
          <p:nvPr/>
        </p:nvSpPr>
        <p:spPr>
          <a:xfrm>
            <a:off x="6339840" y="176784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339840" y="1767840"/>
            <a:ext cx="73152" cy="87782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644640" y="185318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Testing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644640" y="220675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tests on every push and pull request</a:t>
            </a:r>
            <a:endParaRPr lang="en-US" sz="1267" dirty="0"/>
          </a:p>
        </p:txBody>
      </p:sp>
      <p:sp>
        <p:nvSpPr>
          <p:cNvPr id="26" name="Shape 24"/>
          <p:cNvSpPr/>
          <p:nvPr/>
        </p:nvSpPr>
        <p:spPr>
          <a:xfrm>
            <a:off x="6339840" y="280416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339840" y="2804160"/>
            <a:ext cx="73152" cy="87782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644640" y="288950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Pipelines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44640" y="324307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to AWS, Azure, GCP, or any cloud</a:t>
            </a:r>
            <a:endParaRPr lang="en-US" sz="1267" dirty="0"/>
          </a:p>
        </p:txBody>
      </p:sp>
      <p:sp>
        <p:nvSpPr>
          <p:cNvPr id="30" name="Shape 28"/>
          <p:cNvSpPr/>
          <p:nvPr/>
        </p:nvSpPr>
        <p:spPr>
          <a:xfrm>
            <a:off x="6339840" y="384048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339840" y="3840480"/>
            <a:ext cx="73152" cy="87782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644640" y="392582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Quality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44640" y="427939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 linting, formatting &amp; standards</a:t>
            </a:r>
            <a:endParaRPr lang="en-US" sz="1267" dirty="0"/>
          </a:p>
        </p:txBody>
      </p:sp>
      <p:sp>
        <p:nvSpPr>
          <p:cNvPr id="34" name="Shape 32"/>
          <p:cNvSpPr/>
          <p:nvPr/>
        </p:nvSpPr>
        <p:spPr>
          <a:xfrm>
            <a:off x="6339840" y="487680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39840" y="4876800"/>
            <a:ext cx="73152" cy="877824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644640" y="496214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Scanning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644640" y="531571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vulnerabilities before production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80082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 Example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9753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simple workflow that builds, tests, and deploys on every push.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975360" y="1280160"/>
            <a:ext cx="10241280" cy="5120640"/>
          </a:xfrm>
          <a:prstGeom prst="roundRect">
            <a:avLst>
              <a:gd name="adj" fmla="val 190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75360" y="1280160"/>
            <a:ext cx="10241280" cy="365760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80160" y="1377696"/>
            <a:ext cx="146304" cy="146304"/>
          </a:xfrm>
          <a:prstGeom prst="ellipse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511808" y="1377696"/>
            <a:ext cx="146304" cy="146304"/>
          </a:xfrm>
          <a:prstGeom prst="ellipse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743456" y="1377696"/>
            <a:ext cx="146304" cy="146304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011680" y="128016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67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1067" dirty="0"/>
          </a:p>
        </p:txBody>
      </p:sp>
      <p:sp>
        <p:nvSpPr>
          <p:cNvPr id="15" name="Text 13"/>
          <p:cNvSpPr/>
          <p:nvPr/>
        </p:nvSpPr>
        <p:spPr>
          <a:xfrm>
            <a:off x="1280160" y="1731264"/>
            <a:ext cx="9631680" cy="4511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CI/CD Pipeline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[push, pull_request]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ubuntu-latest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actions/checkout@v4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Run tests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npm test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Deploy
</a:t>
            </a:r>
            <a:r>
              <a:rPr lang="en-US" sz="14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github.ref == 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'refs/heads/main'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npm run deploy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36637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3657600" cy="268224"/>
          </a:xfrm>
          <a:prstGeom prst="roundRect">
            <a:avLst>
              <a:gd name="adj" fmla="val 36364"/>
            </a:avLst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36576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ADVANCED SECURITY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Your </a:t>
            </a:r>
            <a:r>
              <a:rPr lang="en-US" sz="3200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 Supply Chain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1582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7680" y="1158240"/>
            <a:ext cx="5303520" cy="48768"/>
          </a:xfrm>
          <a:prstGeom prst="rect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70560" y="13411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1219200" y="13411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Scanning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31520" y="18897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vulnerabilities and coding errors using CodeQL and third-party tools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0" y="11582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00800" y="1158240"/>
            <a:ext cx="5303520" cy="48768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3411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67" dirty="0"/>
          </a:p>
        </p:txBody>
      </p:sp>
      <p:sp>
        <p:nvSpPr>
          <p:cNvPr id="16" name="Text 14"/>
          <p:cNvSpPr/>
          <p:nvPr/>
        </p:nvSpPr>
        <p:spPr>
          <a:xfrm>
            <a:off x="7132320" y="13411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 Scanning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6644640" y="18897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 and prevent credential leaks — API keys, tokens, and passwords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7680" y="32918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7680" y="3291840"/>
            <a:ext cx="5303520" cy="487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0560" y="34747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1219200" y="34747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Dependabot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731520" y="40233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dependency updates with security alerts and pull requests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32918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00800" y="3291840"/>
            <a:ext cx="5303520" cy="4876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83680" y="34747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67" dirty="0"/>
          </a:p>
        </p:txBody>
      </p:sp>
      <p:sp>
        <p:nvSpPr>
          <p:cNvPr id="26" name="Text 24"/>
          <p:cNvSpPr/>
          <p:nvPr/>
        </p:nvSpPr>
        <p:spPr>
          <a:xfrm>
            <a:off x="7132320" y="34747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Advisories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6644640" y="40233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vulnerability reporting and coordinated disclosure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87680" y="5547360"/>
            <a:ext cx="11216640" cy="585216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1520" y="5547360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Find issues before production       ✓ Automated security fixes       ✓ Compliance and audit trails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640463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304800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30480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CODESPACES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Dev Environment, </a:t>
            </a:r>
            <a:r>
              <a:rPr lang="en-US" sz="3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Anywhere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9753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Cloud-based development environments, ready in seconds.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487680" y="1280160"/>
            <a:ext cx="5486400" cy="4998720"/>
          </a:xfrm>
          <a:prstGeom prst="roundRect">
            <a:avLst>
              <a:gd name="adj" fmla="val 195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4386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are Codespaces?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4400" y="215798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19200" y="207264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Cloud-based development environments</a:t>
            </a:r>
            <a:endParaRPr lang="en-US" sz="1533" dirty="0"/>
          </a:p>
        </p:txBody>
      </p:sp>
      <p:sp>
        <p:nvSpPr>
          <p:cNvPr id="13" name="Shape 11"/>
          <p:cNvSpPr/>
          <p:nvPr/>
        </p:nvSpPr>
        <p:spPr>
          <a:xfrm>
            <a:off x="914400" y="301142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19200" y="292608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Pre-configured and ready in seconds</a:t>
            </a:r>
            <a:endParaRPr lang="en-US" sz="1533" dirty="0"/>
          </a:p>
        </p:txBody>
      </p:sp>
      <p:sp>
        <p:nvSpPr>
          <p:cNvPr id="15" name="Shape 13"/>
          <p:cNvSpPr/>
          <p:nvPr/>
        </p:nvSpPr>
        <p:spPr>
          <a:xfrm>
            <a:off x="914400" y="386486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19200" y="377952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Visual Studio Code experience in the browser</a:t>
            </a:r>
            <a:endParaRPr lang="en-US" sz="1533" dirty="0"/>
          </a:p>
        </p:txBody>
      </p:sp>
      <p:sp>
        <p:nvSpPr>
          <p:cNvPr id="17" name="Shape 15"/>
          <p:cNvSpPr/>
          <p:nvPr/>
        </p:nvSpPr>
        <p:spPr>
          <a:xfrm>
            <a:off x="914400" y="471830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19200" y="463296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Customizable with devcontainers on any device</a:t>
            </a:r>
            <a:endParaRPr lang="en-US" sz="1533" dirty="0"/>
          </a:p>
        </p:txBody>
      </p:sp>
      <p:sp>
        <p:nvSpPr>
          <p:cNvPr id="19" name="Text 17"/>
          <p:cNvSpPr/>
          <p:nvPr/>
        </p:nvSpPr>
        <p:spPr>
          <a:xfrm>
            <a:off x="6339840" y="1280160"/>
            <a:ext cx="524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Codespaces?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339840" y="176784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39840" y="1767840"/>
            <a:ext cx="73152" cy="87782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644640" y="185318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from Anywhere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44640" y="221894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local setup — code from any browser</a:t>
            </a:r>
            <a:endParaRPr lang="en-US" sz="1267" dirty="0"/>
          </a:p>
        </p:txBody>
      </p:sp>
      <p:sp>
        <p:nvSpPr>
          <p:cNvPr id="24" name="Shape 22"/>
          <p:cNvSpPr/>
          <p:nvPr/>
        </p:nvSpPr>
        <p:spPr>
          <a:xfrm>
            <a:off x="6339840" y="280416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39840" y="2804160"/>
            <a:ext cx="73152" cy="87782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44640" y="288950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Consistent Environments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44640" y="325526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Eliminate 'works on my machine' problems</a:t>
            </a:r>
            <a:endParaRPr lang="en-US" sz="1267" dirty="0"/>
          </a:p>
        </p:txBody>
      </p:sp>
      <p:sp>
        <p:nvSpPr>
          <p:cNvPr id="28" name="Shape 26"/>
          <p:cNvSpPr/>
          <p:nvPr/>
        </p:nvSpPr>
        <p:spPr>
          <a:xfrm>
            <a:off x="6339840" y="384048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339840" y="3840480"/>
            <a:ext cx="73152" cy="87782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44640" y="392582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Onboarding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644640" y="429158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team members productive in minutes</a:t>
            </a:r>
            <a:endParaRPr lang="en-US" sz="1267" dirty="0"/>
          </a:p>
        </p:txBody>
      </p:sp>
      <p:sp>
        <p:nvSpPr>
          <p:cNvPr id="32" name="Shape 30"/>
          <p:cNvSpPr/>
          <p:nvPr/>
        </p:nvSpPr>
        <p:spPr>
          <a:xfrm>
            <a:off x="6339840" y="487680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339840" y="4876800"/>
            <a:ext cx="73152" cy="877824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644640" y="496214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Compute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644640" y="532790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 from 2-core to 32-core on demand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172775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975360" y="7071360"/>
            <a:ext cx="2682240" cy="268224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365760"/>
            <a:ext cx="3169920" cy="316992"/>
          </a:xfrm>
          <a:prstGeom prst="roundRect">
            <a:avLst>
              <a:gd name="adj" fmla="val 30769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365760"/>
            <a:ext cx="316992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ENTERPRISE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79248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</a:t>
            </a:r>
            <a:r>
              <a:rPr lang="en-US" sz="37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Organizations</a:t>
            </a:r>
            <a:endParaRPr lang="en-US" sz="3733" dirty="0"/>
          </a:p>
        </p:txBody>
      </p:sp>
      <p:sp>
        <p:nvSpPr>
          <p:cNvPr id="9" name="Text 7"/>
          <p:cNvSpPr/>
          <p:nvPr/>
        </p:nvSpPr>
        <p:spPr>
          <a:xfrm>
            <a:off x="487680" y="1341120"/>
            <a:ext cx="975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tools for teams of every size.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487680" y="201168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7680" y="2011680"/>
            <a:ext cx="3499104" cy="60960"/>
          </a:xfrm>
          <a:prstGeom prst="rect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25552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Security</a:t>
            </a:r>
            <a:endParaRPr lang="en-US" sz="1867" dirty="0"/>
          </a:p>
        </p:txBody>
      </p:sp>
      <p:sp>
        <p:nvSpPr>
          <p:cNvPr id="13" name="Text 11"/>
          <p:cNvSpPr/>
          <p:nvPr/>
        </p:nvSpPr>
        <p:spPr>
          <a:xfrm>
            <a:off x="731520" y="280416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2, FedRAMP, and industry-leading compliance certifications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52544" y="201168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52544" y="2011680"/>
            <a:ext cx="3499104" cy="60960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96384" y="225552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Auditing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4596384" y="280416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Detailed audit logs, API access, and comprehensive reporting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17408" y="201168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217408" y="2011680"/>
            <a:ext cx="3499104" cy="6096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61248" y="225552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SAML / SSO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8461248" y="280416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 with your identity provider for seamless authentication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7680" y="432816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7680" y="4328160"/>
            <a:ext cx="3499104" cy="6096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1520" y="457200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Support</a:t>
            </a:r>
            <a:endParaRPr lang="en-US" sz="1867" dirty="0"/>
          </a:p>
        </p:txBody>
      </p:sp>
      <p:sp>
        <p:nvSpPr>
          <p:cNvPr id="25" name="Text 23"/>
          <p:cNvSpPr/>
          <p:nvPr/>
        </p:nvSpPr>
        <p:spPr>
          <a:xfrm>
            <a:off x="731520" y="512064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24/7 priority support with dedicated SLA guarantees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352544" y="432816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352544" y="4328160"/>
            <a:ext cx="3499104" cy="60960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96384" y="457200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Collaboration</a:t>
            </a:r>
            <a:endParaRPr lang="en-US" sz="1867" dirty="0"/>
          </a:p>
        </p:txBody>
      </p:sp>
      <p:sp>
        <p:nvSpPr>
          <p:cNvPr id="29" name="Text 27"/>
          <p:cNvSpPr/>
          <p:nvPr/>
        </p:nvSpPr>
        <p:spPr>
          <a:xfrm>
            <a:off x="4596384" y="512064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owners, protected branches, required reviews, and draft PRs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17408" y="432816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217408" y="4328160"/>
            <a:ext cx="3499104" cy="60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461248" y="457200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Enforcement</a:t>
            </a:r>
            <a:endParaRPr lang="en-US" sz="1867" dirty="0"/>
          </a:p>
        </p:txBody>
      </p:sp>
      <p:sp>
        <p:nvSpPr>
          <p:cNvPr id="33" name="Text 31"/>
          <p:cNvSpPr/>
          <p:nvPr/>
        </p:nvSpPr>
        <p:spPr>
          <a:xfrm>
            <a:off x="8461248" y="512064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Organization-wide policies, rulesets, and governance at scale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7095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STORIES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Companies </a:t>
            </a:r>
            <a:r>
              <a:rPr lang="en-US" sz="3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Thriving with GitHub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097280"/>
            <a:ext cx="5486400" cy="3962400"/>
          </a:xfrm>
          <a:prstGeom prst="roundRect">
            <a:avLst>
              <a:gd name="adj" fmla="val 2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21920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Leaders</a:t>
            </a:r>
            <a:endParaRPr lang="en-US" sz="1867" dirty="0"/>
          </a:p>
        </p:txBody>
      </p:sp>
      <p:sp>
        <p:nvSpPr>
          <p:cNvPr id="10" name="Shape 8"/>
          <p:cNvSpPr/>
          <p:nvPr/>
        </p:nvSpPr>
        <p:spPr>
          <a:xfrm>
            <a:off x="731520" y="17678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17678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333" dirty="0"/>
          </a:p>
        </p:txBody>
      </p:sp>
      <p:sp>
        <p:nvSpPr>
          <p:cNvPr id="12" name="Shape 10"/>
          <p:cNvSpPr/>
          <p:nvPr/>
        </p:nvSpPr>
        <p:spPr>
          <a:xfrm>
            <a:off x="3291840" y="17678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0" y="17678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</a:t>
            </a:r>
            <a:endParaRPr lang="en-US" sz="1333" dirty="0"/>
          </a:p>
        </p:txBody>
      </p:sp>
      <p:sp>
        <p:nvSpPr>
          <p:cNvPr id="14" name="Shape 12"/>
          <p:cNvSpPr/>
          <p:nvPr/>
        </p:nvSpPr>
        <p:spPr>
          <a:xfrm>
            <a:off x="731520" y="23774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23774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</a:t>
            </a:r>
            <a:endParaRPr lang="en-US" sz="1333" dirty="0"/>
          </a:p>
        </p:txBody>
      </p:sp>
      <p:sp>
        <p:nvSpPr>
          <p:cNvPr id="16" name="Shape 14"/>
          <p:cNvSpPr/>
          <p:nvPr/>
        </p:nvSpPr>
        <p:spPr>
          <a:xfrm>
            <a:off x="3291840" y="23774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23774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</a:t>
            </a:r>
            <a:endParaRPr lang="en-US" sz="1333" dirty="0"/>
          </a:p>
        </p:txBody>
      </p:sp>
      <p:sp>
        <p:nvSpPr>
          <p:cNvPr id="18" name="Shape 16"/>
          <p:cNvSpPr/>
          <p:nvPr/>
        </p:nvSpPr>
        <p:spPr>
          <a:xfrm>
            <a:off x="731520" y="29870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29870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Spotify</a:t>
            </a:r>
            <a:endParaRPr lang="en-US" sz="1333" dirty="0"/>
          </a:p>
        </p:txBody>
      </p:sp>
      <p:sp>
        <p:nvSpPr>
          <p:cNvPr id="20" name="Shape 18"/>
          <p:cNvSpPr/>
          <p:nvPr/>
        </p:nvSpPr>
        <p:spPr>
          <a:xfrm>
            <a:off x="3291840" y="29870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91840" y="29870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Airbnb</a:t>
            </a:r>
            <a:endParaRPr lang="en-US" sz="1333" dirty="0"/>
          </a:p>
        </p:txBody>
      </p:sp>
      <p:sp>
        <p:nvSpPr>
          <p:cNvPr id="22" name="Shape 20"/>
          <p:cNvSpPr/>
          <p:nvPr/>
        </p:nvSpPr>
        <p:spPr>
          <a:xfrm>
            <a:off x="731520" y="35966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1520" y="35966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Shopify</a:t>
            </a:r>
            <a:endParaRPr lang="en-US" sz="1333" dirty="0"/>
          </a:p>
        </p:txBody>
      </p:sp>
      <p:sp>
        <p:nvSpPr>
          <p:cNvPr id="24" name="Shape 22"/>
          <p:cNvSpPr/>
          <p:nvPr/>
        </p:nvSpPr>
        <p:spPr>
          <a:xfrm>
            <a:off x="3291840" y="35966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91840" y="35966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Stripe</a:t>
            </a:r>
            <a:endParaRPr lang="en-US" sz="1333" dirty="0"/>
          </a:p>
        </p:txBody>
      </p:sp>
      <p:sp>
        <p:nvSpPr>
          <p:cNvPr id="26" name="Text 24"/>
          <p:cNvSpPr/>
          <p:nvPr/>
        </p:nvSpPr>
        <p:spPr>
          <a:xfrm>
            <a:off x="731520" y="4389120"/>
            <a:ext cx="463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...and thousands of startups worldwide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39840" y="1097280"/>
            <a:ext cx="5303520" cy="3962400"/>
          </a:xfrm>
          <a:prstGeom prst="roundRect">
            <a:avLst>
              <a:gd name="adj" fmla="val 2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83680" y="1219200"/>
            <a:ext cx="463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Southeast Asia</a:t>
            </a:r>
            <a:endParaRPr lang="en-US" sz="1867" dirty="0"/>
          </a:p>
        </p:txBody>
      </p:sp>
      <p:sp>
        <p:nvSpPr>
          <p:cNvPr id="29" name="Shape 27"/>
          <p:cNvSpPr/>
          <p:nvPr/>
        </p:nvSpPr>
        <p:spPr>
          <a:xfrm>
            <a:off x="6766560" y="1840992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071360" y="1767840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Fintech &amp; E-commerce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7071360" y="2109216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platforms building on GitHub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766560" y="2596896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071360" y="2523744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 Projects</a:t>
            </a:r>
            <a:endParaRPr lang="en-US" sz="1467" dirty="0"/>
          </a:p>
        </p:txBody>
      </p:sp>
      <p:sp>
        <p:nvSpPr>
          <p:cNvPr id="34" name="Text 32"/>
          <p:cNvSpPr/>
          <p:nvPr/>
        </p:nvSpPr>
        <p:spPr>
          <a:xfrm>
            <a:off x="7071360" y="2865120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 initiatives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766560" y="3352800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71360" y="3279648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Education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7071360" y="3621024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Universities and coding bootcamps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766560" y="410870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071360" y="4035552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 Growth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7071360" y="4376928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Rapidly expanding contributions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87680" y="5364480"/>
            <a:ext cx="11155680" cy="79248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1520" y="5364480"/>
            <a:ext cx="10728960" cy="792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6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</a:t>
            </a: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Fortune 100 trust GitHub  •  </a:t>
            </a:r>
            <a:r>
              <a:rPr lang="en-US" sz="26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100M+</a:t>
            </a: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developers worldwide</a:t>
            </a:r>
            <a:endParaRPr lang="en-US" sz="2667" dirty="0"/>
          </a:p>
        </p:txBody>
      </p:sp>
    </p:spTree>
    <p:extLst>
      <p:ext uri="{BB962C8B-B14F-4D97-AF65-F5344CB8AC3E}">
        <p14:creationId xmlns:p14="http://schemas.microsoft.com/office/powerpoint/2010/main" val="288236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GETTING STARTED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Journey </a:t>
            </a:r>
            <a:r>
              <a:rPr lang="en-US" sz="3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Begins Here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097280"/>
            <a:ext cx="5486400" cy="5120640"/>
          </a:xfrm>
          <a:prstGeom prst="roundRect">
            <a:avLst>
              <a:gd name="adj" fmla="val 190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243584"/>
            <a:ext cx="3048000" cy="304800"/>
          </a:xfrm>
          <a:prstGeom prst="roundRect">
            <a:avLst>
              <a:gd name="adj" fmla="val 24000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243584"/>
            <a:ext cx="30480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INDIVIDUAL DEVELOPERS</a:t>
            </a:r>
            <a:endParaRPr lang="en-US" sz="933" dirty="0"/>
          </a:p>
        </p:txBody>
      </p:sp>
      <p:sp>
        <p:nvSpPr>
          <p:cNvPr id="11" name="Shape 9"/>
          <p:cNvSpPr/>
          <p:nvPr/>
        </p:nvSpPr>
        <p:spPr>
          <a:xfrm>
            <a:off x="853440" y="1828800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3440" y="1828800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24000" y="1828800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free account at github.com</a:t>
            </a:r>
            <a:endParaRPr lang="en-US" sz="1467" dirty="0"/>
          </a:p>
        </p:txBody>
      </p:sp>
      <p:sp>
        <p:nvSpPr>
          <p:cNvPr id="14" name="Shape 12"/>
          <p:cNvSpPr/>
          <p:nvPr/>
        </p:nvSpPr>
        <p:spPr>
          <a:xfrm>
            <a:off x="1072896" y="2316480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53440" y="2779776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53440" y="2779776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24000" y="2779776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GitHub Copilot (free trial available)</a:t>
            </a:r>
            <a:endParaRPr lang="en-US" sz="1467" dirty="0"/>
          </a:p>
        </p:txBody>
      </p:sp>
      <p:sp>
        <p:nvSpPr>
          <p:cNvPr id="18" name="Shape 16"/>
          <p:cNvSpPr/>
          <p:nvPr/>
        </p:nvSpPr>
        <p:spPr>
          <a:xfrm>
            <a:off x="1072896" y="3267456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3440" y="3730752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53440" y="3730752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24000" y="3730752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 public repositories</a:t>
            </a:r>
            <a:endParaRPr lang="en-US" sz="1467" dirty="0"/>
          </a:p>
        </p:txBody>
      </p:sp>
      <p:sp>
        <p:nvSpPr>
          <p:cNvPr id="22" name="Shape 20"/>
          <p:cNvSpPr/>
          <p:nvPr/>
        </p:nvSpPr>
        <p:spPr>
          <a:xfrm>
            <a:off x="1072896" y="4218432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3440" y="4681728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53440" y="4681728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24000" y="4681728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Contribute to open source</a:t>
            </a:r>
            <a:endParaRPr lang="en-US" sz="1467" dirty="0"/>
          </a:p>
        </p:txBody>
      </p:sp>
      <p:sp>
        <p:nvSpPr>
          <p:cNvPr id="26" name="Shape 24"/>
          <p:cNvSpPr/>
          <p:nvPr/>
        </p:nvSpPr>
        <p:spPr>
          <a:xfrm>
            <a:off x="6217920" y="1097280"/>
            <a:ext cx="5486400" cy="5120640"/>
          </a:xfrm>
          <a:prstGeom prst="roundRect">
            <a:avLst>
              <a:gd name="adj" fmla="val 1905"/>
            </a:avLst>
          </a:prstGeom>
          <a:solidFill>
            <a:srgbClr val="161B22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461760" y="1243584"/>
            <a:ext cx="3291840" cy="304800"/>
          </a:xfrm>
          <a:prstGeom prst="roundRect">
            <a:avLst>
              <a:gd name="adj" fmla="val 24000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61760" y="1243584"/>
            <a:ext cx="329184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TEAMS &amp; ORGANIZATIONS</a:t>
            </a:r>
            <a:endParaRPr lang="en-US" sz="933" dirty="0"/>
          </a:p>
        </p:txBody>
      </p:sp>
      <p:sp>
        <p:nvSpPr>
          <p:cNvPr id="29" name="Shape 27"/>
          <p:cNvSpPr/>
          <p:nvPr/>
        </p:nvSpPr>
        <p:spPr>
          <a:xfrm>
            <a:off x="6583680" y="1828800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583680" y="1828800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54240" y="1828800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your team's needs and workflows</a:t>
            </a:r>
            <a:endParaRPr lang="en-US" sz="1467" dirty="0"/>
          </a:p>
        </p:txBody>
      </p:sp>
      <p:sp>
        <p:nvSpPr>
          <p:cNvPr id="32" name="Shape 30"/>
          <p:cNvSpPr/>
          <p:nvPr/>
        </p:nvSpPr>
        <p:spPr>
          <a:xfrm>
            <a:off x="6803136" y="2316480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583680" y="2779776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583680" y="2779776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254240" y="2779776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a personalized demo</a:t>
            </a:r>
            <a:endParaRPr lang="en-US" sz="1467" dirty="0"/>
          </a:p>
        </p:txBody>
      </p:sp>
      <p:sp>
        <p:nvSpPr>
          <p:cNvPr id="36" name="Shape 34"/>
          <p:cNvSpPr/>
          <p:nvPr/>
        </p:nvSpPr>
        <p:spPr>
          <a:xfrm>
            <a:off x="6803136" y="3267456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0" y="3730752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583680" y="3730752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254240" y="3730752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migration and onboarding</a:t>
            </a:r>
            <a:endParaRPr lang="en-US" sz="1467" dirty="0"/>
          </a:p>
        </p:txBody>
      </p:sp>
      <p:sp>
        <p:nvSpPr>
          <p:cNvPr id="40" name="Shape 38"/>
          <p:cNvSpPr/>
          <p:nvPr/>
        </p:nvSpPr>
        <p:spPr>
          <a:xfrm>
            <a:off x="6803136" y="4218432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583680" y="4681728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83680" y="4681728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54240" y="4681728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 and enablement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1919702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 &amp; PLANS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Options </a:t>
            </a: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Every Team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70560" y="1097280"/>
            <a:ext cx="3535680" cy="5303520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70560" y="1280160"/>
            <a:ext cx="353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70560" y="170688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70560" y="2292096"/>
            <a:ext cx="353568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forever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6320" y="2682240"/>
            <a:ext cx="280416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292608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1280160" y="2926080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Unlimited public &amp; private repos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14400" y="3560064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1280160" y="3560064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(2,000 min/mo)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914400" y="419404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1280160" y="4194048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Codespaces (60 hrs/mo)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1280160" y="4828032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 support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14400" y="546201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280160" y="5462016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Dependabot alerts</a:t>
            </a:r>
            <a:endParaRPr lang="en-US" sz="1333" dirty="0"/>
          </a:p>
        </p:txBody>
      </p:sp>
      <p:sp>
        <p:nvSpPr>
          <p:cNvPr id="23" name="Shape 21"/>
          <p:cNvSpPr/>
          <p:nvPr/>
        </p:nvSpPr>
        <p:spPr>
          <a:xfrm>
            <a:off x="4511040" y="1097280"/>
            <a:ext cx="3535680" cy="5303520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0" y="938784"/>
            <a:ext cx="1584960" cy="292608"/>
          </a:xfrm>
          <a:prstGeom prst="roundRect">
            <a:avLst>
              <a:gd name="adj" fmla="val 25000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0" y="938784"/>
            <a:ext cx="158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POPULAR</a:t>
            </a:r>
            <a:endParaRPr lang="en-US" sz="933" dirty="0"/>
          </a:p>
        </p:txBody>
      </p:sp>
      <p:sp>
        <p:nvSpPr>
          <p:cNvPr id="26" name="Text 24"/>
          <p:cNvSpPr/>
          <p:nvPr/>
        </p:nvSpPr>
        <p:spPr>
          <a:xfrm>
            <a:off x="4511040" y="1280160"/>
            <a:ext cx="353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11040" y="170688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4511040" y="2292096"/>
            <a:ext cx="353568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user / month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76800" y="2682240"/>
            <a:ext cx="280416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54880" y="292608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1" name="Text 29"/>
          <p:cNvSpPr/>
          <p:nvPr/>
        </p:nvSpPr>
        <p:spPr>
          <a:xfrm>
            <a:off x="5120640" y="2926080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Free, plus:</a:t>
            </a:r>
            <a:endParaRPr lang="en-US" sz="1333" dirty="0"/>
          </a:p>
        </p:txBody>
      </p:sp>
      <p:sp>
        <p:nvSpPr>
          <p:cNvPr id="32" name="Text 30"/>
          <p:cNvSpPr/>
          <p:nvPr/>
        </p:nvSpPr>
        <p:spPr>
          <a:xfrm>
            <a:off x="4754880" y="3560064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3" name="Text 31"/>
          <p:cNvSpPr/>
          <p:nvPr/>
        </p:nvSpPr>
        <p:spPr>
          <a:xfrm>
            <a:off x="5120640" y="3560064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collaboration features</a:t>
            </a:r>
            <a:endParaRPr lang="en-US" sz="1333" dirty="0"/>
          </a:p>
        </p:txBody>
      </p:sp>
      <p:sp>
        <p:nvSpPr>
          <p:cNvPr id="34" name="Text 32"/>
          <p:cNvSpPr/>
          <p:nvPr/>
        </p:nvSpPr>
        <p:spPr>
          <a:xfrm>
            <a:off x="4754880" y="419404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5" name="Text 33"/>
          <p:cNvSpPr/>
          <p:nvPr/>
        </p:nvSpPr>
        <p:spPr>
          <a:xfrm>
            <a:off x="5120640" y="4194048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branches &amp; code owners</a:t>
            </a:r>
            <a:endParaRPr lang="en-US" sz="1333" dirty="0"/>
          </a:p>
        </p:txBody>
      </p:sp>
      <p:sp>
        <p:nvSpPr>
          <p:cNvPr id="36" name="Text 34"/>
          <p:cNvSpPr/>
          <p:nvPr/>
        </p:nvSpPr>
        <p:spPr>
          <a:xfrm>
            <a:off x="4754880" y="482803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7" name="Text 35"/>
          <p:cNvSpPr/>
          <p:nvPr/>
        </p:nvSpPr>
        <p:spPr>
          <a:xfrm>
            <a:off x="5120640" y="4828032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Required reviewers</a:t>
            </a:r>
            <a:endParaRPr lang="en-US" sz="1333" dirty="0"/>
          </a:p>
        </p:txBody>
      </p:sp>
      <p:sp>
        <p:nvSpPr>
          <p:cNvPr id="38" name="Text 36"/>
          <p:cNvSpPr/>
          <p:nvPr/>
        </p:nvSpPr>
        <p:spPr>
          <a:xfrm>
            <a:off x="4754880" y="546201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9" name="Text 37"/>
          <p:cNvSpPr/>
          <p:nvPr/>
        </p:nvSpPr>
        <p:spPr>
          <a:xfrm>
            <a:off x="5120640" y="5462016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 Actions min/month</a:t>
            </a:r>
            <a:endParaRPr lang="en-US" sz="1333" dirty="0"/>
          </a:p>
        </p:txBody>
      </p:sp>
      <p:sp>
        <p:nvSpPr>
          <p:cNvPr id="40" name="Shape 38"/>
          <p:cNvSpPr/>
          <p:nvPr/>
        </p:nvSpPr>
        <p:spPr>
          <a:xfrm>
            <a:off x="8351520" y="1097280"/>
            <a:ext cx="3535680" cy="5303520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8351520" y="1280160"/>
            <a:ext cx="353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8351520" y="170688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8351520" y="2292096"/>
            <a:ext cx="353568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717280" y="2682240"/>
            <a:ext cx="280416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595360" y="292608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46" name="Text 44"/>
          <p:cNvSpPr/>
          <p:nvPr/>
        </p:nvSpPr>
        <p:spPr>
          <a:xfrm>
            <a:off x="8961120" y="2926080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Team, plus:</a:t>
            </a:r>
            <a:endParaRPr lang="en-US" sz="1333" dirty="0"/>
          </a:p>
        </p:txBody>
      </p:sp>
      <p:sp>
        <p:nvSpPr>
          <p:cNvPr id="47" name="Text 45"/>
          <p:cNvSpPr/>
          <p:nvPr/>
        </p:nvSpPr>
        <p:spPr>
          <a:xfrm>
            <a:off x="8595360" y="3560064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48" name="Text 46"/>
          <p:cNvSpPr/>
          <p:nvPr/>
        </p:nvSpPr>
        <p:spPr>
          <a:xfrm>
            <a:off x="8961120" y="3560064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Advanced Security</a:t>
            </a:r>
            <a:endParaRPr lang="en-US" sz="1333" dirty="0"/>
          </a:p>
        </p:txBody>
      </p:sp>
      <p:sp>
        <p:nvSpPr>
          <p:cNvPr id="49" name="Text 47"/>
          <p:cNvSpPr/>
          <p:nvPr/>
        </p:nvSpPr>
        <p:spPr>
          <a:xfrm>
            <a:off x="8595360" y="419404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50" name="Text 48"/>
          <p:cNvSpPr/>
          <p:nvPr/>
        </p:nvSpPr>
        <p:spPr>
          <a:xfrm>
            <a:off x="8961120" y="4194048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24/7 support &amp; SLA</a:t>
            </a:r>
            <a:endParaRPr lang="en-US" sz="1333" dirty="0"/>
          </a:p>
        </p:txBody>
      </p:sp>
      <p:sp>
        <p:nvSpPr>
          <p:cNvPr id="51" name="Text 49"/>
          <p:cNvSpPr/>
          <p:nvPr/>
        </p:nvSpPr>
        <p:spPr>
          <a:xfrm>
            <a:off x="8595360" y="482803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52" name="Text 50"/>
          <p:cNvSpPr/>
          <p:nvPr/>
        </p:nvSpPr>
        <p:spPr>
          <a:xfrm>
            <a:off x="8961120" y="4828032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SAML SSO &amp; audit log API</a:t>
            </a:r>
            <a:endParaRPr lang="en-US" sz="1333" dirty="0"/>
          </a:p>
        </p:txBody>
      </p:sp>
      <p:sp>
        <p:nvSpPr>
          <p:cNvPr id="53" name="Text 51"/>
          <p:cNvSpPr/>
          <p:nvPr/>
        </p:nvSpPr>
        <p:spPr>
          <a:xfrm>
            <a:off x="8595360" y="546201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54" name="Text 52"/>
          <p:cNvSpPr/>
          <p:nvPr/>
        </p:nvSpPr>
        <p:spPr>
          <a:xfrm>
            <a:off x="8961120" y="5462016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success team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1451561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304800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30480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&amp; SUPPORT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More, </a:t>
            </a:r>
            <a:r>
              <a:rPr lang="en-US" sz="3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 Further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097280"/>
            <a:ext cx="3499104" cy="5303520"/>
          </a:xfrm>
          <a:prstGeom prst="roundRect">
            <a:avLst>
              <a:gd name="adj" fmla="val 278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7680" y="1097280"/>
            <a:ext cx="3499104" cy="487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316736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3984" y="188976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92480" y="203606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docs.github.com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792480" y="247497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documentation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3984" y="329184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2480" y="343814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skills.github.com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792480" y="387705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learning paths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3984" y="469392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92480" y="484022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Blog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792480" y="527913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news &amp; insights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2544" y="1097280"/>
            <a:ext cx="3499104" cy="5303520"/>
          </a:xfrm>
          <a:prstGeom prst="roundRect">
            <a:avLst>
              <a:gd name="adj" fmla="val 278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352544" y="1097280"/>
            <a:ext cx="3499104" cy="4876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96384" y="1316736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498848" y="188976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657344" y="203606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 Forum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4657344" y="247497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questions, share ideas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98848" y="329184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57344" y="343814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Education</a:t>
            </a:r>
            <a:endParaRPr lang="en-US" sz="1467" dirty="0"/>
          </a:p>
        </p:txBody>
      </p:sp>
      <p:sp>
        <p:nvSpPr>
          <p:cNvPr id="28" name="Text 26"/>
          <p:cNvSpPr/>
          <p:nvPr/>
        </p:nvSpPr>
        <p:spPr>
          <a:xfrm>
            <a:off x="4657344" y="387705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tools for students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98848" y="469392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657344" y="484022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Meetups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4657344" y="527913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in your area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17408" y="1097280"/>
            <a:ext cx="3499104" cy="5303520"/>
          </a:xfrm>
          <a:prstGeom prst="roundRect">
            <a:avLst>
              <a:gd name="adj" fmla="val 278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217408" y="1097280"/>
            <a:ext cx="3499104" cy="487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461248" y="1316736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8363712" y="188976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522208" y="203606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Sales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8522208" y="247497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github.com/enterprise/contact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363712" y="329184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522208" y="343814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8522208" y="387705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support.github.com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363712" y="469392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522208" y="484022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Team</a:t>
            </a:r>
            <a:endParaRPr lang="en-US" sz="1467" dirty="0"/>
          </a:p>
        </p:txBody>
      </p:sp>
      <p:sp>
        <p:nvSpPr>
          <p:cNvPr id="43" name="Text 41"/>
          <p:cNvSpPr/>
          <p:nvPr/>
        </p:nvSpPr>
        <p:spPr>
          <a:xfrm>
            <a:off x="8522208" y="527913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 support available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22387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144000" y="1219200"/>
            <a:ext cx="4876800" cy="48768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997440" y="1706880"/>
            <a:ext cx="3657600" cy="36576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1219200" y="4267200"/>
            <a:ext cx="3657600" cy="36576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365760"/>
            <a:ext cx="121920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365760"/>
            <a:ext cx="1219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 &amp; A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975360"/>
            <a:ext cx="85344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Questions?</a:t>
            </a:r>
            <a:endParaRPr lang="en-US" sz="5867" dirty="0"/>
          </a:p>
        </p:txBody>
      </p:sp>
      <p:sp>
        <p:nvSpPr>
          <p:cNvPr id="9" name="Text 7"/>
          <p:cNvSpPr/>
          <p:nvPr/>
        </p:nvSpPr>
        <p:spPr>
          <a:xfrm>
            <a:off x="487680" y="2011680"/>
            <a:ext cx="85344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We're here to help!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0960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9600" y="3413760"/>
            <a:ext cx="2499360" cy="487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9248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Questions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79248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Architecture, integrations, APIs</a:t>
            </a:r>
            <a:endParaRPr lang="en-US" sz="1267" dirty="0"/>
          </a:p>
        </p:txBody>
      </p:sp>
      <p:sp>
        <p:nvSpPr>
          <p:cNvPr id="14" name="Shape 12"/>
          <p:cNvSpPr/>
          <p:nvPr/>
        </p:nvSpPr>
        <p:spPr>
          <a:xfrm>
            <a:off x="341376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13760" y="3413760"/>
            <a:ext cx="2499360" cy="487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59664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 &amp; Licensing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359664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Plans, billing, volume discounts</a:t>
            </a:r>
            <a:endParaRPr lang="en-US" sz="1267" dirty="0"/>
          </a:p>
        </p:txBody>
      </p:sp>
      <p:sp>
        <p:nvSpPr>
          <p:cNvPr id="18" name="Shape 16"/>
          <p:cNvSpPr/>
          <p:nvPr/>
        </p:nvSpPr>
        <p:spPr>
          <a:xfrm>
            <a:off x="621792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3413760"/>
            <a:ext cx="2499360" cy="4876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 Support</a:t>
            </a:r>
            <a:endParaRPr lang="en-US" sz="1467" dirty="0"/>
          </a:p>
        </p:txBody>
      </p:sp>
      <p:sp>
        <p:nvSpPr>
          <p:cNvPr id="21" name="Text 19"/>
          <p:cNvSpPr/>
          <p:nvPr/>
        </p:nvSpPr>
        <p:spPr>
          <a:xfrm>
            <a:off x="640080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Moving to GitHub from other platforms</a:t>
            </a:r>
            <a:endParaRPr lang="en-US" sz="1267" dirty="0"/>
          </a:p>
        </p:txBody>
      </p:sp>
      <p:sp>
        <p:nvSpPr>
          <p:cNvPr id="22" name="Shape 20"/>
          <p:cNvSpPr/>
          <p:nvPr/>
        </p:nvSpPr>
        <p:spPr>
          <a:xfrm>
            <a:off x="902208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022080" y="3413760"/>
            <a:ext cx="2499360" cy="48768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20496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Practices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920496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Workflows, DevOps, security patterns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694174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534400" y="-609600"/>
            <a:ext cx="6096000" cy="60960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753600" y="0"/>
            <a:ext cx="4632960" cy="463296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1219200" y="4632960"/>
            <a:ext cx="3657600" cy="36576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243840"/>
            <a:ext cx="1828800" cy="268224"/>
          </a:xfrm>
          <a:prstGeom prst="roundRect">
            <a:avLst>
              <a:gd name="adj" fmla="val 36364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243840"/>
            <a:ext cx="18288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731520"/>
            <a:ext cx="8534400" cy="792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3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5333" dirty="0"/>
          </a:p>
        </p:txBody>
      </p:sp>
      <p:sp>
        <p:nvSpPr>
          <p:cNvPr id="9" name="Text 7"/>
          <p:cNvSpPr/>
          <p:nvPr/>
        </p:nvSpPr>
        <p:spPr>
          <a:xfrm>
            <a:off x="487680" y="1524000"/>
            <a:ext cx="853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Let's Build the Future </a:t>
            </a:r>
            <a:r>
              <a:rPr lang="en-US" sz="21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Together</a:t>
            </a:r>
            <a:endParaRPr lang="en-US" sz="2133" dirty="0"/>
          </a:p>
        </p:txBody>
      </p:sp>
      <p:sp>
        <p:nvSpPr>
          <p:cNvPr id="10" name="Shape 8"/>
          <p:cNvSpPr/>
          <p:nvPr/>
        </p:nvSpPr>
        <p:spPr>
          <a:xfrm>
            <a:off x="487680" y="2133600"/>
            <a:ext cx="5242560" cy="341376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292096"/>
            <a:ext cx="463296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Connected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92480" y="280416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1158240" y="280416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 us: @github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792480" y="338937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1158240" y="3389376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our developer community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792480" y="397459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1158240" y="3974592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Subscribe to GitHub updates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792480" y="455980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1158240" y="4559808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 future SEA events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6217920" y="2133600"/>
            <a:ext cx="5242560" cy="341376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1760" y="2292096"/>
            <a:ext cx="463296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 Information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6461760" y="2804160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Website</a:t>
            </a:r>
            <a:endParaRPr lang="en-US" sz="1267" dirty="0"/>
          </a:p>
        </p:txBody>
      </p:sp>
      <p:sp>
        <p:nvSpPr>
          <p:cNvPr id="23" name="Text 21"/>
          <p:cNvSpPr/>
          <p:nvPr/>
        </p:nvSpPr>
        <p:spPr>
          <a:xfrm>
            <a:off x="7802880" y="2804160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61760" y="3389376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267" dirty="0"/>
          </a:p>
        </p:txBody>
      </p:sp>
      <p:sp>
        <p:nvSpPr>
          <p:cNvPr id="25" name="Text 23"/>
          <p:cNvSpPr/>
          <p:nvPr/>
        </p:nvSpPr>
        <p:spPr>
          <a:xfrm>
            <a:off x="7802880" y="3389376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github.com/enterprise/contact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61760" y="3974592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1267" dirty="0"/>
          </a:p>
        </p:txBody>
      </p:sp>
      <p:sp>
        <p:nvSpPr>
          <p:cNvPr id="27" name="Text 25"/>
          <p:cNvSpPr/>
          <p:nvPr/>
        </p:nvSpPr>
        <p:spPr>
          <a:xfrm>
            <a:off x="7802880" y="3974592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support.github.com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61760" y="4559808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</a:t>
            </a:r>
            <a:endParaRPr lang="en-US" sz="1267" dirty="0"/>
          </a:p>
        </p:txBody>
      </p:sp>
      <p:sp>
        <p:nvSpPr>
          <p:cNvPr id="29" name="Text 27"/>
          <p:cNvSpPr/>
          <p:nvPr/>
        </p:nvSpPr>
        <p:spPr>
          <a:xfrm>
            <a:off x="7802880" y="4559808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 support available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0" y="60350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  |  South East Asia  |  #GitHubPartnerRoadshow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30320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975360" y="4876800"/>
            <a:ext cx="2438400" cy="24384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182880"/>
            <a:ext cx="207264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182880"/>
            <a:ext cx="207264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STEPS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Continue Your </a:t>
            </a: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Journey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60960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6304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6304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9248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a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79248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 deeper into features that matter to your team</a:t>
            </a:r>
            <a:endParaRPr lang="en-US" sz="1267" dirty="0"/>
          </a:p>
        </p:txBody>
      </p:sp>
      <p:sp>
        <p:nvSpPr>
          <p:cNvPr id="14" name="Shape 12"/>
          <p:cNvSpPr/>
          <p:nvPr/>
        </p:nvSpPr>
        <p:spPr>
          <a:xfrm>
            <a:off x="341376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6720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6720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359664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a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359664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GitHub Enterprise with a free trial</a:t>
            </a:r>
            <a:endParaRPr lang="en-US" sz="1267" dirty="0"/>
          </a:p>
        </p:txBody>
      </p:sp>
      <p:sp>
        <p:nvSpPr>
          <p:cNvPr id="19" name="Shape 17"/>
          <p:cNvSpPr/>
          <p:nvPr/>
        </p:nvSpPr>
        <p:spPr>
          <a:xfrm>
            <a:off x="621792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07136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7136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640080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Our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</a:t>
            </a:r>
            <a:endParaRPr lang="en-US" sz="1733" dirty="0"/>
          </a:p>
        </p:txBody>
      </p:sp>
      <p:sp>
        <p:nvSpPr>
          <p:cNvPr id="23" name="Text 21"/>
          <p:cNvSpPr/>
          <p:nvPr/>
        </p:nvSpPr>
        <p:spPr>
          <a:xfrm>
            <a:off x="640080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with developers across Southeast Asia</a:t>
            </a:r>
            <a:endParaRPr lang="en-US" sz="1267" dirty="0"/>
          </a:p>
        </p:txBody>
      </p:sp>
      <p:sp>
        <p:nvSpPr>
          <p:cNvPr id="24" name="Shape 22"/>
          <p:cNvSpPr/>
          <p:nvPr/>
        </p:nvSpPr>
        <p:spPr>
          <a:xfrm>
            <a:off x="902208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87552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87552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920496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Workshops</a:t>
            </a:r>
            <a:endParaRPr lang="en-US" sz="1733" dirty="0"/>
          </a:p>
        </p:txBody>
      </p:sp>
      <p:sp>
        <p:nvSpPr>
          <p:cNvPr id="28" name="Text 26"/>
          <p:cNvSpPr/>
          <p:nvPr/>
        </p:nvSpPr>
        <p:spPr>
          <a:xfrm>
            <a:off x="920496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 training sessions and deep dives</a:t>
            </a:r>
            <a:endParaRPr lang="en-US" sz="1267" dirty="0"/>
          </a:p>
        </p:txBody>
      </p:sp>
      <p:sp>
        <p:nvSpPr>
          <p:cNvPr id="29" name="Text 27"/>
          <p:cNvSpPr/>
          <p:nvPr/>
        </p:nvSpPr>
        <p:spPr>
          <a:xfrm>
            <a:off x="3230880" y="2316480"/>
            <a:ext cx="2438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035040" y="2316480"/>
            <a:ext cx="2438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839200" y="2316480"/>
            <a:ext cx="2438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1828800" y="4815840"/>
            <a:ext cx="8534400" cy="73152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828800" y="4815840"/>
            <a:ext cx="853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 for joining the </a:t>
            </a: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SEA Roadshow!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8522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C04E688-3D4B-C149-A2EC-4C6C3EF0115A}">
  <we:reference id="12345678-1234-1234-1234-123456789012" version="1.0.0.0" store="developer" storeType="Registry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1575</Words>
  <Application>Microsoft Macintosh PowerPoint</Application>
  <PresentationFormat>Widescreen</PresentationFormat>
  <Paragraphs>371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Smillie</dc:creator>
  <cp:lastModifiedBy>Benjamin Smillie</cp:lastModifiedBy>
  <cp:revision>5</cp:revision>
  <dcterms:created xsi:type="dcterms:W3CDTF">2026-03-19T02:29:25Z</dcterms:created>
  <dcterms:modified xsi:type="dcterms:W3CDTF">2026-03-19T03:22:23Z</dcterms:modified>
</cp:coreProperties>
</file>