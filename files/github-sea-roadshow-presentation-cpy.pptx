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60" r:id="rId4"/>
    <p:sldId id="261" r:id="rId5"/>
    <p:sldId id="262" r:id="rId6"/>
    <p:sldId id="276" r:id="rId7"/>
    <p:sldId id="277" r:id="rId8"/>
    <p:sldId id="278" r:id="rId9"/>
    <p:sldId id="279" r:id="rId10"/>
    <p:sldId id="280" r:id="rId11"/>
    <p:sldId id="268" r:id="rId12"/>
    <p:sldId id="281" r:id="rId13"/>
    <p:sldId id="282" r:id="rId14"/>
    <p:sldId id="283" r:id="rId15"/>
    <p:sldId id="284" r:id="rId16"/>
    <p:sldId id="285" r:id="rId17"/>
    <p:sldId id="286" r:id="rId18"/>
    <p:sldId id="287" r:id="rId19"/>
    <p:sldId id="28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77"/>
    <p:restoredTop sz="94661"/>
  </p:normalViewPr>
  <p:slideViewPr>
    <p:cSldViewPr snapToGrid="0">
      <p:cViewPr varScale="1">
        <p:scale>
          <a:sx n="103" d="100"/>
          <a:sy n="103" d="100"/>
        </p:scale>
        <p:origin x="200" y="1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96A07A-FDAC-994D-9D2D-952F759F40F6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8D540C-32FC-0943-8B04-0B388C2117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107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56E2A-2931-2676-D2CF-0561DC11CD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E6A824-DADC-4B6F-BF97-FD7F861C32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5E249-44DA-222E-2EB7-0CBDABE8F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A2459-814C-24DD-E4E7-72B29A039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D6E721-B6D5-8216-FF18-BEE4A1416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904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34D82-B793-7E2C-1834-F6D9C2F8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FAD446-107C-2240-EEF2-138AE963D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64E1DF-4E14-B1B8-512C-8AB0316B0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9E84E-7E84-3B92-4258-950E2F1EA5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82FEBB-2FEC-8DC0-5A0D-D292D5B6E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8873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35FAA-059F-3E89-7522-3709CAD29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936CF2-D452-9083-D4BF-84FBE9E1CA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BC3071-6DEE-14DC-82AE-043B7F758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C53254-B779-E219-69F1-25DAA0DC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7B14E6-EC84-69CF-AE1C-25EB34A6C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344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B9720-C565-A5FA-CE32-0885997A0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8F51-371E-85D5-210A-5DDD68AC54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7B56F0-BF44-DFB0-900D-E2BAC89DFC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231015-4B3A-E6C8-CAE5-75B5600DB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141AE2-60DE-9164-ABE5-F48D79C0A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9DEF44-C1B1-C4E7-CC86-CEA9C0ADF5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493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8D854-AC23-B92D-D8E5-5AF66A065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FBDEC-5C5F-C7F3-E178-98376714B5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1A4C01-E18B-CB63-3F6A-BF0BDCF2B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A2037-AA01-45EE-60B9-0AE5536888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E2660-255D-8582-8D0F-F5EEF0431C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B87212-FE30-B5D0-9D36-261CB541C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8AABFC-C1FF-4EBA-A0A9-935814095E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7A18E1-6B1B-033A-A7B4-77FCE0A45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50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FFB7AB-3D67-F160-D8AF-A59A470C6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BBB8B1-A494-C981-47F2-DA25D9384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331CF-3037-F4F2-6776-F899C0708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0F6566-632C-459C-E3A8-9CE3FA897D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30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26242B-4654-ABBB-C71E-98D175A3EC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33E709C-B119-418E-FD94-BE38ADA929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754693-B3E7-17EE-2DBA-AC97A1425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3849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157FA-D9FC-BCEF-B82C-156017A8E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E7996-2D84-884A-9F3D-EBA1BFA777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0F1C73-E65D-EA00-54EF-25CD73E7EE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06805-6587-4A46-EE8D-1E4DB25788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7BB8A0-B0B4-2DBE-85C3-1A00AE3008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BB7D28-9EA4-9E97-7A5B-1C90D034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46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8F8B9-4297-03C5-EA67-679A78FC8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A5105C-DC1B-5FA8-59C8-D25FABACD8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1D0260-E33B-85F3-C90A-3F61325E3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EC22B-B7F4-61A5-4292-909BFDA9F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90A8F-40CD-310B-6D93-47C4CD360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89AD39-3399-67F9-FA76-6278B60FF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77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C7AEF-4F15-3721-8854-E198C2C4F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2D3B2E-9AC5-67B2-83E9-5170A4C6F8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63665E-71C4-353D-3D02-2AFAFA2BB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85413-CB9E-88B5-4BE9-5683527AB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A88CCC-D935-C4E0-AAF8-8846957D2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804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D764684-A603-4667-2CA8-9B53BD6EDC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DEAC94-EAC3-EEED-B5FC-B5EA612592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7D941-A8AC-96C9-D657-F56BE60BDD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105590-5583-FA37-3FEF-A150736B1E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8E4EF6-9F9A-953E-23A2-A1D4419A5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818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1881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7FB16-F565-0B6F-6F2F-C3C08BE6B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0DDDE1-D179-E7BE-775A-A496C1495D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DA013D-1CC6-093F-C370-BC302A495D1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D93C2C-B44E-3D41-827B-DDE11363734A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8A681C-AFFB-097C-5317-4EEEA532B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0000A-D73F-A463-8348-616B7886D6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D85F8AC-3483-A24C-84DA-78AF1A0940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4756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924800" y="-1828800"/>
            <a:ext cx="6096000" cy="60960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144000" y="-609600"/>
            <a:ext cx="3657600" cy="36576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-1828800" y="4267200"/>
            <a:ext cx="4876800" cy="4876800"/>
          </a:xfrm>
          <a:prstGeom prst="ellipse">
            <a:avLst/>
          </a:prstGeom>
          <a:solidFill>
            <a:srgbClr val="23863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https://github.githubassets.com/assets/GitHub-Mark-ea2971cee79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" y="609600"/>
            <a:ext cx="670560" cy="6705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84960" y="609600"/>
            <a:ext cx="243840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</a:t>
            </a:r>
            <a:endParaRPr lang="en-US" sz="2933" dirty="0"/>
          </a:p>
        </p:txBody>
      </p:sp>
      <p:sp>
        <p:nvSpPr>
          <p:cNvPr id="9" name="Shape 6"/>
          <p:cNvSpPr/>
          <p:nvPr/>
        </p:nvSpPr>
        <p:spPr>
          <a:xfrm>
            <a:off x="853440" y="1645920"/>
            <a:ext cx="304800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53440" y="2072640"/>
            <a:ext cx="3169920" cy="463296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53440" y="2072640"/>
            <a:ext cx="31699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PARTNER ROADSHOW 2026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3440" y="28041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b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5867" dirty="0"/>
          </a:p>
        </p:txBody>
      </p:sp>
      <p:sp>
        <p:nvSpPr>
          <p:cNvPr id="13" name="Text 10"/>
          <p:cNvSpPr/>
          <p:nvPr/>
        </p:nvSpPr>
        <p:spPr>
          <a:xfrm>
            <a:off x="853440" y="3718560"/>
            <a:ext cx="10363200" cy="10363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Partner Roadshow</a:t>
            </a:r>
            <a:endParaRPr lang="en-US" sz="5867" dirty="0"/>
          </a:p>
        </p:txBody>
      </p:sp>
      <p:sp>
        <p:nvSpPr>
          <p:cNvPr id="14" name="Text 11"/>
          <p:cNvSpPr/>
          <p:nvPr/>
        </p:nvSpPr>
        <p:spPr>
          <a:xfrm>
            <a:off x="853440" y="4754880"/>
            <a:ext cx="73152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Building the future of software, together.</a:t>
            </a:r>
            <a:endParaRPr lang="en-US" sz="2133" dirty="0"/>
          </a:p>
        </p:txBody>
      </p:sp>
      <p:sp>
        <p:nvSpPr>
          <p:cNvPr id="15" name="Shape 12"/>
          <p:cNvSpPr/>
          <p:nvPr/>
        </p:nvSpPr>
        <p:spPr>
          <a:xfrm>
            <a:off x="0" y="5913120"/>
            <a:ext cx="12192000" cy="950976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0" y="5913121"/>
            <a:ext cx="12192000" cy="14631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853440" y="5913120"/>
            <a:ext cx="268224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3413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19" name="Text 16"/>
          <p:cNvSpPr/>
          <p:nvPr/>
        </p:nvSpPr>
        <p:spPr>
          <a:xfrm>
            <a:off x="3657600" y="5913120"/>
            <a:ext cx="30480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 East Asia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61760" y="5913120"/>
            <a:ext cx="36576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|</a:t>
            </a:r>
            <a:endParaRPr lang="en-US" sz="1867" dirty="0"/>
          </a:p>
        </p:txBody>
      </p:sp>
      <p:sp>
        <p:nvSpPr>
          <p:cNvPr id="21" name="Text 18"/>
          <p:cNvSpPr/>
          <p:nvPr/>
        </p:nvSpPr>
        <p:spPr>
          <a:xfrm>
            <a:off x="6705600" y="5913120"/>
            <a:ext cx="3657600" cy="9509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#GitHubPartnerRoadshow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924800" y="67056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467" dirty="0">
                <a:solidFill>
                  <a:srgbClr val="3036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welcome(partners);</a:t>
            </a:r>
            <a:endParaRPr lang="en-US" sz="1467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144000" y="-2438400"/>
            <a:ext cx="5486400" cy="5486400"/>
          </a:xfrm>
          <a:prstGeom prst="ellipse">
            <a:avLst/>
          </a:prstGeom>
          <a:solidFill>
            <a:srgbClr val="1F6F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997440" y="-1219200"/>
            <a:ext cx="3048000" cy="3048000"/>
          </a:xfrm>
          <a:prstGeom prst="ellipse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09600" y="365760"/>
            <a:ext cx="3474720" cy="390144"/>
          </a:xfrm>
          <a:prstGeom prst="roundRect">
            <a:avLst>
              <a:gd name="adj" fmla="val 50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09600" y="365760"/>
            <a:ext cx="3474720" cy="3901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STATE OF THE OCTOVERSE 2025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609600" y="914400"/>
            <a:ext cx="109728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South East Asia Opportunity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09600" y="164592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is GitHub's fastest-growing region — and SEA is at the heart of it.</a:t>
            </a:r>
            <a:endParaRPr lang="en-US" sz="1667" dirty="0"/>
          </a:p>
        </p:txBody>
      </p:sp>
      <p:sp>
        <p:nvSpPr>
          <p:cNvPr id="10" name="Shape 8"/>
          <p:cNvSpPr/>
          <p:nvPr/>
        </p:nvSpPr>
        <p:spPr>
          <a:xfrm>
            <a:off x="60960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0960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+13M</a:t>
            </a:r>
            <a:endParaRPr lang="en-US" sz="4267" dirty="0"/>
          </a:p>
        </p:txBody>
      </p:sp>
      <p:sp>
        <p:nvSpPr>
          <p:cNvPr id="12" name="Text 10"/>
          <p:cNvSpPr/>
          <p:nvPr/>
        </p:nvSpPr>
        <p:spPr>
          <a:xfrm>
            <a:off x="60960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2025 alone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38912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8912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4267" dirty="0"/>
          </a:p>
        </p:txBody>
      </p:sp>
      <p:sp>
        <p:nvSpPr>
          <p:cNvPr id="15" name="Text 13"/>
          <p:cNvSpPr/>
          <p:nvPr/>
        </p:nvSpPr>
        <p:spPr>
          <a:xfrm>
            <a:off x="438912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 in Indonesia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0.9M in 2020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8168640" y="2377440"/>
            <a:ext cx="341376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168640" y="2499360"/>
            <a:ext cx="341376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267" b="1" dirty="0">
                <a:solidFill>
                  <a:srgbClr val="A371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~25/min</a:t>
            </a:r>
            <a:endParaRPr lang="en-US" sz="4267" dirty="0"/>
          </a:p>
        </p:txBody>
      </p:sp>
      <p:sp>
        <p:nvSpPr>
          <p:cNvPr id="18" name="Text 16"/>
          <p:cNvSpPr/>
          <p:nvPr/>
        </p:nvSpPr>
        <p:spPr>
          <a:xfrm>
            <a:off x="8168640" y="3108960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APAC developers</a:t>
            </a:r>
            <a:endParaRPr lang="en-US" sz="1333" dirty="0"/>
          </a:p>
          <a:p>
            <a:pPr marL="0" indent="0" algn="ctr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joining GitHub every minute</a:t>
            </a:r>
            <a:endParaRPr lang="en-US" sz="1333" dirty="0"/>
          </a:p>
        </p:txBody>
      </p:sp>
      <p:sp>
        <p:nvSpPr>
          <p:cNvPr id="19" name="Shape 17"/>
          <p:cNvSpPr/>
          <p:nvPr/>
        </p:nvSpPr>
        <p:spPr>
          <a:xfrm>
            <a:off x="609600" y="4047744"/>
            <a:ext cx="10972800" cy="121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09600" y="420624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MARKET HIGHLIGHTS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9600" y="4632960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Country</a:t>
            </a:r>
            <a:endParaRPr lang="en-US" sz="1133" dirty="0"/>
          </a:p>
        </p:txBody>
      </p:sp>
      <p:sp>
        <p:nvSpPr>
          <p:cNvPr id="22" name="Text 20"/>
          <p:cNvSpPr/>
          <p:nvPr/>
        </p:nvSpPr>
        <p:spPr>
          <a:xfrm>
            <a:off x="2682240" y="4632960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133" dirty="0"/>
          </a:p>
        </p:txBody>
      </p:sp>
      <p:sp>
        <p:nvSpPr>
          <p:cNvPr id="23" name="Text 21"/>
          <p:cNvSpPr/>
          <p:nvPr/>
        </p:nvSpPr>
        <p:spPr>
          <a:xfrm>
            <a:off x="4145280" y="4632960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33" b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YoY Growth</a:t>
            </a:r>
            <a:endParaRPr lang="en-US" sz="1133" dirty="0"/>
          </a:p>
        </p:txBody>
      </p:sp>
      <p:sp>
        <p:nvSpPr>
          <p:cNvPr id="24" name="Shape 22"/>
          <p:cNvSpPr/>
          <p:nvPr/>
        </p:nvSpPr>
        <p:spPr>
          <a:xfrm>
            <a:off x="609600" y="4974337"/>
            <a:ext cx="4876800" cy="9753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9600" y="5023104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🇮🇩  Indonesia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2682240" y="5023104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4.37M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4145280" y="5023104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386%*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609600" y="5413248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🇵🇭  Philippines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2682240" y="5413248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1.7M+</a:t>
            </a:r>
            <a:endParaRPr lang="en-US" sz="1267" dirty="0"/>
          </a:p>
        </p:txBody>
      </p:sp>
      <p:sp>
        <p:nvSpPr>
          <p:cNvPr id="30" name="Text 28"/>
          <p:cNvSpPr/>
          <p:nvPr/>
        </p:nvSpPr>
        <p:spPr>
          <a:xfrm>
            <a:off x="4145280" y="5413248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▲ 29%</a:t>
            </a:r>
            <a:endParaRPr lang="en-US" sz="1267" dirty="0"/>
          </a:p>
        </p:txBody>
      </p:sp>
      <p:sp>
        <p:nvSpPr>
          <p:cNvPr id="31" name="Text 29"/>
          <p:cNvSpPr/>
          <p:nvPr/>
        </p:nvSpPr>
        <p:spPr>
          <a:xfrm>
            <a:off x="609600" y="5803392"/>
            <a:ext cx="20726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🇸🇬  Singapore</a:t>
            </a:r>
            <a:endParaRPr lang="en-US" sz="1267" dirty="0"/>
          </a:p>
        </p:txBody>
      </p:sp>
      <p:sp>
        <p:nvSpPr>
          <p:cNvPr id="32" name="Text 30"/>
          <p:cNvSpPr/>
          <p:nvPr/>
        </p:nvSpPr>
        <p:spPr>
          <a:xfrm>
            <a:off x="2682240" y="5803392"/>
            <a:ext cx="146304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 density</a:t>
            </a:r>
            <a:endParaRPr lang="en-US" sz="1267" dirty="0"/>
          </a:p>
        </p:txBody>
      </p:sp>
      <p:sp>
        <p:nvSpPr>
          <p:cNvPr id="33" name="Text 31"/>
          <p:cNvSpPr/>
          <p:nvPr/>
        </p:nvSpPr>
        <p:spPr>
          <a:xfrm>
            <a:off x="4145280" y="5803392"/>
            <a:ext cx="13411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Hub</a:t>
            </a:r>
            <a:endParaRPr lang="en-US" sz="1267" dirty="0"/>
          </a:p>
        </p:txBody>
      </p:sp>
      <p:sp>
        <p:nvSpPr>
          <p:cNvPr id="34" name="Text 32"/>
          <p:cNvSpPr/>
          <p:nvPr/>
        </p:nvSpPr>
        <p:spPr>
          <a:xfrm>
            <a:off x="609600" y="6205728"/>
            <a:ext cx="3657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i="1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 5-year growth 2020–2025</a:t>
            </a:r>
            <a:endParaRPr lang="en-US" sz="933" dirty="0"/>
          </a:p>
        </p:txBody>
      </p:sp>
      <p:sp>
        <p:nvSpPr>
          <p:cNvPr id="35" name="Shape 33"/>
          <p:cNvSpPr/>
          <p:nvPr/>
        </p:nvSpPr>
        <p:spPr>
          <a:xfrm>
            <a:off x="6217920" y="4206240"/>
            <a:ext cx="5364480" cy="2255520"/>
          </a:xfrm>
          <a:prstGeom prst="roundRect">
            <a:avLst>
              <a:gd name="adj" fmla="val 43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522720" y="4328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SEA, Why Now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6522720" y="4693920"/>
            <a:ext cx="4815840" cy="1645920"/>
          </a:xfrm>
          <a:prstGeom prst="rect">
            <a:avLst/>
          </a:prstGeom>
          <a:noFill/>
          <a:ln/>
        </p:spPr>
        <p:txBody>
          <a:bodyPr wrap="square" rtlCol="0" anchor="t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Indonesia is SEA's digital powerhouse — accounting for nearly half the region's online economy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Singapore's National AI Strategy &amp; Smart Nation initiative drive enterprise demand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80% of new developers use GitHub Copilot within their first week</a:t>
            </a:r>
            <a:endParaRPr lang="en-US" sz="1200" dirty="0"/>
          </a:p>
          <a:p>
            <a:pPr marL="457189" indent="-457189">
              <a:spcAft>
                <a:spcPts val="267"/>
              </a:spcAft>
              <a:buSzPct val="100000"/>
              <a:buChar char="▪"/>
            </a:pPr>
            <a:r>
              <a:rPr lang="en-US" sz="1200" dirty="0">
                <a:solidFill>
                  <a:srgbClr val="C9D1D9"/>
                </a:solidFill>
              </a:rPr>
              <a:t>AI-assisted local-language tooling unlocking non-English developer communities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0" y="6278880"/>
            <a:ext cx="12192000" cy="512064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0" y="6278880"/>
            <a:ext cx="12192000" cy="1219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09600" y="6278880"/>
            <a:ext cx="73152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 Octoverse 2024 &amp; 2025  •  github.com/octoverse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05600" y="6278880"/>
            <a:ext cx="4876800" cy="51206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en-US" sz="1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180M+ developers worldwide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0" y="6790944"/>
            <a:ext cx="12192000" cy="73152"/>
          </a:xfrm>
          <a:prstGeom prst="rect">
            <a:avLst/>
          </a:prstGeom>
          <a:solidFill>
            <a:srgbClr val="A371F7"/>
          </a:solidFill>
          <a:ln/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126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243840"/>
            <a:ext cx="2926080" cy="304800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243840"/>
            <a:ext cx="29260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FEATURES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585216"/>
            <a:ext cx="804672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— </a:t>
            </a:r>
            <a:r>
              <a:rPr lang="en-US" sz="29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Command Your Craft</a:t>
            </a:r>
            <a:endParaRPr lang="en-US" sz="2933" dirty="0"/>
          </a:p>
        </p:txBody>
      </p:sp>
      <p:sp>
        <p:nvSpPr>
          <p:cNvPr id="8" name="Text 6"/>
          <p:cNvSpPr/>
          <p:nvPr/>
        </p:nvSpPr>
        <p:spPr>
          <a:xfrm>
            <a:off x="487680" y="1072896"/>
            <a:ext cx="80467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AI accelerator for every workflow — from the editor to the enterprise.</a:t>
            </a:r>
            <a:endParaRPr lang="en-US" sz="1267" dirty="0"/>
          </a:p>
        </p:txBody>
      </p:sp>
      <p:sp>
        <p:nvSpPr>
          <p:cNvPr id="9" name="Shape 7"/>
          <p:cNvSpPr/>
          <p:nvPr/>
        </p:nvSpPr>
        <p:spPr>
          <a:xfrm>
            <a:off x="9083040" y="243840"/>
            <a:ext cx="2560320" cy="999744"/>
          </a:xfrm>
          <a:prstGeom prst="roundRect">
            <a:avLst>
              <a:gd name="adj" fmla="val 97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083040" y="243840"/>
            <a:ext cx="2560320" cy="9997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85000"/>
              </a:lnSpc>
              <a:buNone/>
            </a:pP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to </a:t>
            </a:r>
            <a:r>
              <a:rPr lang="en-US" sz="29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faster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productivity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&amp; EDITOR</a:t>
            </a:r>
            <a:endParaRPr lang="en-US" sz="1067" dirty="0"/>
          </a:p>
        </p:txBody>
      </p:sp>
      <p:sp>
        <p:nvSpPr>
          <p:cNvPr id="13" name="Shape 11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32816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&amp; AUTOMATION</a:t>
            </a:r>
            <a:endParaRPr lang="en-US" sz="1067" dirty="0"/>
          </a:p>
        </p:txBody>
      </p:sp>
      <p:sp>
        <p:nvSpPr>
          <p:cNvPr id="15" name="Shape 13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solidFill>
            <a:srgbClr val="161B2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168640" y="1487424"/>
            <a:ext cx="35356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&amp; PLATFORM</a:t>
            </a:r>
            <a:endParaRPr lang="en-US" sz="1067" dirty="0"/>
          </a:p>
        </p:txBody>
      </p:sp>
      <p:sp>
        <p:nvSpPr>
          <p:cNvPr id="17" name="Text 15"/>
          <p:cNvSpPr/>
          <p:nvPr/>
        </p:nvSpPr>
        <p:spPr>
          <a:xfrm>
            <a:off x="58521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Inline AI suggestions as you type across all languages</a:t>
            </a:r>
            <a:endParaRPr lang="en-US" sz="1267" dirty="0"/>
          </a:p>
        </p:txBody>
      </p:sp>
      <p:sp>
        <p:nvSpPr>
          <p:cNvPr id="18" name="Text 16"/>
          <p:cNvSpPr/>
          <p:nvPr/>
        </p:nvSpPr>
        <p:spPr>
          <a:xfrm>
            <a:off x="58521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in IDE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Debug, explain &amp; ask questions in VS Code, JetBrains &amp; more</a:t>
            </a:r>
            <a:endParaRPr lang="en-US" sz="1267" dirty="0"/>
          </a:p>
        </p:txBody>
      </p:sp>
      <p:sp>
        <p:nvSpPr>
          <p:cNvPr id="19" name="Text 17"/>
          <p:cNvSpPr/>
          <p:nvPr/>
        </p:nvSpPr>
        <p:spPr>
          <a:xfrm>
            <a:off x="58521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Mode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Multi-file edits, validation &amp; autonomous iteration in editor</a:t>
            </a:r>
            <a:endParaRPr lang="en-US" sz="1267" dirty="0"/>
          </a:p>
        </p:txBody>
      </p:sp>
      <p:sp>
        <p:nvSpPr>
          <p:cNvPr id="20" name="Text 18"/>
          <p:cNvSpPr/>
          <p:nvPr/>
        </p:nvSpPr>
        <p:spPr>
          <a:xfrm>
            <a:off x="58521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Multi-LLM Choice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GPT, Claude, Gemini &amp; more — pick for speed, accuracy, or cost</a:t>
            </a:r>
            <a:endParaRPr lang="en-US" sz="1267" dirty="0"/>
          </a:p>
        </p:txBody>
      </p:sp>
      <p:sp>
        <p:nvSpPr>
          <p:cNvPr id="21" name="Text 19"/>
          <p:cNvSpPr/>
          <p:nvPr/>
        </p:nvSpPr>
        <p:spPr>
          <a:xfrm>
            <a:off x="442569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Coding Agents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issues to Copilot, Claude, or Codex — they code &amp; create PRs</a:t>
            </a:r>
            <a:endParaRPr lang="en-US" sz="1267" dirty="0"/>
          </a:p>
        </p:txBody>
      </p:sp>
      <p:sp>
        <p:nvSpPr>
          <p:cNvPr id="22" name="Text 20"/>
          <p:cNvSpPr/>
          <p:nvPr/>
        </p:nvSpPr>
        <p:spPr>
          <a:xfrm>
            <a:off x="442569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CLI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language in terminal — plans, builds &amp; executes workflows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442569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Review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PR reviews for all team members, even without a seat</a:t>
            </a:r>
            <a:endParaRPr lang="en-US" sz="1267" dirty="0"/>
          </a:p>
        </p:txBody>
      </p:sp>
      <p:sp>
        <p:nvSpPr>
          <p:cNvPr id="24" name="Text 22"/>
          <p:cNvSpPr/>
          <p:nvPr/>
        </p:nvSpPr>
        <p:spPr>
          <a:xfrm>
            <a:off x="442569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Autofix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Auto-detects &amp; fixes security vulnerabilities via Advanced Security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8266176" y="1853184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Spaces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knowledge from docs &amp; repos — keeps teams consistent</a:t>
            </a:r>
            <a:endParaRPr lang="en-US" sz="1267" dirty="0"/>
          </a:p>
        </p:txBody>
      </p:sp>
      <p:sp>
        <p:nvSpPr>
          <p:cNvPr id="26" name="Text 24"/>
          <p:cNvSpPr/>
          <p:nvPr/>
        </p:nvSpPr>
        <p:spPr>
          <a:xfrm>
            <a:off x="8266176" y="2633472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Integrations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MCP server connections — admin-controlled allow lists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8266176" y="3413760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Everywhere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Code · JetBrains · Visual Studio · GitHub.com · Mobile · CLI</a:t>
            </a:r>
            <a:endParaRPr lang="en-US" sz="1267" dirty="0"/>
          </a:p>
        </p:txBody>
      </p:sp>
      <p:sp>
        <p:nvSpPr>
          <p:cNvPr id="28" name="Text 26"/>
          <p:cNvSpPr/>
          <p:nvPr/>
        </p:nvSpPr>
        <p:spPr>
          <a:xfrm>
            <a:off x="8266176" y="4194048"/>
            <a:ext cx="3352800" cy="70713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12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&amp; IP Protection
</a:t>
            </a:r>
            <a:r>
              <a:rPr lang="en-US" sz="10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never trains models · IP indemnity · code reference filter</a:t>
            </a:r>
            <a:endParaRPr lang="en-US" sz="1267" dirty="0"/>
          </a:p>
        </p:txBody>
      </p:sp>
      <p:sp>
        <p:nvSpPr>
          <p:cNvPr id="29" name="Shape 27"/>
          <p:cNvSpPr/>
          <p:nvPr/>
        </p:nvSpPr>
        <p:spPr>
          <a:xfrm>
            <a:off x="416966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8010144" y="1536192"/>
            <a:ext cx="18288" cy="3364992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87680" y="5084064"/>
            <a:ext cx="11216640" cy="24384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7680" y="5181600"/>
            <a:ext cx="24384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 &amp; PRICING</a:t>
            </a:r>
            <a:endParaRPr lang="en-US" sz="1067" dirty="0"/>
          </a:p>
        </p:txBody>
      </p:sp>
      <p:sp>
        <p:nvSpPr>
          <p:cNvPr id="33" name="Shape 31"/>
          <p:cNvSpPr/>
          <p:nvPr/>
        </p:nvSpPr>
        <p:spPr>
          <a:xfrm>
            <a:off x="487680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09600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2K completions · 50 chats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2731008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852928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</a:t>
            </a:r>
            <a:r>
              <a:rPr lang="en-US" sz="12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★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$10/mo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completions &amp; chat</a:t>
            </a:r>
            <a:endParaRPr lang="en-US" sz="1467" dirty="0"/>
          </a:p>
        </p:txBody>
      </p:sp>
      <p:sp>
        <p:nvSpPr>
          <p:cNvPr id="37" name="Shape 35"/>
          <p:cNvSpPr/>
          <p:nvPr/>
        </p:nvSpPr>
        <p:spPr>
          <a:xfrm>
            <a:off x="4974336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096256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Pro+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Agents + premium models</a:t>
            </a:r>
            <a:endParaRPr lang="en-US" sz="1467" dirty="0"/>
          </a:p>
        </p:txBody>
      </p:sp>
      <p:sp>
        <p:nvSpPr>
          <p:cNvPr id="39" name="Shape 37"/>
          <p:cNvSpPr/>
          <p:nvPr/>
        </p:nvSpPr>
        <p:spPr>
          <a:xfrm>
            <a:off x="7217664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339584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$19/u/mo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 management + policies</a:t>
            </a:r>
            <a:endParaRPr lang="en-US" sz="1467" dirty="0"/>
          </a:p>
        </p:txBody>
      </p:sp>
      <p:sp>
        <p:nvSpPr>
          <p:cNvPr id="41" name="Shape 39"/>
          <p:cNvSpPr/>
          <p:nvPr/>
        </p:nvSpPr>
        <p:spPr>
          <a:xfrm>
            <a:off x="9460992" y="5474208"/>
            <a:ext cx="2097024" cy="670560"/>
          </a:xfrm>
          <a:prstGeom prst="roundRect">
            <a:avLst>
              <a:gd name="adj" fmla="val 1090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9582912" y="5474208"/>
            <a:ext cx="1914144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88000"/>
              </a:lnSpc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r>
              <a:rPr lang="en-US" sz="1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$39/u/mo
</a:t>
            </a:r>
            <a:r>
              <a:rPr lang="en-US" sz="10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platform + IP indemnity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487680" y="6242304"/>
            <a:ext cx="609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933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github.com/features/copilot · March 2026</a:t>
            </a:r>
            <a:endParaRPr lang="en-US" sz="933" dirty="0"/>
          </a:p>
        </p:txBody>
      </p:sp>
    </p:spTree>
    <p:extLst>
      <p:ext uri="{BB962C8B-B14F-4D97-AF65-F5344CB8AC3E}">
        <p14:creationId xmlns:p14="http://schemas.microsoft.com/office/powerpoint/2010/main" val="85104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365760"/>
            <a:ext cx="170688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365760"/>
            <a:ext cx="17068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Agenda</a:t>
            </a:r>
            <a:endParaRPr lang="en-US" sz="3733" dirty="0"/>
          </a:p>
        </p:txBody>
      </p:sp>
      <p:sp>
        <p:nvSpPr>
          <p:cNvPr id="8" name="Shape 6"/>
          <p:cNvSpPr/>
          <p:nvPr/>
        </p:nvSpPr>
        <p:spPr>
          <a:xfrm>
            <a:off x="48768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9248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9248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70688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 GitHub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170688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overview and capabilities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8768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9248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170688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170688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 development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48768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9248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9248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70688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170688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automation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644640" y="2109216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644640" y="2109216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559040" y="2011680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Security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7559040" y="2474976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Securing your code</a:t>
            </a:r>
            <a:endParaRPr lang="en-US" sz="1333" dirty="0"/>
          </a:p>
        </p:txBody>
      </p:sp>
      <p:sp>
        <p:nvSpPr>
          <p:cNvPr id="28" name="Shape 26"/>
          <p:cNvSpPr/>
          <p:nvPr/>
        </p:nvSpPr>
        <p:spPr>
          <a:xfrm>
            <a:off x="6339840" y="3438144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644640" y="3779520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779520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867" dirty="0"/>
          </a:p>
        </p:txBody>
      </p:sp>
      <p:sp>
        <p:nvSpPr>
          <p:cNvPr id="31" name="Text 29"/>
          <p:cNvSpPr/>
          <p:nvPr/>
        </p:nvSpPr>
        <p:spPr>
          <a:xfrm>
            <a:off x="7559040" y="3681984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867" dirty="0"/>
          </a:p>
        </p:txBody>
      </p:sp>
      <p:sp>
        <p:nvSpPr>
          <p:cNvPr id="32" name="Text 30"/>
          <p:cNvSpPr/>
          <p:nvPr/>
        </p:nvSpPr>
        <p:spPr>
          <a:xfrm>
            <a:off x="7559040" y="4145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development environments</a:t>
            </a:r>
            <a:endParaRPr lang="en-US" sz="1333" dirty="0"/>
          </a:p>
        </p:txBody>
      </p:sp>
      <p:sp>
        <p:nvSpPr>
          <p:cNvPr id="33" name="Shape 31"/>
          <p:cNvSpPr/>
          <p:nvPr/>
        </p:nvSpPr>
        <p:spPr>
          <a:xfrm>
            <a:off x="6339840" y="5108448"/>
            <a:ext cx="5120640" cy="1402080"/>
          </a:xfrm>
          <a:prstGeom prst="roundRect">
            <a:avLst>
              <a:gd name="adj" fmla="val 6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6644640" y="5449824"/>
            <a:ext cx="670560" cy="670560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644640" y="5449824"/>
            <a:ext cx="670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867" dirty="0"/>
          </a:p>
        </p:txBody>
      </p:sp>
      <p:sp>
        <p:nvSpPr>
          <p:cNvPr id="36" name="Text 34"/>
          <p:cNvSpPr/>
          <p:nvPr/>
        </p:nvSpPr>
        <p:spPr>
          <a:xfrm>
            <a:off x="7559040" y="5352288"/>
            <a:ext cx="3657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Q&amp;A</a:t>
            </a:r>
            <a:endParaRPr lang="en-US" sz="1867" dirty="0"/>
          </a:p>
        </p:txBody>
      </p:sp>
      <p:sp>
        <p:nvSpPr>
          <p:cNvPr id="37" name="Text 35"/>
          <p:cNvSpPr/>
          <p:nvPr/>
        </p:nvSpPr>
        <p:spPr>
          <a:xfrm>
            <a:off x="7559040" y="5815584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questions answered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38621558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6705600"/>
            <a:ext cx="3048000" cy="30480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243840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243840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GITHUB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World's Leading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AI-Powered</a:t>
            </a:r>
            <a:endParaRPr lang="en-US" sz="3733" dirty="0"/>
          </a:p>
          <a:p>
            <a:pPr marL="0" indent="0">
              <a:lnSpc>
                <a:spcPct val="95000"/>
              </a:lnSpc>
              <a:buNone/>
            </a:pP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Platform</a:t>
            </a:r>
            <a:endParaRPr lang="en-US" sz="3733" dirty="0"/>
          </a:p>
        </p:txBody>
      </p:sp>
      <p:sp>
        <p:nvSpPr>
          <p:cNvPr id="9" name="Shape 7"/>
          <p:cNvSpPr/>
          <p:nvPr/>
        </p:nvSpPr>
        <p:spPr>
          <a:xfrm>
            <a:off x="487680" y="1950720"/>
            <a:ext cx="73152" cy="3657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926336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i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is the world's leading AI-powered developer platform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7680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7680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endParaRPr lang="en-US" sz="5067" dirty="0"/>
          </a:p>
        </p:txBody>
      </p:sp>
      <p:sp>
        <p:nvSpPr>
          <p:cNvPr id="13" name="Text 11"/>
          <p:cNvSpPr/>
          <p:nvPr/>
        </p:nvSpPr>
        <p:spPr>
          <a:xfrm>
            <a:off x="487680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worldwide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55264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55264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330M+</a:t>
            </a:r>
            <a:endParaRPr lang="en-US" sz="5067" dirty="0"/>
          </a:p>
        </p:txBody>
      </p:sp>
      <p:sp>
        <p:nvSpPr>
          <p:cNvPr id="16" name="Text 14"/>
          <p:cNvSpPr/>
          <p:nvPr/>
        </p:nvSpPr>
        <p:spPr>
          <a:xfrm>
            <a:off x="3255264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repositories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GitHub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22848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022848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endParaRPr lang="en-US" sz="5067" dirty="0"/>
          </a:p>
        </p:txBody>
      </p:sp>
      <p:sp>
        <p:nvSpPr>
          <p:cNvPr id="19" name="Text 17"/>
          <p:cNvSpPr/>
          <p:nvPr/>
        </p:nvSpPr>
        <p:spPr>
          <a:xfrm>
            <a:off x="6022848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Fortune 100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790432" y="2682240"/>
            <a:ext cx="2560320" cy="2438400"/>
          </a:xfrm>
          <a:prstGeom prst="roundRect">
            <a:avLst>
              <a:gd name="adj" fmla="val 5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790432" y="2987040"/>
            <a:ext cx="256032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50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190+</a:t>
            </a:r>
            <a:endParaRPr lang="en-US" sz="5067" dirty="0"/>
          </a:p>
        </p:txBody>
      </p:sp>
      <p:sp>
        <p:nvSpPr>
          <p:cNvPr id="22" name="Text 20"/>
          <p:cNvSpPr/>
          <p:nvPr/>
        </p:nvSpPr>
        <p:spPr>
          <a:xfrm>
            <a:off x="8790432" y="4084320"/>
            <a:ext cx="256032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countries</a:t>
            </a:r>
            <a:endParaRPr lang="en-US" sz="16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6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users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87680" y="5608320"/>
            <a:ext cx="109728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733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competitive advantage developers ask for by name.</a:t>
            </a:r>
            <a:endParaRPr lang="en-US" sz="1733" dirty="0"/>
          </a:p>
        </p:txBody>
      </p:sp>
    </p:spTree>
    <p:extLst>
      <p:ext uri="{BB962C8B-B14F-4D97-AF65-F5344CB8AC3E}">
        <p14:creationId xmlns:p14="http://schemas.microsoft.com/office/powerpoint/2010/main" val="18280460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Copilot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Action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73152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in Action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6096000" cy="487680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7680" y="1280160"/>
            <a:ext cx="609600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9248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02412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25577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524000" y="1280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fibonacci.py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731520" y="1767840"/>
            <a:ext cx="5608320" cy="41452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Example: Copilot helping write a function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</a:t>
            </a:r>
            <a:r>
              <a:rPr lang="en-US" sz="1333" dirty="0">
                <a:solidFill>
                  <a:srgbClr val="D2A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(n):
</a:t>
            </a:r>
            <a:r>
              <a:rPr lang="en-US" sz="1333" dirty="0">
                <a:solidFill>
                  <a:srgbClr val="6A737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Copilot suggests the implementation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 &lt;= 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
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         + calculate_fibonacci(n</a:t>
            </a:r>
            <a:r>
              <a:rPr lang="en-US" sz="1333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r>
              <a:rPr lang="en-US" sz="1333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1333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6949440" y="1280160"/>
            <a:ext cx="469392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Topics</a:t>
            </a:r>
            <a:endParaRPr lang="en-US" sz="1733" dirty="0"/>
          </a:p>
        </p:txBody>
      </p:sp>
      <p:sp>
        <p:nvSpPr>
          <p:cNvPr id="17" name="Shape 15"/>
          <p:cNvSpPr/>
          <p:nvPr/>
        </p:nvSpPr>
        <p:spPr>
          <a:xfrm>
            <a:off x="6949440" y="1767840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949440" y="1767840"/>
            <a:ext cx="73152" cy="85344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254240" y="18409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Completion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7254240" y="219456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inline suggestions as you type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949440" y="2767584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949440" y="2767584"/>
            <a:ext cx="73152" cy="85344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254240" y="2840736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 Generation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7254240" y="319430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entire functions from comments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949440" y="3767328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49440" y="3767328"/>
            <a:ext cx="73152" cy="85344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254240" y="3840480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Creation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7254240" y="4194048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Auto-generate unit test suites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49440" y="4767072"/>
            <a:ext cx="4693920" cy="85344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949440" y="4767072"/>
            <a:ext cx="73152" cy="85344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7254240" y="4840224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1467" dirty="0"/>
          </a:p>
        </p:txBody>
      </p:sp>
      <p:sp>
        <p:nvSpPr>
          <p:cNvPr id="32" name="Text 30"/>
          <p:cNvSpPr/>
          <p:nvPr/>
        </p:nvSpPr>
        <p:spPr>
          <a:xfrm>
            <a:off x="7254240" y="5193792"/>
            <a:ext cx="414528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docs from code context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42214023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 Your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Made Simple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Features</a:t>
            </a:r>
            <a:endParaRPr lang="en-US" sz="1867" dirty="0"/>
          </a:p>
        </p:txBody>
      </p:sp>
      <p:sp>
        <p:nvSpPr>
          <p:cNvPr id="11" name="Shape 9"/>
          <p:cNvSpPr/>
          <p:nvPr/>
        </p:nvSpPr>
        <p:spPr>
          <a:xfrm>
            <a:off x="914400" y="2060448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1975104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Build, test, and deploy directly from GitHub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2767584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682240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Pre-built actions marketplace (15,000+ actions)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474720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389376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Matrix builds for multiple OS &amp; language versions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14400" y="4181856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096512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Self-hosted or GitHub-hosted cloud runners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914400" y="4888992"/>
            <a:ext cx="85344" cy="8534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219200" y="4803648"/>
            <a:ext cx="451104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triggers on any GitHub event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39840" y="1280160"/>
            <a:ext cx="52425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Popular Use Cases</a:t>
            </a:r>
            <a:endParaRPr lang="en-US" sz="1867" dirty="0"/>
          </a:p>
        </p:txBody>
      </p:sp>
      <p:sp>
        <p:nvSpPr>
          <p:cNvPr id="22" name="Shape 20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Testing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644640" y="220675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tests on every push and pull request</a:t>
            </a:r>
            <a:endParaRPr lang="en-US" sz="1267" dirty="0"/>
          </a:p>
        </p:txBody>
      </p:sp>
      <p:sp>
        <p:nvSpPr>
          <p:cNvPr id="26" name="Shape 24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Pipelines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644640" y="324307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to AWS, Azure, GCP, or any cloud</a:t>
            </a:r>
            <a:endParaRPr lang="en-US" sz="1267" dirty="0"/>
          </a:p>
        </p:txBody>
      </p:sp>
      <p:sp>
        <p:nvSpPr>
          <p:cNvPr id="30" name="Shape 28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Quality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644640" y="427939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 linting, formatting &amp; standards</a:t>
            </a:r>
            <a:endParaRPr lang="en-US" sz="1267" dirty="0"/>
          </a:p>
        </p:txBody>
      </p:sp>
      <p:sp>
        <p:nvSpPr>
          <p:cNvPr id="34" name="Shape 32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Scanning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6644640" y="5315712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vulnerabilities before production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8008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CI/CD Pipeline Example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simple workflow that builds, tests, and deploys on every push.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975360" y="1280160"/>
            <a:ext cx="1024128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75360" y="1280160"/>
            <a:ext cx="10241280" cy="365760"/>
          </a:xfrm>
          <a:prstGeom prst="rect">
            <a:avLst/>
          </a:prstGeom>
          <a:solidFill>
            <a:srgbClr val="2126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1280160" y="1377696"/>
            <a:ext cx="146304" cy="146304"/>
          </a:xfrm>
          <a:prstGeom prst="ellipse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1511808" y="1377696"/>
            <a:ext cx="146304" cy="146304"/>
          </a:xfrm>
          <a:prstGeom prst="ellipse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743456" y="1377696"/>
            <a:ext cx="146304" cy="146304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011680" y="128016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67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.github/workflows/ci.yml</a:t>
            </a:r>
            <a:endParaRPr lang="en-US" sz="1067" dirty="0"/>
          </a:p>
        </p:txBody>
      </p:sp>
      <p:sp>
        <p:nvSpPr>
          <p:cNvPr id="15" name="Text 13"/>
          <p:cNvSpPr/>
          <p:nvPr/>
        </p:nvSpPr>
        <p:spPr>
          <a:xfrm>
            <a:off x="1280160" y="1731264"/>
            <a:ext cx="9631680" cy="45110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CI/CD Pipeline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[push, pull_request]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ubuntu-latest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actions/checkout@v4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Run tests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test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name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Deploy
</a:t>
            </a:r>
            <a:r>
              <a:rPr lang="en-US" sz="1400" dirty="0">
                <a:solidFill>
                  <a:srgbClr val="FF7B7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</a:t>
            </a:r>
            <a:r>
              <a:rPr lang="en-US" sz="14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github.ref == 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'refs/heads/main'
</a:t>
            </a:r>
            <a:r>
              <a:rPr lang="en-US" sz="14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run</a:t>
            </a:r>
            <a:r>
              <a:rPr lang="en-US" sz="14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npm run deploy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366370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657600" cy="268224"/>
          </a:xfrm>
          <a:prstGeom prst="roundRect">
            <a:avLst>
              <a:gd name="adj" fmla="val 36364"/>
            </a:avLst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6576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Your </a:t>
            </a:r>
            <a:r>
              <a:rPr lang="en-US" sz="3200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Software Supply Chain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158240"/>
            <a:ext cx="5303520" cy="48768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7056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8514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1" name="Text 9"/>
          <p:cNvSpPr/>
          <p:nvPr/>
        </p:nvSpPr>
        <p:spPr>
          <a:xfrm>
            <a:off x="121920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Scanning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3152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vulnerabilities and coding errors using CodeQL and third-party tools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0" y="11582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400800" y="1158240"/>
            <a:ext cx="530352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583680" y="13411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6" name="Text 14"/>
          <p:cNvSpPr/>
          <p:nvPr/>
        </p:nvSpPr>
        <p:spPr>
          <a:xfrm>
            <a:off x="7132320" y="13411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Secret Scanning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6644640" y="18897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 and prevent credential leaks — API keys, tokens, and passwords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768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7680" y="3291840"/>
            <a:ext cx="530352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056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121920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73152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dependency updates with security alerts and pull requests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0" y="3291840"/>
            <a:ext cx="5303520" cy="1889760"/>
          </a:xfrm>
          <a:prstGeom prst="roundRect">
            <a:avLst>
              <a:gd name="adj" fmla="val 516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400800" y="3291840"/>
            <a:ext cx="530352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583680" y="3474720"/>
            <a:ext cx="5486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6" name="Text 24"/>
          <p:cNvSpPr/>
          <p:nvPr/>
        </p:nvSpPr>
        <p:spPr>
          <a:xfrm>
            <a:off x="7132320" y="347472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Advisories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6644640" y="4023360"/>
            <a:ext cx="4815840" cy="9144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vulnerability reporting and coordinated disclosure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87680" y="5547360"/>
            <a:ext cx="11216640" cy="585216"/>
          </a:xfrm>
          <a:prstGeom prst="roundRect">
            <a:avLst>
              <a:gd name="adj" fmla="val 125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31520" y="5547360"/>
            <a:ext cx="10728960" cy="58521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67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Find issues before production       ✓ Automated security fixes       ✓ Compliance and audit trails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640463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CODESPACES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109728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Dev Environment,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Anywhere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87680" y="926592"/>
            <a:ext cx="9753600" cy="2438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environments, ready in seconds.</a:t>
            </a:r>
            <a:endParaRPr lang="en-US" sz="1467" dirty="0"/>
          </a:p>
        </p:txBody>
      </p:sp>
      <p:sp>
        <p:nvSpPr>
          <p:cNvPr id="9" name="Shape 7"/>
          <p:cNvSpPr/>
          <p:nvPr/>
        </p:nvSpPr>
        <p:spPr>
          <a:xfrm>
            <a:off x="487680" y="1280160"/>
            <a:ext cx="5486400" cy="4998720"/>
          </a:xfrm>
          <a:prstGeom prst="roundRect">
            <a:avLst>
              <a:gd name="adj" fmla="val 195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438656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are Codespaces?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14400" y="215798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219200" y="207264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Cloud-based development environments</a:t>
            </a:r>
            <a:endParaRPr lang="en-US" sz="1533" dirty="0"/>
          </a:p>
        </p:txBody>
      </p:sp>
      <p:sp>
        <p:nvSpPr>
          <p:cNvPr id="13" name="Shape 11"/>
          <p:cNvSpPr/>
          <p:nvPr/>
        </p:nvSpPr>
        <p:spPr>
          <a:xfrm>
            <a:off x="914400" y="301142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219200" y="292608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Pre-configured and ready in seconds</a:t>
            </a:r>
            <a:endParaRPr lang="en-US" sz="1533" dirty="0"/>
          </a:p>
        </p:txBody>
      </p:sp>
      <p:sp>
        <p:nvSpPr>
          <p:cNvPr id="15" name="Shape 13"/>
          <p:cNvSpPr/>
          <p:nvPr/>
        </p:nvSpPr>
        <p:spPr>
          <a:xfrm>
            <a:off x="914400" y="386486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219200" y="377952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Visual Studio Code experience in the browser</a:t>
            </a:r>
            <a:endParaRPr lang="en-US" sz="1533" dirty="0"/>
          </a:p>
        </p:txBody>
      </p:sp>
      <p:sp>
        <p:nvSpPr>
          <p:cNvPr id="17" name="Shape 15"/>
          <p:cNvSpPr/>
          <p:nvPr/>
        </p:nvSpPr>
        <p:spPr>
          <a:xfrm>
            <a:off x="914400" y="47183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219200" y="4632960"/>
            <a:ext cx="451104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Customizable with devcontainers on any device</a:t>
            </a:r>
            <a:endParaRPr lang="en-US" sz="1533" dirty="0"/>
          </a:p>
        </p:txBody>
      </p:sp>
      <p:sp>
        <p:nvSpPr>
          <p:cNvPr id="19" name="Text 17"/>
          <p:cNvSpPr/>
          <p:nvPr/>
        </p:nvSpPr>
        <p:spPr>
          <a:xfrm>
            <a:off x="6339840" y="1280160"/>
            <a:ext cx="52425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Codespaces?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6339840" y="176784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39840" y="1767840"/>
            <a:ext cx="73152" cy="877824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644640" y="18531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from Anywhere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44640" y="22189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local setup — code from any browser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6339840" y="280416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339840" y="2804160"/>
            <a:ext cx="73152" cy="87782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644640" y="28895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Environments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644640" y="325526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Eliminate 'works on my machine' problems</a:t>
            </a:r>
            <a:endParaRPr lang="en-US" sz="1267" dirty="0"/>
          </a:p>
        </p:txBody>
      </p:sp>
      <p:sp>
        <p:nvSpPr>
          <p:cNvPr id="28" name="Shape 26"/>
          <p:cNvSpPr/>
          <p:nvPr/>
        </p:nvSpPr>
        <p:spPr>
          <a:xfrm>
            <a:off x="6339840" y="384048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339840" y="3840480"/>
            <a:ext cx="73152" cy="877824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644640" y="392582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Instant Onboarding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44640" y="429158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team members productive in minutes</a:t>
            </a:r>
            <a:endParaRPr lang="en-US" sz="1267" dirty="0"/>
          </a:p>
        </p:txBody>
      </p:sp>
      <p:sp>
        <p:nvSpPr>
          <p:cNvPr id="32" name="Shape 30"/>
          <p:cNvSpPr/>
          <p:nvPr/>
        </p:nvSpPr>
        <p:spPr>
          <a:xfrm>
            <a:off x="6339840" y="4876800"/>
            <a:ext cx="5303520" cy="877824"/>
          </a:xfrm>
          <a:prstGeom prst="roundRect">
            <a:avLst>
              <a:gd name="adj" fmla="val 833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339840" y="4876800"/>
            <a:ext cx="73152" cy="877824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644640" y="496214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Compute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644640" y="5327904"/>
            <a:ext cx="475488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Scale from 2-core to 32-core on demand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172775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0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7071360"/>
            <a:ext cx="2682240" cy="268224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3169920" cy="316992"/>
          </a:xfrm>
          <a:prstGeom prst="roundRect">
            <a:avLst>
              <a:gd name="adj" fmla="val 30769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3169920" cy="31699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ENTERPRISE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92480"/>
            <a:ext cx="9753600" cy="6096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</a:t>
            </a:r>
            <a:r>
              <a:rPr lang="en-US" sz="3733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Organizations</a:t>
            </a:r>
            <a:endParaRPr lang="en-US" sz="3733" dirty="0"/>
          </a:p>
        </p:txBody>
      </p:sp>
      <p:sp>
        <p:nvSpPr>
          <p:cNvPr id="9" name="Text 7"/>
          <p:cNvSpPr/>
          <p:nvPr/>
        </p:nvSpPr>
        <p:spPr>
          <a:xfrm>
            <a:off x="487680" y="1341120"/>
            <a:ext cx="975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7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Enterprise-grade tools for teams of every size.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487680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7680" y="2011680"/>
            <a:ext cx="3499104" cy="60960"/>
          </a:xfrm>
          <a:prstGeom prst="rect">
            <a:avLst/>
          </a:prstGeom>
          <a:solidFill>
            <a:srgbClr val="F8514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31520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Security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731520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SOC 2, FedRAMP, and industry-leading compliance certifications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52544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352544" y="2011680"/>
            <a:ext cx="3499104" cy="60960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96384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Auditing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4596384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Detailed audit logs, API access, and comprehensive reporting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217408" y="201168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217408" y="2011680"/>
            <a:ext cx="3499104" cy="6096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61248" y="225552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/ SSO</a:t>
            </a:r>
            <a:endParaRPr lang="en-US" sz="1867" dirty="0"/>
          </a:p>
        </p:txBody>
      </p:sp>
      <p:sp>
        <p:nvSpPr>
          <p:cNvPr id="21" name="Text 19"/>
          <p:cNvSpPr/>
          <p:nvPr/>
        </p:nvSpPr>
        <p:spPr>
          <a:xfrm>
            <a:off x="8461248" y="280416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Integrate with your identity provider for seamless authentication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7680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7680" y="4328160"/>
            <a:ext cx="3499104" cy="60960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Support</a:t>
            </a:r>
            <a:endParaRPr lang="en-US" sz="1867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24/7 priority support with dedicated SLA guarantees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352544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352544" y="4328160"/>
            <a:ext cx="3499104" cy="60960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596384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</a:t>
            </a:r>
            <a:endParaRPr lang="en-US" sz="1867" dirty="0"/>
          </a:p>
        </p:txBody>
      </p:sp>
      <p:sp>
        <p:nvSpPr>
          <p:cNvPr id="29" name="Text 27"/>
          <p:cNvSpPr/>
          <p:nvPr/>
        </p:nvSpPr>
        <p:spPr>
          <a:xfrm>
            <a:off x="4596384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owners, protected branches, required reviews, and draft PRs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217408" y="4328160"/>
            <a:ext cx="3499104" cy="2011680"/>
          </a:xfrm>
          <a:prstGeom prst="roundRect">
            <a:avLst>
              <a:gd name="adj" fmla="val 48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8217408" y="4328160"/>
            <a:ext cx="3499104" cy="6096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461248" y="4572000"/>
            <a:ext cx="301142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Policy Enforcement</a:t>
            </a:r>
            <a:endParaRPr lang="en-US" sz="1867" dirty="0"/>
          </a:p>
        </p:txBody>
      </p:sp>
      <p:sp>
        <p:nvSpPr>
          <p:cNvPr id="33" name="Text 31"/>
          <p:cNvSpPr/>
          <p:nvPr/>
        </p:nvSpPr>
        <p:spPr>
          <a:xfrm>
            <a:off x="8461248" y="5120640"/>
            <a:ext cx="3011424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Organization-wide policies, rulesets, and governance at scale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1709572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STORIES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Companies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Thriving with GitHub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121920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Leaders</a:t>
            </a:r>
            <a:endParaRPr lang="en-US" sz="1867" dirty="0"/>
          </a:p>
        </p:txBody>
      </p:sp>
      <p:sp>
        <p:nvSpPr>
          <p:cNvPr id="10" name="Shape 8"/>
          <p:cNvSpPr/>
          <p:nvPr/>
        </p:nvSpPr>
        <p:spPr>
          <a:xfrm>
            <a:off x="73152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333" dirty="0"/>
          </a:p>
        </p:txBody>
      </p:sp>
      <p:sp>
        <p:nvSpPr>
          <p:cNvPr id="12" name="Shape 10"/>
          <p:cNvSpPr/>
          <p:nvPr/>
        </p:nvSpPr>
        <p:spPr>
          <a:xfrm>
            <a:off x="3291840" y="17678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91840" y="17678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Google</a:t>
            </a:r>
            <a:endParaRPr lang="en-US" sz="1333" dirty="0"/>
          </a:p>
        </p:txBody>
      </p:sp>
      <p:sp>
        <p:nvSpPr>
          <p:cNvPr id="14" name="Shape 12"/>
          <p:cNvSpPr/>
          <p:nvPr/>
        </p:nvSpPr>
        <p:spPr>
          <a:xfrm>
            <a:off x="73152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3152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</a:t>
            </a:r>
            <a:endParaRPr lang="en-US" sz="1333" dirty="0"/>
          </a:p>
        </p:txBody>
      </p:sp>
      <p:sp>
        <p:nvSpPr>
          <p:cNvPr id="16" name="Shape 14"/>
          <p:cNvSpPr/>
          <p:nvPr/>
        </p:nvSpPr>
        <p:spPr>
          <a:xfrm>
            <a:off x="3291840" y="23774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91840" y="23774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Netflix</a:t>
            </a:r>
            <a:endParaRPr lang="en-US" sz="1333" dirty="0"/>
          </a:p>
        </p:txBody>
      </p:sp>
      <p:sp>
        <p:nvSpPr>
          <p:cNvPr id="18" name="Shape 16"/>
          <p:cNvSpPr/>
          <p:nvPr/>
        </p:nvSpPr>
        <p:spPr>
          <a:xfrm>
            <a:off x="73152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3152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Spotify</a:t>
            </a:r>
            <a:endParaRPr lang="en-US" sz="1333" dirty="0"/>
          </a:p>
        </p:txBody>
      </p:sp>
      <p:sp>
        <p:nvSpPr>
          <p:cNvPr id="20" name="Shape 18"/>
          <p:cNvSpPr/>
          <p:nvPr/>
        </p:nvSpPr>
        <p:spPr>
          <a:xfrm>
            <a:off x="3291840" y="29870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291840" y="29870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Airbnb</a:t>
            </a:r>
            <a:endParaRPr lang="en-US" sz="1333" dirty="0"/>
          </a:p>
        </p:txBody>
      </p:sp>
      <p:sp>
        <p:nvSpPr>
          <p:cNvPr id="22" name="Shape 20"/>
          <p:cNvSpPr/>
          <p:nvPr/>
        </p:nvSpPr>
        <p:spPr>
          <a:xfrm>
            <a:off x="73152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3152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Shopify</a:t>
            </a:r>
            <a:endParaRPr lang="en-US" sz="1333" dirty="0"/>
          </a:p>
        </p:txBody>
      </p:sp>
      <p:sp>
        <p:nvSpPr>
          <p:cNvPr id="24" name="Shape 22"/>
          <p:cNvSpPr/>
          <p:nvPr/>
        </p:nvSpPr>
        <p:spPr>
          <a:xfrm>
            <a:off x="3291840" y="3596640"/>
            <a:ext cx="2316480" cy="463296"/>
          </a:xfrm>
          <a:prstGeom prst="roundRect">
            <a:avLst>
              <a:gd name="adj" fmla="val 1578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91840" y="3596640"/>
            <a:ext cx="23164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Stripe</a:t>
            </a:r>
            <a:endParaRPr lang="en-US" sz="1333" dirty="0"/>
          </a:p>
        </p:txBody>
      </p:sp>
      <p:sp>
        <p:nvSpPr>
          <p:cNvPr id="26" name="Text 24"/>
          <p:cNvSpPr/>
          <p:nvPr/>
        </p:nvSpPr>
        <p:spPr>
          <a:xfrm>
            <a:off x="731520" y="438912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i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...and thousands of startups worldwide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339840" y="1097280"/>
            <a:ext cx="5303520" cy="3962400"/>
          </a:xfrm>
          <a:prstGeom prst="roundRect">
            <a:avLst>
              <a:gd name="adj" fmla="val 2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583680" y="121920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Southeast Asia</a:t>
            </a:r>
            <a:endParaRPr lang="en-US" sz="1867" dirty="0"/>
          </a:p>
        </p:txBody>
      </p:sp>
      <p:sp>
        <p:nvSpPr>
          <p:cNvPr id="29" name="Shape 27"/>
          <p:cNvSpPr/>
          <p:nvPr/>
        </p:nvSpPr>
        <p:spPr>
          <a:xfrm>
            <a:off x="6766560" y="1840992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7071360" y="1767840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Fintech &amp; E-commerce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7071360" y="2109216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platforms building on GitHub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766560" y="2596896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071360" y="2523744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Government Projects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7071360" y="2865120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transformation initiatives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766560" y="3352800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71360" y="3279648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Education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7071360" y="3621024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Universities and coding bootcamps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766560" y="4108704"/>
            <a:ext cx="85344" cy="85344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071360" y="4035552"/>
            <a:ext cx="42672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Source Growth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7071360" y="4376928"/>
            <a:ext cx="4267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Rapidly expanding contributions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87680" y="5364480"/>
            <a:ext cx="11155680" cy="792480"/>
          </a:xfrm>
          <a:prstGeom prst="roundRect">
            <a:avLst>
              <a:gd name="adj" fmla="val 12308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31520" y="5364480"/>
            <a:ext cx="1072896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of Fortune 100 trust GitHub  •  </a:t>
            </a:r>
            <a:r>
              <a:rPr lang="en-US" sz="26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100M+</a:t>
            </a:r>
            <a:r>
              <a:rPr lang="en-US" sz="13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developers worldwide</a:t>
            </a:r>
            <a:endParaRPr lang="en-US" sz="2667" dirty="0"/>
          </a:p>
        </p:txBody>
      </p:sp>
    </p:spTree>
    <p:extLst>
      <p:ext uri="{BB962C8B-B14F-4D97-AF65-F5344CB8AC3E}">
        <p14:creationId xmlns:p14="http://schemas.microsoft.com/office/powerpoint/2010/main" val="2882360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GETTING STARTED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Journey </a:t>
            </a:r>
            <a:r>
              <a:rPr lang="en-US" sz="32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Begins Here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31520" y="1243584"/>
            <a:ext cx="3048000" cy="3048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243584"/>
            <a:ext cx="304800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INDIVIDUAL DEVELOPERS</a:t>
            </a:r>
            <a:endParaRPr lang="en-US" sz="933" dirty="0"/>
          </a:p>
        </p:txBody>
      </p:sp>
      <p:sp>
        <p:nvSpPr>
          <p:cNvPr id="11" name="Shape 9"/>
          <p:cNvSpPr/>
          <p:nvPr/>
        </p:nvSpPr>
        <p:spPr>
          <a:xfrm>
            <a:off x="85344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5344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2400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 free account at github.com</a:t>
            </a:r>
            <a:endParaRPr lang="en-US" sz="1467" dirty="0"/>
          </a:p>
        </p:txBody>
      </p:sp>
      <p:sp>
        <p:nvSpPr>
          <p:cNvPr id="14" name="Shape 12"/>
          <p:cNvSpPr/>
          <p:nvPr/>
        </p:nvSpPr>
        <p:spPr>
          <a:xfrm>
            <a:off x="107289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5344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5344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2400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Try GitHub Copilot (free trial available)</a:t>
            </a:r>
            <a:endParaRPr lang="en-US" sz="1467" dirty="0"/>
          </a:p>
        </p:txBody>
      </p:sp>
      <p:sp>
        <p:nvSpPr>
          <p:cNvPr id="18" name="Shape 16"/>
          <p:cNvSpPr/>
          <p:nvPr/>
        </p:nvSpPr>
        <p:spPr>
          <a:xfrm>
            <a:off x="107289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85344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5344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52400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public repositories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107289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85344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5344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52400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Contribute to open source</a:t>
            </a:r>
            <a:endParaRPr lang="en-US" sz="1467" dirty="0"/>
          </a:p>
        </p:txBody>
      </p:sp>
      <p:sp>
        <p:nvSpPr>
          <p:cNvPr id="26" name="Shape 24"/>
          <p:cNvSpPr/>
          <p:nvPr/>
        </p:nvSpPr>
        <p:spPr>
          <a:xfrm>
            <a:off x="6217920" y="1097280"/>
            <a:ext cx="5486400" cy="5120640"/>
          </a:xfrm>
          <a:prstGeom prst="roundRect">
            <a:avLst>
              <a:gd name="adj" fmla="val 1905"/>
            </a:avLst>
          </a:prstGeom>
          <a:solidFill>
            <a:srgbClr val="161B22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461760" y="1243584"/>
            <a:ext cx="3291840" cy="304800"/>
          </a:xfrm>
          <a:prstGeom prst="roundRect">
            <a:avLst>
              <a:gd name="adj" fmla="val 24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461760" y="1243584"/>
            <a:ext cx="3291840" cy="30480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TEAMS &amp; ORGANIZATIONS</a:t>
            </a:r>
            <a:endParaRPr lang="en-US" sz="933" dirty="0"/>
          </a:p>
        </p:txBody>
      </p:sp>
      <p:sp>
        <p:nvSpPr>
          <p:cNvPr id="29" name="Shape 27"/>
          <p:cNvSpPr/>
          <p:nvPr/>
        </p:nvSpPr>
        <p:spPr>
          <a:xfrm>
            <a:off x="6583680" y="1828800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583680" y="1828800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54240" y="1828800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Assess your team's needs and workflows</a:t>
            </a:r>
            <a:endParaRPr lang="en-US" sz="1467" dirty="0"/>
          </a:p>
        </p:txBody>
      </p:sp>
      <p:sp>
        <p:nvSpPr>
          <p:cNvPr id="32" name="Shape 30"/>
          <p:cNvSpPr/>
          <p:nvPr/>
        </p:nvSpPr>
        <p:spPr>
          <a:xfrm>
            <a:off x="6803136" y="2316480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583680" y="2779776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6583680" y="2779776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54240" y="2779776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 personalized demo</a:t>
            </a:r>
            <a:endParaRPr lang="en-US" sz="1467" dirty="0"/>
          </a:p>
        </p:txBody>
      </p:sp>
      <p:sp>
        <p:nvSpPr>
          <p:cNvPr id="36" name="Shape 34"/>
          <p:cNvSpPr/>
          <p:nvPr/>
        </p:nvSpPr>
        <p:spPr>
          <a:xfrm>
            <a:off x="6803136" y="3267456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583680" y="3730752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583680" y="3730752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254240" y="3730752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migration and onboarding</a:t>
            </a:r>
            <a:endParaRPr lang="en-US" sz="1467" dirty="0"/>
          </a:p>
        </p:txBody>
      </p:sp>
      <p:sp>
        <p:nvSpPr>
          <p:cNvPr id="40" name="Shape 38"/>
          <p:cNvSpPr/>
          <p:nvPr/>
        </p:nvSpPr>
        <p:spPr>
          <a:xfrm>
            <a:off x="6803136" y="4218432"/>
            <a:ext cx="24384" cy="438912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583680" y="4681728"/>
            <a:ext cx="463296" cy="463296"/>
          </a:xfrm>
          <a:prstGeom prst="ellipse">
            <a:avLst/>
          </a:prstGeom>
          <a:solidFill>
            <a:srgbClr val="0D1117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583680" y="4681728"/>
            <a:ext cx="463296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54240" y="4681728"/>
            <a:ext cx="4145280" cy="46329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and enablement</a:t>
            </a:r>
            <a:endParaRPr lang="en-US" sz="1467" dirty="0"/>
          </a:p>
        </p:txBody>
      </p:sp>
    </p:spTree>
    <p:extLst>
      <p:ext uri="{BB962C8B-B14F-4D97-AF65-F5344CB8AC3E}">
        <p14:creationId xmlns:p14="http://schemas.microsoft.com/office/powerpoint/2010/main" val="19197025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256032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256032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PLANS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Flexible Options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Every Team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67056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7056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7056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$0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7056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forever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103632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4" name="Text 12"/>
          <p:cNvSpPr/>
          <p:nvPr/>
        </p:nvSpPr>
        <p:spPr>
          <a:xfrm>
            <a:off x="128016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Unlimited public &amp; private repos</a:t>
            </a:r>
            <a:endParaRPr lang="en-US" sz="1333" dirty="0"/>
          </a:p>
        </p:txBody>
      </p:sp>
      <p:sp>
        <p:nvSpPr>
          <p:cNvPr id="15" name="Text 13"/>
          <p:cNvSpPr/>
          <p:nvPr/>
        </p:nvSpPr>
        <p:spPr>
          <a:xfrm>
            <a:off x="91440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6" name="Text 14"/>
          <p:cNvSpPr/>
          <p:nvPr/>
        </p:nvSpPr>
        <p:spPr>
          <a:xfrm>
            <a:off x="128016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(2,000 min/mo)</a:t>
            </a:r>
            <a:endParaRPr lang="en-US" sz="1333" dirty="0"/>
          </a:p>
        </p:txBody>
      </p:sp>
      <p:sp>
        <p:nvSpPr>
          <p:cNvPr id="17" name="Text 15"/>
          <p:cNvSpPr/>
          <p:nvPr/>
        </p:nvSpPr>
        <p:spPr>
          <a:xfrm>
            <a:off x="91440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18" name="Text 16"/>
          <p:cNvSpPr/>
          <p:nvPr/>
        </p:nvSpPr>
        <p:spPr>
          <a:xfrm>
            <a:off x="128016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Codespaces (60 hrs/mo)</a:t>
            </a:r>
            <a:endParaRPr lang="en-US" sz="1333" dirty="0"/>
          </a:p>
        </p:txBody>
      </p:sp>
      <p:sp>
        <p:nvSpPr>
          <p:cNvPr id="19" name="Text 17"/>
          <p:cNvSpPr/>
          <p:nvPr/>
        </p:nvSpPr>
        <p:spPr>
          <a:xfrm>
            <a:off x="91440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128016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support</a:t>
            </a:r>
            <a:endParaRPr lang="en-US" sz="1333" dirty="0"/>
          </a:p>
        </p:txBody>
      </p:sp>
      <p:sp>
        <p:nvSpPr>
          <p:cNvPr id="21" name="Text 19"/>
          <p:cNvSpPr/>
          <p:nvPr/>
        </p:nvSpPr>
        <p:spPr>
          <a:xfrm>
            <a:off x="91440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22" name="Text 20"/>
          <p:cNvSpPr/>
          <p:nvPr/>
        </p:nvSpPr>
        <p:spPr>
          <a:xfrm>
            <a:off x="128016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Dependabot alerts</a:t>
            </a:r>
            <a:endParaRPr lang="en-US" sz="1333" dirty="0"/>
          </a:p>
        </p:txBody>
      </p:sp>
      <p:sp>
        <p:nvSpPr>
          <p:cNvPr id="23" name="Shape 21"/>
          <p:cNvSpPr/>
          <p:nvPr/>
        </p:nvSpPr>
        <p:spPr>
          <a:xfrm>
            <a:off x="451104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486400" y="938784"/>
            <a:ext cx="1584960" cy="292608"/>
          </a:xfrm>
          <a:prstGeom prst="roundRect">
            <a:avLst>
              <a:gd name="adj" fmla="val 25000"/>
            </a:avLst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938784"/>
            <a:ext cx="1584960" cy="292608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9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POPULAR</a:t>
            </a:r>
            <a:endParaRPr lang="en-US" sz="933" dirty="0"/>
          </a:p>
        </p:txBody>
      </p:sp>
      <p:sp>
        <p:nvSpPr>
          <p:cNvPr id="26" name="Text 24"/>
          <p:cNvSpPr/>
          <p:nvPr/>
        </p:nvSpPr>
        <p:spPr>
          <a:xfrm>
            <a:off x="451104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51104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451104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user / month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87680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75488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1" name="Text 29"/>
          <p:cNvSpPr/>
          <p:nvPr/>
        </p:nvSpPr>
        <p:spPr>
          <a:xfrm>
            <a:off x="512064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Free, plus:</a:t>
            </a:r>
            <a:endParaRPr lang="en-US" sz="1333" dirty="0"/>
          </a:p>
        </p:txBody>
      </p:sp>
      <p:sp>
        <p:nvSpPr>
          <p:cNvPr id="32" name="Text 30"/>
          <p:cNvSpPr/>
          <p:nvPr/>
        </p:nvSpPr>
        <p:spPr>
          <a:xfrm>
            <a:off x="475488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3" name="Text 31"/>
          <p:cNvSpPr/>
          <p:nvPr/>
        </p:nvSpPr>
        <p:spPr>
          <a:xfrm>
            <a:off x="512064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Advanced collaboration features</a:t>
            </a:r>
            <a:endParaRPr lang="en-US" sz="1333" dirty="0"/>
          </a:p>
        </p:txBody>
      </p:sp>
      <p:sp>
        <p:nvSpPr>
          <p:cNvPr id="34" name="Text 32"/>
          <p:cNvSpPr/>
          <p:nvPr/>
        </p:nvSpPr>
        <p:spPr>
          <a:xfrm>
            <a:off x="475488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5" name="Text 33"/>
          <p:cNvSpPr/>
          <p:nvPr/>
        </p:nvSpPr>
        <p:spPr>
          <a:xfrm>
            <a:off x="512064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branches &amp; code owners</a:t>
            </a:r>
            <a:endParaRPr lang="en-US" sz="1333" dirty="0"/>
          </a:p>
        </p:txBody>
      </p:sp>
      <p:sp>
        <p:nvSpPr>
          <p:cNvPr id="36" name="Text 34"/>
          <p:cNvSpPr/>
          <p:nvPr/>
        </p:nvSpPr>
        <p:spPr>
          <a:xfrm>
            <a:off x="475488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7" name="Text 35"/>
          <p:cNvSpPr/>
          <p:nvPr/>
        </p:nvSpPr>
        <p:spPr>
          <a:xfrm>
            <a:off x="512064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reviewers</a:t>
            </a:r>
            <a:endParaRPr lang="en-US" sz="1333" dirty="0"/>
          </a:p>
        </p:txBody>
      </p:sp>
      <p:sp>
        <p:nvSpPr>
          <p:cNvPr id="38" name="Text 36"/>
          <p:cNvSpPr/>
          <p:nvPr/>
        </p:nvSpPr>
        <p:spPr>
          <a:xfrm>
            <a:off x="475488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39" name="Text 37"/>
          <p:cNvSpPr/>
          <p:nvPr/>
        </p:nvSpPr>
        <p:spPr>
          <a:xfrm>
            <a:off x="512064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3,000 Actions min/month</a:t>
            </a:r>
            <a:endParaRPr lang="en-US" sz="1333" dirty="0"/>
          </a:p>
        </p:txBody>
      </p:sp>
      <p:sp>
        <p:nvSpPr>
          <p:cNvPr id="40" name="Shape 38"/>
          <p:cNvSpPr/>
          <p:nvPr/>
        </p:nvSpPr>
        <p:spPr>
          <a:xfrm>
            <a:off x="8351520" y="1097280"/>
            <a:ext cx="3535680" cy="5303520"/>
          </a:xfrm>
          <a:prstGeom prst="roundRect">
            <a:avLst>
              <a:gd name="adj" fmla="val 344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351520" y="1280160"/>
            <a:ext cx="353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2400" dirty="0"/>
          </a:p>
        </p:txBody>
      </p:sp>
      <p:sp>
        <p:nvSpPr>
          <p:cNvPr id="42" name="Text 40"/>
          <p:cNvSpPr/>
          <p:nvPr/>
        </p:nvSpPr>
        <p:spPr>
          <a:xfrm>
            <a:off x="8351520" y="1706880"/>
            <a:ext cx="353568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4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</a:t>
            </a:r>
            <a:endParaRPr lang="en-US" sz="4000" dirty="0"/>
          </a:p>
        </p:txBody>
      </p:sp>
      <p:sp>
        <p:nvSpPr>
          <p:cNvPr id="43" name="Text 41"/>
          <p:cNvSpPr/>
          <p:nvPr/>
        </p:nvSpPr>
        <p:spPr>
          <a:xfrm>
            <a:off x="8351520" y="2292096"/>
            <a:ext cx="353568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717280" y="2682240"/>
            <a:ext cx="2804160" cy="18288"/>
          </a:xfrm>
          <a:prstGeom prst="rect">
            <a:avLst/>
          </a:prstGeom>
          <a:solidFill>
            <a:srgbClr val="30363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8595360" y="292608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6" name="Text 44"/>
          <p:cNvSpPr/>
          <p:nvPr/>
        </p:nvSpPr>
        <p:spPr>
          <a:xfrm>
            <a:off x="8961120" y="2926080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in Team, plus:</a:t>
            </a:r>
            <a:endParaRPr lang="en-US" sz="1333" dirty="0"/>
          </a:p>
        </p:txBody>
      </p:sp>
      <p:sp>
        <p:nvSpPr>
          <p:cNvPr id="47" name="Text 45"/>
          <p:cNvSpPr/>
          <p:nvPr/>
        </p:nvSpPr>
        <p:spPr>
          <a:xfrm>
            <a:off x="8595360" y="3560064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48" name="Text 46"/>
          <p:cNvSpPr/>
          <p:nvPr/>
        </p:nvSpPr>
        <p:spPr>
          <a:xfrm>
            <a:off x="8961120" y="3560064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Advanced Security</a:t>
            </a:r>
            <a:endParaRPr lang="en-US" sz="1333" dirty="0"/>
          </a:p>
        </p:txBody>
      </p:sp>
      <p:sp>
        <p:nvSpPr>
          <p:cNvPr id="49" name="Text 47"/>
          <p:cNvSpPr/>
          <p:nvPr/>
        </p:nvSpPr>
        <p:spPr>
          <a:xfrm>
            <a:off x="8595360" y="419404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0" name="Text 48"/>
          <p:cNvSpPr/>
          <p:nvPr/>
        </p:nvSpPr>
        <p:spPr>
          <a:xfrm>
            <a:off x="8961120" y="4194048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Premium 24/7 support &amp; SLA</a:t>
            </a:r>
            <a:endParaRPr lang="en-US" sz="1333" dirty="0"/>
          </a:p>
        </p:txBody>
      </p:sp>
      <p:sp>
        <p:nvSpPr>
          <p:cNvPr id="51" name="Text 49"/>
          <p:cNvSpPr/>
          <p:nvPr/>
        </p:nvSpPr>
        <p:spPr>
          <a:xfrm>
            <a:off x="8595360" y="482803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2" name="Text 50"/>
          <p:cNvSpPr/>
          <p:nvPr/>
        </p:nvSpPr>
        <p:spPr>
          <a:xfrm>
            <a:off x="8961120" y="4828032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SAML SSO &amp; audit log API</a:t>
            </a:r>
            <a:endParaRPr lang="en-US" sz="1333" dirty="0"/>
          </a:p>
        </p:txBody>
      </p:sp>
      <p:sp>
        <p:nvSpPr>
          <p:cNvPr id="53" name="Text 51"/>
          <p:cNvSpPr/>
          <p:nvPr/>
        </p:nvSpPr>
        <p:spPr>
          <a:xfrm>
            <a:off x="8595360" y="546201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33" dirty="0"/>
          </a:p>
        </p:txBody>
      </p:sp>
      <p:sp>
        <p:nvSpPr>
          <p:cNvPr id="54" name="Text 52"/>
          <p:cNvSpPr/>
          <p:nvPr/>
        </p:nvSpPr>
        <p:spPr>
          <a:xfrm>
            <a:off x="8961120" y="5462016"/>
            <a:ext cx="268224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success team</a:t>
            </a:r>
            <a:endParaRPr lang="en-US" sz="1333" dirty="0"/>
          </a:p>
        </p:txBody>
      </p:sp>
    </p:spTree>
    <p:extLst>
      <p:ext uri="{BB962C8B-B14F-4D97-AF65-F5344CB8AC3E}">
        <p14:creationId xmlns:p14="http://schemas.microsoft.com/office/powerpoint/2010/main" val="1451561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87680" y="182880"/>
            <a:ext cx="30480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87680" y="182880"/>
            <a:ext cx="30480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RESOURCES &amp; SUPPORT</a:t>
            </a:r>
            <a:endParaRPr lang="en-US" sz="1067" dirty="0"/>
          </a:p>
        </p:txBody>
      </p:sp>
      <p:sp>
        <p:nvSpPr>
          <p:cNvPr id="7" name="Text 5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 More, </a:t>
            </a:r>
            <a:r>
              <a:rPr lang="en-US" sz="32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Further</a:t>
            </a:r>
            <a:endParaRPr lang="en-US" sz="3200" dirty="0"/>
          </a:p>
        </p:txBody>
      </p:sp>
      <p:sp>
        <p:nvSpPr>
          <p:cNvPr id="8" name="Shape 6"/>
          <p:cNvSpPr/>
          <p:nvPr/>
        </p:nvSpPr>
        <p:spPr>
          <a:xfrm>
            <a:off x="487680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7680" y="1097280"/>
            <a:ext cx="3499104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33984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docs.github.com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Official documentation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3984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92480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skills.github.com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learning paths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3984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92480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Blog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792480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news &amp; insights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52544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352544" y="1097280"/>
            <a:ext cx="3499104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96384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498848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57344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 Forum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4657344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Ask questions, share ideas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498848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657344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Education</a:t>
            </a:r>
            <a:endParaRPr lang="en-US" sz="1467" dirty="0"/>
          </a:p>
        </p:txBody>
      </p:sp>
      <p:sp>
        <p:nvSpPr>
          <p:cNvPr id="28" name="Text 26"/>
          <p:cNvSpPr/>
          <p:nvPr/>
        </p:nvSpPr>
        <p:spPr>
          <a:xfrm>
            <a:off x="4657344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tools for students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498848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657344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Meetups</a:t>
            </a:r>
            <a:endParaRPr lang="en-US" sz="1467" dirty="0"/>
          </a:p>
        </p:txBody>
      </p:sp>
      <p:sp>
        <p:nvSpPr>
          <p:cNvPr id="31" name="Text 29"/>
          <p:cNvSpPr/>
          <p:nvPr/>
        </p:nvSpPr>
        <p:spPr>
          <a:xfrm>
            <a:off x="4657344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in your area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217408" y="1097280"/>
            <a:ext cx="3499104" cy="5303520"/>
          </a:xfrm>
          <a:prstGeom prst="roundRect">
            <a:avLst>
              <a:gd name="adj" fmla="val 278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217408" y="1097280"/>
            <a:ext cx="3499104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8461248" y="1316736"/>
            <a:ext cx="3011424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8363712" y="188976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8522208" y="203606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 Sales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8522208" y="247497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363712" y="329184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8522208" y="343814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8522208" y="387705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8363712" y="4693920"/>
            <a:ext cx="3206496" cy="1158240"/>
          </a:xfrm>
          <a:prstGeom prst="roundRect">
            <a:avLst>
              <a:gd name="adj" fmla="val 6316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8522208" y="4840224"/>
            <a:ext cx="2889504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Regional Team</a:t>
            </a:r>
            <a:endParaRPr lang="en-US" sz="1467" dirty="0"/>
          </a:p>
        </p:txBody>
      </p:sp>
      <p:sp>
        <p:nvSpPr>
          <p:cNvPr id="43" name="Text 41"/>
          <p:cNvSpPr/>
          <p:nvPr/>
        </p:nvSpPr>
        <p:spPr>
          <a:xfrm>
            <a:off x="8522208" y="5279136"/>
            <a:ext cx="2889504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822387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144000" y="1219200"/>
            <a:ext cx="4876800" cy="48768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997440" y="1706880"/>
            <a:ext cx="3657600" cy="36576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26720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365760"/>
            <a:ext cx="121920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365760"/>
            <a:ext cx="12192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 &amp; A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975360"/>
            <a:ext cx="85344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8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</a:t>
            </a:r>
            <a:endParaRPr lang="en-US" sz="5867" dirty="0"/>
          </a:p>
        </p:txBody>
      </p:sp>
      <p:sp>
        <p:nvSpPr>
          <p:cNvPr id="9" name="Text 7"/>
          <p:cNvSpPr/>
          <p:nvPr/>
        </p:nvSpPr>
        <p:spPr>
          <a:xfrm>
            <a:off x="487680" y="2011680"/>
            <a:ext cx="85344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We're here to help!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0960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600" y="3413760"/>
            <a:ext cx="2499360" cy="48768"/>
          </a:xfrm>
          <a:prstGeom prst="rect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9248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Questions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9248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Architecture, integrations, APIs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413760" y="3413760"/>
            <a:ext cx="2499360" cy="48768"/>
          </a:xfrm>
          <a:prstGeom prst="rect">
            <a:avLst/>
          </a:prstGeom>
          <a:solidFill>
            <a:srgbClr val="58A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59664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Pricing &amp; Licensing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359664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Plans, billing, volume discounts</a:t>
            </a:r>
            <a:endParaRPr lang="en-US" sz="1267" dirty="0"/>
          </a:p>
        </p:txBody>
      </p:sp>
      <p:sp>
        <p:nvSpPr>
          <p:cNvPr id="18" name="Shape 16"/>
          <p:cNvSpPr/>
          <p:nvPr/>
        </p:nvSpPr>
        <p:spPr>
          <a:xfrm>
            <a:off x="621792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17920" y="3413760"/>
            <a:ext cx="2499360" cy="48768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40080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Migration Support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640080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to GitHub from other platforms</a:t>
            </a:r>
            <a:endParaRPr lang="en-US" sz="1267" dirty="0"/>
          </a:p>
        </p:txBody>
      </p:sp>
      <p:sp>
        <p:nvSpPr>
          <p:cNvPr id="22" name="Shape 20"/>
          <p:cNvSpPr/>
          <p:nvPr/>
        </p:nvSpPr>
        <p:spPr>
          <a:xfrm>
            <a:off x="9022080" y="3413760"/>
            <a:ext cx="2499360" cy="2194560"/>
          </a:xfrm>
          <a:prstGeom prst="roundRect">
            <a:avLst>
              <a:gd name="adj" fmla="val 444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9022080" y="3413760"/>
            <a:ext cx="2499360" cy="48768"/>
          </a:xfrm>
          <a:prstGeom prst="rect">
            <a:avLst/>
          </a:prstGeom>
          <a:solidFill>
            <a:srgbClr val="F088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04960" y="3596640"/>
            <a:ext cx="21336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Practices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9204960" y="4120896"/>
            <a:ext cx="213360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Workflows, DevOps, security patterns</a:t>
            </a:r>
            <a:endParaRPr lang="en-US" sz="1267" dirty="0"/>
          </a:p>
        </p:txBody>
      </p:sp>
    </p:spTree>
    <p:extLst>
      <p:ext uri="{BB962C8B-B14F-4D97-AF65-F5344CB8AC3E}">
        <p14:creationId xmlns:p14="http://schemas.microsoft.com/office/powerpoint/2010/main" val="36941740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534400" y="-609600"/>
            <a:ext cx="6096000" cy="609600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9753600" y="0"/>
            <a:ext cx="4632960" cy="463296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1219200" y="4632960"/>
            <a:ext cx="3657600" cy="36576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243840"/>
            <a:ext cx="1828800" cy="268224"/>
          </a:xfrm>
          <a:prstGeom prst="roundRect">
            <a:avLst>
              <a:gd name="adj" fmla="val 36364"/>
            </a:avLst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243840"/>
            <a:ext cx="182880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731520"/>
            <a:ext cx="8534400" cy="7924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53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You!</a:t>
            </a:r>
            <a:endParaRPr lang="en-US" sz="5333" dirty="0"/>
          </a:p>
        </p:txBody>
      </p:sp>
      <p:sp>
        <p:nvSpPr>
          <p:cNvPr id="9" name="Text 7"/>
          <p:cNvSpPr/>
          <p:nvPr/>
        </p:nvSpPr>
        <p:spPr>
          <a:xfrm>
            <a:off x="487680" y="1524000"/>
            <a:ext cx="853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133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Build the Future </a:t>
            </a:r>
            <a:r>
              <a:rPr lang="en-US" sz="2133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Together</a:t>
            </a:r>
            <a:endParaRPr lang="en-US" sz="2133" dirty="0"/>
          </a:p>
        </p:txBody>
      </p:sp>
      <p:sp>
        <p:nvSpPr>
          <p:cNvPr id="10" name="Shape 8"/>
          <p:cNvSpPr/>
          <p:nvPr/>
        </p:nvSpPr>
        <p:spPr>
          <a:xfrm>
            <a:off x="48768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3152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Connected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804160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1158240" y="2804160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us: @github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792480" y="3389376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1158240" y="3389376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 developer community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792480" y="3974592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1158240" y="3974592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Subscribe to GitHub updates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792480" y="4559808"/>
            <a:ext cx="365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1158240" y="4559808"/>
            <a:ext cx="42672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 future SEA events</a:t>
            </a:r>
            <a:endParaRPr lang="en-US" sz="1467" dirty="0"/>
          </a:p>
        </p:txBody>
      </p:sp>
      <p:sp>
        <p:nvSpPr>
          <p:cNvPr id="20" name="Shape 18"/>
          <p:cNvSpPr/>
          <p:nvPr/>
        </p:nvSpPr>
        <p:spPr>
          <a:xfrm>
            <a:off x="6217920" y="2133600"/>
            <a:ext cx="5242560" cy="3413760"/>
          </a:xfrm>
          <a:prstGeom prst="roundRect">
            <a:avLst>
              <a:gd name="adj" fmla="val 28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61760" y="2292096"/>
            <a:ext cx="4632960" cy="341376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 Information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61760" y="2804160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Website</a:t>
            </a:r>
            <a:endParaRPr lang="en-US" sz="1267" dirty="0"/>
          </a:p>
        </p:txBody>
      </p:sp>
      <p:sp>
        <p:nvSpPr>
          <p:cNvPr id="23" name="Text 21"/>
          <p:cNvSpPr/>
          <p:nvPr/>
        </p:nvSpPr>
        <p:spPr>
          <a:xfrm>
            <a:off x="7802880" y="2804160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61760" y="3389376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267" dirty="0"/>
          </a:p>
        </p:txBody>
      </p:sp>
      <p:sp>
        <p:nvSpPr>
          <p:cNvPr id="25" name="Text 23"/>
          <p:cNvSpPr/>
          <p:nvPr/>
        </p:nvSpPr>
        <p:spPr>
          <a:xfrm>
            <a:off x="7802880" y="3389376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github.com/enterprise/contact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61760" y="3974592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1267" dirty="0"/>
          </a:p>
        </p:txBody>
      </p:sp>
      <p:sp>
        <p:nvSpPr>
          <p:cNvPr id="27" name="Text 25"/>
          <p:cNvSpPr/>
          <p:nvPr/>
        </p:nvSpPr>
        <p:spPr>
          <a:xfrm>
            <a:off x="7802880" y="3974592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support.github.com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61760" y="4559808"/>
            <a:ext cx="134112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67" b="1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7802880" y="4559808"/>
            <a:ext cx="34137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 support available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0" y="603504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484F5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March 2026  |  South East Asia  |  #GitHubPartnerRoadshow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0320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64096"/>
          </a:xfrm>
          <a:prstGeom prst="rect">
            <a:avLst/>
          </a:prstGeom>
          <a:solidFill>
            <a:srgbClr val="0D11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363200" y="-1219200"/>
            <a:ext cx="2682240" cy="2682240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1216640" y="-609600"/>
            <a:ext cx="1828800" cy="182880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-975360" y="4876800"/>
            <a:ext cx="2438400" cy="2438400"/>
          </a:xfrm>
          <a:prstGeom prst="ellipse">
            <a:avLst/>
          </a:prstGeom>
          <a:solidFill>
            <a:srgbClr val="3FB95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87680" y="182880"/>
            <a:ext cx="2072640" cy="268224"/>
          </a:xfrm>
          <a:prstGeom prst="roundRect">
            <a:avLst>
              <a:gd name="adj" fmla="val 36364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7680" y="182880"/>
            <a:ext cx="2072640" cy="26822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067" dirty="0"/>
          </a:p>
        </p:txBody>
      </p:sp>
      <p:sp>
        <p:nvSpPr>
          <p:cNvPr id="8" name="Text 6"/>
          <p:cNvSpPr/>
          <p:nvPr/>
        </p:nvSpPr>
        <p:spPr>
          <a:xfrm>
            <a:off x="487680" y="487680"/>
            <a:ext cx="9753600" cy="438912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Continue Your </a:t>
            </a: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Journey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60960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46304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6304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867" dirty="0"/>
          </a:p>
        </p:txBody>
      </p:sp>
      <p:sp>
        <p:nvSpPr>
          <p:cNvPr id="12" name="Text 10"/>
          <p:cNvSpPr/>
          <p:nvPr/>
        </p:nvSpPr>
        <p:spPr>
          <a:xfrm>
            <a:off x="79248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Follow-Up</a:t>
            </a:r>
            <a:endParaRPr lang="en-US" sz="1733" dirty="0"/>
          </a:p>
        </p:txBody>
      </p:sp>
      <p:sp>
        <p:nvSpPr>
          <p:cNvPr id="13" name="Text 11"/>
          <p:cNvSpPr/>
          <p:nvPr/>
        </p:nvSpPr>
        <p:spPr>
          <a:xfrm>
            <a:off x="79248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 deeper into features that matter to your team</a:t>
            </a:r>
            <a:endParaRPr lang="en-US" sz="1267" dirty="0"/>
          </a:p>
        </p:txBody>
      </p:sp>
      <p:sp>
        <p:nvSpPr>
          <p:cNvPr id="14" name="Shape 12"/>
          <p:cNvSpPr/>
          <p:nvPr/>
        </p:nvSpPr>
        <p:spPr>
          <a:xfrm>
            <a:off x="341376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26720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58A6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26720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58A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867" dirty="0"/>
          </a:p>
        </p:txBody>
      </p:sp>
      <p:sp>
        <p:nvSpPr>
          <p:cNvPr id="17" name="Text 15"/>
          <p:cNvSpPr/>
          <p:nvPr/>
        </p:nvSpPr>
        <p:spPr>
          <a:xfrm>
            <a:off x="359664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a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</a:t>
            </a:r>
            <a:endParaRPr lang="en-US" sz="1733" dirty="0"/>
          </a:p>
        </p:txBody>
      </p:sp>
      <p:sp>
        <p:nvSpPr>
          <p:cNvPr id="18" name="Text 16"/>
          <p:cNvSpPr/>
          <p:nvPr/>
        </p:nvSpPr>
        <p:spPr>
          <a:xfrm>
            <a:off x="359664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GitHub Enterprise with a free trial</a:t>
            </a:r>
            <a:endParaRPr lang="en-US" sz="1267" dirty="0"/>
          </a:p>
        </p:txBody>
      </p:sp>
      <p:sp>
        <p:nvSpPr>
          <p:cNvPr id="19" name="Shape 17"/>
          <p:cNvSpPr/>
          <p:nvPr/>
        </p:nvSpPr>
        <p:spPr>
          <a:xfrm>
            <a:off x="621792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707136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A78BF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707136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867" dirty="0"/>
          </a:p>
        </p:txBody>
      </p:sp>
      <p:sp>
        <p:nvSpPr>
          <p:cNvPr id="22" name="Text 20"/>
          <p:cNvSpPr/>
          <p:nvPr/>
        </p:nvSpPr>
        <p:spPr>
          <a:xfrm>
            <a:off x="640080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Our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Community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640080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 with developers across Southeast Asia</a:t>
            </a:r>
            <a:endParaRPr lang="en-US" sz="1267" dirty="0"/>
          </a:p>
        </p:txBody>
      </p:sp>
      <p:sp>
        <p:nvSpPr>
          <p:cNvPr id="24" name="Shape 22"/>
          <p:cNvSpPr/>
          <p:nvPr/>
        </p:nvSpPr>
        <p:spPr>
          <a:xfrm>
            <a:off x="9022080" y="1158240"/>
            <a:ext cx="2560320" cy="3230880"/>
          </a:xfrm>
          <a:prstGeom prst="roundRect">
            <a:avLst>
              <a:gd name="adj" fmla="val 47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9875520" y="1402080"/>
            <a:ext cx="731520" cy="731520"/>
          </a:xfrm>
          <a:prstGeom prst="ellipse">
            <a:avLst/>
          </a:prstGeom>
          <a:solidFill>
            <a:srgbClr val="0D1117"/>
          </a:solidFill>
          <a:ln w="25400">
            <a:solidFill>
              <a:srgbClr val="F088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9875520" y="14020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F0883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867" dirty="0"/>
          </a:p>
        </p:txBody>
      </p:sp>
      <p:sp>
        <p:nvSpPr>
          <p:cNvPr id="27" name="Text 25"/>
          <p:cNvSpPr/>
          <p:nvPr/>
        </p:nvSpPr>
        <p:spPr>
          <a:xfrm>
            <a:off x="9204960" y="2255520"/>
            <a:ext cx="219456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</a:t>
            </a:r>
            <a:endParaRPr lang="en-US" sz="1733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733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Workshops</a:t>
            </a:r>
            <a:endParaRPr lang="en-US" sz="1733" dirty="0"/>
          </a:p>
        </p:txBody>
      </p:sp>
      <p:sp>
        <p:nvSpPr>
          <p:cNvPr id="28" name="Text 26"/>
          <p:cNvSpPr/>
          <p:nvPr/>
        </p:nvSpPr>
        <p:spPr>
          <a:xfrm>
            <a:off x="9204960" y="3048000"/>
            <a:ext cx="2194560" cy="9753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10000"/>
              </a:lnSpc>
              <a:buNone/>
            </a:pPr>
            <a:r>
              <a:rPr lang="en-US" sz="1267" dirty="0">
                <a:solidFill>
                  <a:srgbClr val="8B949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training sessions and deep dives</a:t>
            </a:r>
            <a:endParaRPr lang="en-US" sz="1267" dirty="0"/>
          </a:p>
        </p:txBody>
      </p:sp>
      <p:sp>
        <p:nvSpPr>
          <p:cNvPr id="29" name="Text 27"/>
          <p:cNvSpPr/>
          <p:nvPr/>
        </p:nvSpPr>
        <p:spPr>
          <a:xfrm>
            <a:off x="323088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03504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8839200" y="2316480"/>
            <a:ext cx="24384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30363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›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1828800" y="4815840"/>
            <a:ext cx="8534400" cy="731520"/>
          </a:xfrm>
          <a:prstGeom prst="roundRect">
            <a:avLst>
              <a:gd name="adj" fmla="val 13333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1828800" y="4815840"/>
            <a:ext cx="853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C9D1D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 for joining the </a:t>
            </a:r>
            <a:r>
              <a:rPr lang="en-US" sz="1600" b="1" dirty="0">
                <a:solidFill>
                  <a:srgbClr val="3FB9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SEA Roadshow!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48522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97440" y="-975360"/>
            <a:ext cx="3048000" cy="3048000"/>
          </a:xfrm>
          <a:prstGeom prst="ellipse">
            <a:avLst/>
          </a:prstGeom>
          <a:solidFill>
            <a:srgbClr val="6C3FC5">
              <a:alpha val="6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972800" y="-609600"/>
            <a:ext cx="2438400" cy="2438400"/>
          </a:xfrm>
          <a:prstGeom prst="ellipse">
            <a:avLst/>
          </a:prstGeom>
          <a:solidFill>
            <a:srgbClr val="3B82F6">
              <a:alpha val="7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87680" y="304800"/>
            <a:ext cx="1889760" cy="390144"/>
          </a:xfrm>
          <a:prstGeom prst="roundRect">
            <a:avLst>
              <a:gd name="adj" fmla="val 46875"/>
            </a:avLst>
          </a:prstGeom>
          <a:solidFill>
            <a:srgbClr val="2DBE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7680" y="304800"/>
            <a:ext cx="1889760" cy="390144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33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GUIDE</a:t>
            </a:r>
            <a:endParaRPr lang="en-US" sz="1333" dirty="0"/>
          </a:p>
        </p:txBody>
      </p:sp>
      <p:sp>
        <p:nvSpPr>
          <p:cNvPr id="6" name="Text 4"/>
          <p:cNvSpPr/>
          <p:nvPr/>
        </p:nvSpPr>
        <p:spPr>
          <a:xfrm>
            <a:off x="487680" y="792480"/>
            <a:ext cx="8534400" cy="6705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Development </a:t>
            </a:r>
            <a:r>
              <a:rPr lang="en-US" sz="4000" b="1" dirty="0">
                <a:solidFill>
                  <a:srgbClr val="2DB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487680" y="1706880"/>
            <a:ext cx="5120640" cy="1645920"/>
          </a:xfrm>
          <a:prstGeom prst="roundRect">
            <a:avLst>
              <a:gd name="adj" fmla="val 8889"/>
            </a:avLst>
          </a:prstGeom>
          <a:solidFill>
            <a:srgbClr val="24243A"/>
          </a:solidFill>
          <a:ln w="12700">
            <a:solidFill>
              <a:srgbClr val="3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767840"/>
            <a:ext cx="463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b="1" dirty="0">
                <a:solidFill>
                  <a:srgbClr val="2DB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PREREQUISITES</a:t>
            </a:r>
            <a:endParaRPr lang="en-US" sz="1333" dirty="0"/>
          </a:p>
        </p:txBody>
      </p:sp>
      <p:sp>
        <p:nvSpPr>
          <p:cNvPr id="9" name="Text 7"/>
          <p:cNvSpPr/>
          <p:nvPr/>
        </p:nvSpPr>
        <p:spPr>
          <a:xfrm>
            <a:off x="853440" y="2133600"/>
            <a:ext cx="4632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Node.js 20+✓  Git✓  Microsoft Office (M365 or 2019+)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13120" y="1706880"/>
            <a:ext cx="5730240" cy="1645920"/>
          </a:xfrm>
          <a:prstGeom prst="roundRect">
            <a:avLst>
              <a:gd name="adj" fmla="val 8889"/>
            </a:avLst>
          </a:prstGeom>
          <a:solidFill>
            <a:srgbClr val="24243A"/>
          </a:solidFill>
          <a:ln w="12700">
            <a:solidFill>
              <a:srgbClr val="3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096000" y="1853184"/>
            <a:ext cx="487680" cy="487680"/>
          </a:xfrm>
          <a:prstGeom prst="ellipse">
            <a:avLst/>
          </a:prstGeom>
          <a:solidFill>
            <a:srgbClr val="24243A"/>
          </a:solidFill>
          <a:ln w="19050">
            <a:solidFill>
              <a:srgbClr val="2DBE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096000" y="1853184"/>
            <a:ext cx="48768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2DB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67" dirty="0"/>
          </a:p>
        </p:txBody>
      </p:sp>
      <p:sp>
        <p:nvSpPr>
          <p:cNvPr id="13" name="Text 11"/>
          <p:cNvSpPr/>
          <p:nvPr/>
        </p:nvSpPr>
        <p:spPr>
          <a:xfrm>
            <a:off x="6705600" y="1828800"/>
            <a:ext cx="46329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 &amp; Install</a:t>
            </a:r>
            <a:endParaRPr lang="en-US" sz="1867" dirty="0"/>
          </a:p>
        </p:txBody>
      </p:sp>
      <p:sp>
        <p:nvSpPr>
          <p:cNvPr id="14" name="Text 12"/>
          <p:cNvSpPr/>
          <p:nvPr/>
        </p:nvSpPr>
        <p:spPr>
          <a:xfrm>
            <a:off x="6278880" y="2377440"/>
            <a:ext cx="5120640" cy="8534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 sz="1267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https://github.com/patniko/</a:t>
            </a:r>
            <a:endParaRPr lang="en-US" sz="1267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67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github-copilot-office.git</a:t>
            </a:r>
            <a:endParaRPr lang="en-US" sz="1267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67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github-copilot-office</a:t>
            </a:r>
            <a:endParaRPr lang="en-US" sz="1267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67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</a:t>
            </a:r>
            <a:endParaRPr lang="en-US" sz="1267" dirty="0"/>
          </a:p>
        </p:txBody>
      </p:sp>
      <p:sp>
        <p:nvSpPr>
          <p:cNvPr id="15" name="Shape 13"/>
          <p:cNvSpPr/>
          <p:nvPr/>
        </p:nvSpPr>
        <p:spPr>
          <a:xfrm>
            <a:off x="487680" y="3596640"/>
            <a:ext cx="5120640" cy="1645920"/>
          </a:xfrm>
          <a:prstGeom prst="roundRect">
            <a:avLst>
              <a:gd name="adj" fmla="val 8889"/>
            </a:avLst>
          </a:prstGeom>
          <a:solidFill>
            <a:srgbClr val="24243A"/>
          </a:solidFill>
          <a:ln w="12700">
            <a:solidFill>
              <a:srgbClr val="3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70560" y="3742944"/>
            <a:ext cx="487680" cy="487680"/>
          </a:xfrm>
          <a:prstGeom prst="ellipse">
            <a:avLst/>
          </a:prstGeom>
          <a:solidFill>
            <a:srgbClr val="24243A"/>
          </a:solidFill>
          <a:ln w="19050">
            <a:solidFill>
              <a:srgbClr val="2DBE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70560" y="3742944"/>
            <a:ext cx="48768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2DB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67" dirty="0"/>
          </a:p>
        </p:txBody>
      </p:sp>
      <p:sp>
        <p:nvSpPr>
          <p:cNvPr id="18" name="Text 16"/>
          <p:cNvSpPr/>
          <p:nvPr/>
        </p:nvSpPr>
        <p:spPr>
          <a:xfrm>
            <a:off x="1280160" y="3718560"/>
            <a:ext cx="414528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Add-in</a:t>
            </a:r>
            <a:endParaRPr lang="en-US" sz="1867" dirty="0"/>
          </a:p>
        </p:txBody>
      </p:sp>
      <p:sp>
        <p:nvSpPr>
          <p:cNvPr id="19" name="Text 17"/>
          <p:cNvSpPr/>
          <p:nvPr/>
        </p:nvSpPr>
        <p:spPr>
          <a:xfrm>
            <a:off x="853440" y="4145280"/>
            <a:ext cx="45110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333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 SSL cert &amp; registers the manifest.</a:t>
            </a:r>
            <a:endParaRPr lang="en-US" sz="1333" dirty="0"/>
          </a:p>
        </p:txBody>
      </p:sp>
      <p:sp>
        <p:nvSpPr>
          <p:cNvPr id="20" name="Text 18"/>
          <p:cNvSpPr/>
          <p:nvPr/>
        </p:nvSpPr>
        <p:spPr>
          <a:xfrm>
            <a:off x="853440" y="4511040"/>
            <a:ext cx="451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None/>
            </a:pPr>
            <a:r>
              <a:rPr lang="en-US" sz="1333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macOS:    ./register.sh</a:t>
            </a:r>
            <a:endParaRPr lang="en-US" sz="1333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33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Windows:  .\register.ps1</a:t>
            </a:r>
            <a:endParaRPr lang="en-US" sz="1333" dirty="0"/>
          </a:p>
        </p:txBody>
      </p:sp>
      <p:sp>
        <p:nvSpPr>
          <p:cNvPr id="21" name="Shape 19"/>
          <p:cNvSpPr/>
          <p:nvPr/>
        </p:nvSpPr>
        <p:spPr>
          <a:xfrm>
            <a:off x="5913120" y="3596640"/>
            <a:ext cx="5730240" cy="1645920"/>
          </a:xfrm>
          <a:prstGeom prst="roundRect">
            <a:avLst>
              <a:gd name="adj" fmla="val 8889"/>
            </a:avLst>
          </a:prstGeom>
          <a:solidFill>
            <a:srgbClr val="24243A"/>
          </a:solidFill>
          <a:ln w="12700">
            <a:solidFill>
              <a:srgbClr val="3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96000" y="3742944"/>
            <a:ext cx="487680" cy="487680"/>
          </a:xfrm>
          <a:prstGeom prst="ellipse">
            <a:avLst/>
          </a:prstGeom>
          <a:solidFill>
            <a:srgbClr val="24243A"/>
          </a:solidFill>
          <a:ln w="19050">
            <a:solidFill>
              <a:srgbClr val="2DBE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096000" y="3742944"/>
            <a:ext cx="48768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2DBE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67" dirty="0"/>
          </a:p>
        </p:txBody>
      </p:sp>
      <p:sp>
        <p:nvSpPr>
          <p:cNvPr id="24" name="Text 22"/>
          <p:cNvSpPr/>
          <p:nvPr/>
        </p:nvSpPr>
        <p:spPr>
          <a:xfrm>
            <a:off x="6705600" y="3718560"/>
            <a:ext cx="463296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Tray App</a:t>
            </a:r>
            <a:endParaRPr lang="en-US" sz="1867" dirty="0"/>
          </a:p>
        </p:txBody>
      </p:sp>
      <p:sp>
        <p:nvSpPr>
          <p:cNvPr id="25" name="Text 23"/>
          <p:cNvSpPr/>
          <p:nvPr/>
        </p:nvSpPr>
        <p:spPr>
          <a:xfrm>
            <a:off x="6278880" y="42062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A8A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start:tray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6278880" y="45720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333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the GitHub Copilot icon in your</a:t>
            </a:r>
            <a:endParaRPr lang="en-US" sz="1333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33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tray (Win) or menu bar (macOS).</a:t>
            </a:r>
            <a:endParaRPr lang="en-US" sz="1333" dirty="0"/>
          </a:p>
        </p:txBody>
      </p:sp>
      <p:sp>
        <p:nvSpPr>
          <p:cNvPr id="27" name="Shape 25"/>
          <p:cNvSpPr/>
          <p:nvPr/>
        </p:nvSpPr>
        <p:spPr>
          <a:xfrm>
            <a:off x="487680" y="5486400"/>
            <a:ext cx="11155680" cy="1219200"/>
          </a:xfrm>
          <a:prstGeom prst="roundRect">
            <a:avLst>
              <a:gd name="adj" fmla="val 12000"/>
            </a:avLst>
          </a:prstGeom>
          <a:solidFill>
            <a:srgbClr val="24243A"/>
          </a:solidFill>
          <a:ln w="1905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670560" y="5608320"/>
            <a:ext cx="487680" cy="487680"/>
          </a:xfrm>
          <a:prstGeom prst="ellipse">
            <a:avLst/>
          </a:prstGeom>
          <a:solidFill>
            <a:srgbClr val="24243A"/>
          </a:solidFill>
          <a:ln w="19050">
            <a:solidFill>
              <a:srgbClr val="6C3FC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70560" y="5608320"/>
            <a:ext cx="48768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67" b="1" dirty="0">
                <a:solidFill>
                  <a:srgbClr val="6C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67" dirty="0"/>
          </a:p>
        </p:txBody>
      </p:sp>
      <p:sp>
        <p:nvSpPr>
          <p:cNvPr id="30" name="Text 28"/>
          <p:cNvSpPr/>
          <p:nvPr/>
        </p:nvSpPr>
        <p:spPr>
          <a:xfrm>
            <a:off x="1280160" y="5583936"/>
            <a:ext cx="3048000" cy="42672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67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in Office</a:t>
            </a:r>
            <a:endParaRPr lang="en-US" sz="1867" dirty="0"/>
          </a:p>
        </p:txBody>
      </p:sp>
      <p:sp>
        <p:nvSpPr>
          <p:cNvPr id="31" name="Text 29"/>
          <p:cNvSpPr/>
          <p:nvPr/>
        </p:nvSpPr>
        <p:spPr>
          <a:xfrm>
            <a:off x="1280160" y="5998464"/>
            <a:ext cx="10119360" cy="48768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467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Word, PowerPoint, or Excel  →  Insert  →  Add-ins  →  My Add-ins  →  Select GitHub Copilot</a:t>
            </a:r>
            <a:endParaRPr lang="en-US" sz="1467" dirty="0"/>
          </a:p>
        </p:txBody>
      </p:sp>
      <p:sp>
        <p:nvSpPr>
          <p:cNvPr id="32" name="Text 30"/>
          <p:cNvSpPr/>
          <p:nvPr/>
        </p:nvSpPr>
        <p:spPr>
          <a:xfrm>
            <a:off x="487680" y="62788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>
            <a:lvl1pPr marL="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9585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1219170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67" dirty="0">
                <a:solidFill>
                  <a:srgbClr val="66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See TOOLS_CATALOG.md for a complete list of available Copilot tools  |  github.com/patniko/github-copilot-office</a:t>
            </a:r>
            <a:endParaRPr lang="en-US" sz="1067" dirty="0"/>
          </a:p>
        </p:txBody>
      </p:sp>
    </p:spTree>
    <p:extLst>
      <p:ext uri="{BB962C8B-B14F-4D97-AF65-F5344CB8AC3E}">
        <p14:creationId xmlns:p14="http://schemas.microsoft.com/office/powerpoint/2010/main" val="28485416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C04E688-3D4B-C149-A2EC-4C6C3EF0115A}">
  <we:reference id="12345678-1234-1234-1234-123456789012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1718</Words>
  <Application>Microsoft Macintosh PowerPoint</Application>
  <PresentationFormat>Widescreen</PresentationFormat>
  <Paragraphs>396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Aptos</vt:lpstr>
      <vt:lpstr>Aptos Display</vt:lpstr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Smillie</dc:creator>
  <cp:lastModifiedBy>Benjamin Smillie</cp:lastModifiedBy>
  <cp:revision>6</cp:revision>
  <dcterms:created xsi:type="dcterms:W3CDTF">2026-03-19T02:29:25Z</dcterms:created>
  <dcterms:modified xsi:type="dcterms:W3CDTF">2026-03-19T03:45:13Z</dcterms:modified>
</cp:coreProperties>
</file>